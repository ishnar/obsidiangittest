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NOVAnix-DVI 바이알 이물질 검사 시스템 프로젝트를 소개드리겠습니다.
본 시스템은 의약품 바이알(유리병) 내부의 이물질을 자동으로 검출하는 비전 검사 소프트웨어입니다.
Basler 산업용 카메라와 연동하여 실시간으로 바이알을 촬영하고, 영상처리 알고리즘과 딥러닝을 결합하여 이물질, 버블, 노이즈를 정확하게 분류합니다.
오늘은 시스템의 전체 구조와 각 화면별 주요 기능을 순서대로 소개하겠습니다.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본 프로젝트의 배경부터 말씀드리겠습니다.
의약품 바이알 생산 라인에서 내부 이물질 검사는 품질 관리의 핵심입니다. 기존에는 사람이 육안으로 검사했으나, 피로도와 개인차로 인한 검출 한계가 존재했습니다.
이를 해결하기 위해 Basler 산업용 카메라와 연동하여 실시간으로 바이알을 촬영하고, 영상처리 알고리즘과 딥러닝 분류 모델을 결합한 하이브리드 검사 시스템을 개발했습니다.
특히 User, Viewer, Maker 3단계 권한 관리로 운영자 역할에 맞는 인터페이스를 제공합니다.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시스템 구조를 살펴보겠습니다.
전체 파이프라인은 5단계로 구성됩니다.
1) Basler GigE 산업용 카메라로 바이알 이미지를 촬영합니다.
2) 촬영된 영상에 Threshold, Morphology, DoG 밴드패스, CLAHE 등의 전처리를 수행합니다.
3) 일반 검출, 버블 검출, ECC 보정을 통해 이물질 후보를 검출합니다.
4) PyTorch 또는 ONNX/OpenVINO 기반 딥러닝 모델로 Particle, Noise, Bubble을 분류합니다.
5) 최종 판정 결과를 출력합니다.
기술 스택으로는 Python/PyQt5 기반 GUI, OpenCV 영상처리, PyTorch/ONNX/OpenVINO 딥러닝 추론, 그리고 Basler Pylon SDK를 사용한 카메라 제어를 사용합니다.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메인 화면의 User 모드 전체 레이아웃입니다.
화면은 크게 3개 영역으로 나뉩니다.
① 좌측 디버그 패널: 검출 과정의 중간 영상을 보여줍니다. 일반 검출, 버블 검출, ECC 검출 탭이 있으며, Gray/Blurred/Threshold/Morphology 4단계 영상과 Defect View를 표시합니다.
② 중앙 메인 뷰: Basler 카메라에서 촬영된 바이알 원본 영상을 표시합니다. 하단에는 Position 좌표와 GrayValue, Tact 시간 정보가 표시됩니다.
③ 우측 제어 패널: 카메라 연결/제어, 검사 시작, 검출 파라미터 설정, 결과 필터링 기능이 배치되어 있습니다. Threshold, Min Area 등의 검출 설정과 ROI 설정, 딥러닝 분류 모델 로드 기능을 제공합니다.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메인 화면의 주요 기능 6가지를 상세히 설명하겠습니다.
1) 카메라 제어: Basler GigE 카메라를 연결하고 실시간 뷰를 활성화합니다. Cam 설정에서 카메라 파라미터를 조정할 수 있습니다.
2) 검사 실행: Start Inspection 버튼으로 검사를 시작합니다. 이미지 또는 비디오 파일을 로드하여 오프라인 검사도 가능합니다.
3) 검출 설정: Threshold 값(0~255)과 Min Area로 이물질 검출 민감도를 조절합니다. Adaptive Threshold를 활성화하면 조명 변화에 자동 대응합니다.
4) ROI 설정: 검사 ROI와 어노테이션 ROI를 각각 설정하여 바이알 내부 영역만 검사할 수 있습니다.
5) DL 분류: 딥러닝 분류 모델을 로드하여 검출된 이물질을 Particle과 Noise로 자동 판별합니다. 검출된 Defect 이미지를 저장할 수 있습니다.
6) 결과 필터: 검출 결과를 ALL, Particle, Noise, Bubble로 필터링하여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Viewer 모드는 모니터링 전용으로 간소화된 인터페이스입니다.
User 모드와 비교하면, 좌측의 디버그 패널과 우측의 상세 설정이 숨겨지고, 메인 뷰가 크게 확대되어 바이알 영상을 더 넓게 볼 수 있습니다.
우측에는 카메라 연결, 검사 시작, 결과 표시만 간단히 남아 있습니다.
권한 체계는 3단계로 구성됩니다.
- Viewer: 영상 모니터링만 가능, 설정 변경 불가
- User: 검사 실행과 기본 파라미터 설정이 가능한 일반 운영자용
- Maker: 모든 설정과 고급 파라미터에 접근 가능한 시스템 관리자용
하단 상태바의 로그인 버튼으로 권한을 전환할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검사 파라미터 창의 첫 번째 탭인 분류/검출 조건입니다.
검사 모드는 기존 검사와 수정 검사(ECC)를 선택할 수 있습니다.
좌측의 정지 상태 판단 파라미터는 바이알이 촬영 위치에서 정지했는지 판단하는 기준입니다. Stop Motion/Edge/Dark 값으로 정지를 판단하고, Reenter 값으로 새 바이알 진입을 감지합니다. Candidate Frames와 Confirm Frames로 정지 상태를 확정합니다.
우측 상단의 일반 검출 설정은 Threshold(220)와 Min Area(4)로 밝기 기반 이진화 후 최소 면적 이상의 객체만 이물질 후보로 검출합니다.
우측 하단의 분류 조건에서는 Noise/Particle 대비 임계값(10)을 설정하여 검출된 객체를 자동으로 분류합니다. 디버그 뷰에서 필터링하여 확인할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Bubble 검출 탭의 처리 파이프라인입니다.
버블 검출은 6단계로 구성됩니다.
1단계 배경 평탄화: Morphological Opening으로 배경 조명 불균일을 보정합니다. 커널 크기 20, 스무딩 σ 2.0을 사용합니다.
2단계 CLAHE: 대비 제한 적응 히스토그램 균등화로 로컬 대비를 보정합니다. clipLimit 20, tileGridSize 64입니다.
3단계 노이즈 제거: Median Filter로 소금-후추 노이즈를 제거합니다.
4단계 DoG 밴드패스: Difference of Gaussians로 특정 크기 범위의 버블만 강조합니다. σ small 5.0, σ large 20.0입니다.
5단계 MAD 임계: Median Absolute Deviation 기반으로 통계적 이상치를 검출합니다. 민감도 k값은 17.5입니다.
6단계 형태학 정리: Close(5)로 작은 구멍을 채우고, Open(5)으로 작은 잡음을 제거하여 최종 버블 마스크를 생성합니다.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DL 추론 최적화 탭에서는 딥러닝 모델의 추론 성능을 단계적으로 향상시킬 수 있습니다.
Level 0 (CPU Pipeline): 기본 방식으로 CPU에서 이미지를 crop한 후 GPU로 전송합니다.
Level 1 (GPU Crop): 프레임 전체를 한 번만 GPU로 전송하고, GPU에서 직접 crop/resize를 수행합니다.
Level 2 (torch.compile): 커널 퓨전을 적용하여 추론 속도를 20~40% 향상시킵니다.
Level 3 (배치 사전할당): torch.cat 호출 오버헤드를 제거합니다.
Level 4 (grid_sample): F.grid_sample을 사용하여 crop 루프를 완전히 제거합니다. 현재 선택된 레벨입니다.
Level 5 (OpenVINO): ONNX 모델을 OpenVINO Execution Provider로 실행하여 Intel CPU/GPU/NPU에서 최적화된 추론을 수행합니다.
Level 1~4는 PyTorch + CUDA 환경에서만 작동하며, Level 5는 별도로 onnxruntime-openvino 설치가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검사 흐름을 5단계로 정리하겠습니다.
1단계 영상 입력: Basler GigE 카메라에서 실시간으로 바이알을 촬영하거나, 저장된 이미지/비디오 파일을 로드합니다.
2단계 정지 상태 판단: 바이알이 촬영 위치에서 완전히 정지했는지 Motion, Edge, Dark 파라미터로 판단합니다. Candidate Frames와 Confirm Frames를 거쳐 정지 상태를 확정한 후에야 검사를 시작합니다.
3단계 이물질 검출: 세 가지 검출 방법을 병행합니다. 일반 검출은 Threshold와 Morphology로 이물질을 찾고, 버블 검출은 DoG 밴드패스와 MAD 통계 기반으로 기포를 검출하며, ECC 보정은 프레임 간 정합을 통해 오검출을 줄입니다.
4단계 DL 분류: 검출된 후보 객체를 딥러닝 모델에 입력하여 Particle, Noise, Bubble로 자동 분류합니다.
5단계 결과 표시: 메인 뷰에 검출 결과를 오버레이하고, Defect 이미지를 저장하며, ALL/Particle/Noise/Bubble 필터로 결과를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이상으로 NOVAnix-DVI 바이알 이물질 검사 시스템 소개를 마치겠습니다.
본 시스템은 Basler 산업용 카메라, 고급 영상처리 알고리즘, 그리고 딥러닝 분류 모델을 결합하여 바이알 내 이물질을 정확하고 빠르게 검출합니다.
3단계 권한 관리, 실시간 디버깅 뷰, 6단계 DL 추론 최적화 등 실무 운영에 필요한 다양한 기능을 갖추고 있습니다.
질문이 있으시면 말씀해 주세요.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sp>
      <p:sp>
        <p:nvSpPr>
          <p:cNvPr id="3" name="Text 1"/>
          <p:cNvSpPr/>
          <p:nvPr/>
        </p:nvSpPr>
        <p:spPr>
          <a:xfrm>
            <a:off x="731520" y="914400"/>
            <a:ext cx="7680960" cy="822960"/>
          </a:xfrm>
          <a:prstGeom prst="rect">
            <a:avLst/>
          </a:prstGeom>
          <a:noFill/>
          <a:ln/>
        </p:spPr>
        <p:txBody>
          <a:bodyPr wrap="square" lIns="0" tIns="0" rIns="0" bIns="0" rtlCol="0" anchor="ctr"/>
          <a:lstStyle/>
          <a:p>
            <a:pPr indent="0" marL="0">
              <a:buNone/>
            </a:pPr>
            <a:r>
              <a:rPr lang="en-US" sz="4800" b="1" dirty="0">
                <a:solidFill>
                  <a:srgbClr val="00B4D8"/>
                </a:solidFill>
                <a:latin typeface="Trebuchet MS" pitchFamily="34" charset="0"/>
                <a:ea typeface="Trebuchet MS" pitchFamily="34" charset="-122"/>
                <a:cs typeface="Trebuchet MS" pitchFamily="34" charset="-120"/>
              </a:rPr>
              <a:t>NOVAnix-DVI</a:t>
            </a:r>
            <a:endParaRPr lang="en-US" sz="4800" dirty="0"/>
          </a:p>
        </p:txBody>
      </p:sp>
      <p:sp>
        <p:nvSpPr>
          <p:cNvPr id="4" name="Text 2"/>
          <p:cNvSpPr/>
          <p:nvPr/>
        </p:nvSpPr>
        <p:spPr>
          <a:xfrm>
            <a:off x="731520" y="1691640"/>
            <a:ext cx="7680960" cy="640080"/>
          </a:xfrm>
          <a:prstGeom prst="rect">
            <a:avLst/>
          </a:prstGeom>
          <a:noFill/>
          <a:ln/>
        </p:spPr>
        <p:txBody>
          <a:bodyPr wrap="square" lIns="0" tIns="0" rIns="0" bIns="0" rtlCol="0" anchor="ctr"/>
          <a:lstStyle/>
          <a:p>
            <a:pPr indent="0" marL="0">
              <a:buNone/>
            </a:pPr>
            <a:r>
              <a:rPr lang="en-US" sz="3200" dirty="0">
                <a:solidFill>
                  <a:srgbClr val="FFFFFF"/>
                </a:solidFill>
                <a:latin typeface="Calibri" pitchFamily="34" charset="0"/>
                <a:ea typeface="Calibri" pitchFamily="34" charset="-122"/>
                <a:cs typeface="Calibri" pitchFamily="34" charset="-120"/>
              </a:rPr>
              <a:t>바이알 이물질 검사 시스템</a:t>
            </a:r>
            <a:endParaRPr lang="en-US" sz="3200" dirty="0"/>
          </a:p>
        </p:txBody>
      </p:sp>
      <p:sp>
        <p:nvSpPr>
          <p:cNvPr id="5" name="Text 3"/>
          <p:cNvSpPr/>
          <p:nvPr/>
        </p:nvSpPr>
        <p:spPr>
          <a:xfrm>
            <a:off x="731520" y="2286000"/>
            <a:ext cx="7680960" cy="457200"/>
          </a:xfrm>
          <a:prstGeom prst="rect">
            <a:avLst/>
          </a:prstGeom>
          <a:noFill/>
          <a:ln/>
        </p:spPr>
        <p:txBody>
          <a:bodyPr wrap="square" lIns="0" tIns="0" rIns="0" bIns="0" rtlCol="0" anchor="ctr"/>
          <a:lstStyle/>
          <a:p>
            <a:pPr indent="0" marL="0">
              <a:buNone/>
            </a:pPr>
            <a:r>
              <a:rPr lang="en-US" sz="1600" i="1" dirty="0">
                <a:solidFill>
                  <a:srgbClr val="8899AA"/>
                </a:solidFill>
                <a:latin typeface="Calibri" pitchFamily="34" charset="0"/>
                <a:ea typeface="Calibri" pitchFamily="34" charset="-122"/>
                <a:cs typeface="Calibri" pitchFamily="34" charset="-120"/>
              </a:rPr>
              <a:t>Vial Foreign Body Inspection System</a:t>
            </a:r>
            <a:endParaRPr lang="en-US" sz="1600" dirty="0"/>
          </a:p>
        </p:txBody>
      </p:sp>
      <p:sp>
        <p:nvSpPr>
          <p:cNvPr id="6" name="Shape 4"/>
          <p:cNvSpPr/>
          <p:nvPr/>
        </p:nvSpPr>
        <p:spPr>
          <a:xfrm>
            <a:off x="731520" y="2971800"/>
            <a:ext cx="2286000" cy="36576"/>
          </a:xfrm>
          <a:prstGeom prst="rect">
            <a:avLst/>
          </a:prstGeom>
          <a:solidFill>
            <a:srgbClr val="00B4D8"/>
          </a:solidFill>
          <a:ln/>
        </p:spPr>
      </p:sp>
      <p:sp>
        <p:nvSpPr>
          <p:cNvPr id="7" name="Text 5"/>
          <p:cNvSpPr/>
          <p:nvPr/>
        </p:nvSpPr>
        <p:spPr>
          <a:xfrm>
            <a:off x="731520" y="3246120"/>
            <a:ext cx="7680960" cy="365760"/>
          </a:xfrm>
          <a:prstGeom prst="rect">
            <a:avLst/>
          </a:prstGeom>
          <a:noFill/>
          <a:ln/>
        </p:spPr>
        <p:txBody>
          <a:bodyPr wrap="square" lIns="0" tIns="0" rIns="0" bIns="0" rtlCol="0" anchor="ctr"/>
          <a:lstStyle/>
          <a:p>
            <a:pPr indent="0" marL="0">
              <a:buNone/>
            </a:pPr>
            <a:r>
              <a:rPr lang="en-US" sz="1400" dirty="0">
                <a:solidFill>
                  <a:srgbClr val="E0E7EF"/>
                </a:solidFill>
                <a:latin typeface="Calibri" pitchFamily="34" charset="0"/>
                <a:ea typeface="Calibri" pitchFamily="34" charset="-122"/>
                <a:cs typeface="Calibri" pitchFamily="34" charset="-120"/>
              </a:rPr>
              <a:t>프로젝트 소개 및 화면 구성</a:t>
            </a:r>
            <a:endParaRPr lang="en-US" sz="1400" dirty="0"/>
          </a:p>
        </p:txBody>
      </p:sp>
      <p:sp>
        <p:nvSpPr>
          <p:cNvPr id="8" name="Text 6"/>
          <p:cNvSpPr/>
          <p:nvPr/>
        </p:nvSpPr>
        <p:spPr>
          <a:xfrm>
            <a:off x="731520" y="4389120"/>
            <a:ext cx="2743200" cy="365760"/>
          </a:xfrm>
          <a:prstGeom prst="rect">
            <a:avLst/>
          </a:prstGeom>
          <a:noFill/>
          <a:ln/>
        </p:spPr>
        <p:txBody>
          <a:bodyPr wrap="square" lIns="0" tIns="0" rIns="0" bIns="0" rtlCol="0" anchor="ctr"/>
          <a:lstStyle/>
          <a:p>
            <a:pPr indent="0" marL="0">
              <a:buNone/>
            </a:pPr>
            <a:r>
              <a:rPr lang="en-US" sz="1200" dirty="0">
                <a:solidFill>
                  <a:srgbClr val="8899AA"/>
                </a:solidFill>
                <a:latin typeface="Calibri" pitchFamily="34" charset="0"/>
                <a:ea typeface="Calibri" pitchFamily="34" charset="-122"/>
                <a:cs typeface="Calibri" pitchFamily="34" charset="-120"/>
              </a:rPr>
              <a:t>2026.03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E3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프로젝트 개요</a:t>
            </a:r>
            <a:endParaRPr lang="en-US" sz="28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indent="0" marL="0">
              <a:buNone/>
            </a:pPr>
            <a:r>
              <a:rPr lang="en-US" sz="1200" i="1" dirty="0">
                <a:solidFill>
                  <a:srgbClr val="8899AA"/>
                </a:solidFill>
                <a:latin typeface="Calibri" pitchFamily="34" charset="0"/>
                <a:ea typeface="Calibri" pitchFamily="34" charset="-122"/>
                <a:cs typeface="Calibri" pitchFamily="34" charset="-120"/>
              </a:rPr>
              <a:t>Project Overview</a:t>
            </a:r>
            <a:endParaRPr lang="en-US" sz="1200" dirty="0"/>
          </a:p>
        </p:txBody>
      </p:sp>
      <p:sp>
        <p:nvSpPr>
          <p:cNvPr id="4" name="Shape 2"/>
          <p:cNvSpPr/>
          <p:nvPr/>
        </p:nvSpPr>
        <p:spPr>
          <a:xfrm>
            <a:off x="457200" y="1325880"/>
            <a:ext cx="2560320" cy="320040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5" name="Shape 3"/>
          <p:cNvSpPr/>
          <p:nvPr/>
        </p:nvSpPr>
        <p:spPr>
          <a:xfrm>
            <a:off x="594360" y="1508760"/>
            <a:ext cx="457200" cy="457200"/>
          </a:xfrm>
          <a:prstGeom prst="ellipse">
            <a:avLst/>
          </a:prstGeom>
          <a:solidFill>
            <a:srgbClr val="0077B6"/>
          </a:solidFill>
          <a:ln/>
        </p:spPr>
      </p:sp>
      <p:sp>
        <p:nvSpPr>
          <p:cNvPr id="6" name="Text 4"/>
          <p:cNvSpPr/>
          <p:nvPr/>
        </p:nvSpPr>
        <p:spPr>
          <a:xfrm>
            <a:off x="594360" y="1508760"/>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7" name="Text 5"/>
          <p:cNvSpPr/>
          <p:nvPr/>
        </p:nvSpPr>
        <p:spPr>
          <a:xfrm>
            <a:off x="1188720" y="1508760"/>
            <a:ext cx="16459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배경</a:t>
            </a:r>
            <a:endParaRPr lang="en-US" sz="1800" dirty="0"/>
          </a:p>
        </p:txBody>
      </p:sp>
      <p:sp>
        <p:nvSpPr>
          <p:cNvPr id="8" name="Text 6"/>
          <p:cNvSpPr/>
          <p:nvPr/>
        </p:nvSpPr>
        <p:spPr>
          <a:xfrm>
            <a:off x="640080" y="2148840"/>
            <a:ext cx="2194560" cy="2194560"/>
          </a:xfrm>
          <a:prstGeom prst="rect">
            <a:avLst/>
          </a:prstGeom>
          <a:noFill/>
          <a:ln/>
        </p:spPr>
        <p:txBody>
          <a:bodyPr wrap="square" lIns="0" tIns="0" rIns="0" bIns="0" rtlCol="0" anchor="t"/>
          <a:lstStyle/>
          <a:p>
            <a:pPr indent="0" marL="0">
              <a:buNone/>
            </a:pPr>
            <a:r>
              <a:rPr lang="en-US" sz="1200" dirty="0">
                <a:solidFill>
                  <a:srgbClr val="E0E7EF"/>
                </a:solidFill>
                <a:latin typeface="Calibri" pitchFamily="34" charset="0"/>
                <a:ea typeface="Calibri" pitchFamily="34" charset="-122"/>
                <a:cs typeface="Calibri" pitchFamily="34" charset="-120"/>
              </a:rPr>
              <a:t>의약품 품질 관리를 위한</a:t>
            </a:r>
            <a:endParaRPr lang="en-US" sz="1200" dirty="0"/>
          </a:p>
          <a:p>
            <a:pPr indent="0" marL="0">
              <a:buNone/>
            </a:pPr>
            <a:r>
              <a:rPr lang="en-US" sz="1200" dirty="0">
                <a:solidFill>
                  <a:srgbClr val="E0E7EF"/>
                </a:solidFill>
                <a:latin typeface="Calibri" pitchFamily="34" charset="0"/>
                <a:ea typeface="Calibri" pitchFamily="34" charset="-122"/>
                <a:cs typeface="Calibri" pitchFamily="34" charset="-120"/>
              </a:rPr>
              <a:t>바이알 내 이물질 검출 필요성</a:t>
            </a:r>
            <a:endParaRPr lang="en-US" sz="1200" dirty="0"/>
          </a:p>
          <a:p>
            <a:pPr indent="0" marL="0">
              <a:buNone/>
            </a:pPr>
            <a:endParaRPr lang="en-US" sz="1200" dirty="0"/>
          </a:p>
          <a:p>
            <a:pPr indent="0" marL="0">
              <a:buNone/>
            </a:pPr>
            <a:r>
              <a:rPr lang="en-US" sz="1200" dirty="0">
                <a:solidFill>
                  <a:srgbClr val="E0E7EF"/>
                </a:solidFill>
                <a:latin typeface="Calibri" pitchFamily="34" charset="0"/>
                <a:ea typeface="Calibri" pitchFamily="34" charset="-122"/>
                <a:cs typeface="Calibri" pitchFamily="34" charset="-120"/>
              </a:rPr>
              <a:t>기존 육안 검사의 한계</a:t>
            </a:r>
            <a:endParaRPr lang="en-US" sz="1200" dirty="0"/>
          </a:p>
          <a:p>
            <a:pPr indent="0" marL="0">
              <a:buNone/>
            </a:pPr>
            <a:r>
              <a:rPr lang="en-US" sz="1200" dirty="0">
                <a:solidFill>
                  <a:srgbClr val="E0E7EF"/>
                </a:solidFill>
                <a:latin typeface="Calibri" pitchFamily="34" charset="0"/>
                <a:ea typeface="Calibri" pitchFamily="34" charset="-122"/>
                <a:cs typeface="Calibri" pitchFamily="34" charset="-120"/>
              </a:rPr>
              <a:t>→ 자동화 비전 검사 도입</a:t>
            </a:r>
            <a:endParaRPr lang="en-US" sz="1200" dirty="0"/>
          </a:p>
        </p:txBody>
      </p:sp>
      <p:sp>
        <p:nvSpPr>
          <p:cNvPr id="9" name="Shape 7"/>
          <p:cNvSpPr/>
          <p:nvPr/>
        </p:nvSpPr>
        <p:spPr>
          <a:xfrm>
            <a:off x="3291840" y="1325880"/>
            <a:ext cx="2560320" cy="320040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0" name="Shape 8"/>
          <p:cNvSpPr/>
          <p:nvPr/>
        </p:nvSpPr>
        <p:spPr>
          <a:xfrm>
            <a:off x="3429000" y="1508760"/>
            <a:ext cx="457200" cy="457200"/>
          </a:xfrm>
          <a:prstGeom prst="ellipse">
            <a:avLst/>
          </a:prstGeom>
          <a:solidFill>
            <a:srgbClr val="0D9488"/>
          </a:solidFill>
          <a:ln/>
        </p:spPr>
      </p:sp>
      <p:sp>
        <p:nvSpPr>
          <p:cNvPr id="11" name="Text 9"/>
          <p:cNvSpPr/>
          <p:nvPr/>
        </p:nvSpPr>
        <p:spPr>
          <a:xfrm>
            <a:off x="3429000" y="1508760"/>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2" name="Text 10"/>
          <p:cNvSpPr/>
          <p:nvPr/>
        </p:nvSpPr>
        <p:spPr>
          <a:xfrm>
            <a:off x="4023360" y="1508760"/>
            <a:ext cx="16459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목적</a:t>
            </a:r>
            <a:endParaRPr lang="en-US" sz="1800" dirty="0"/>
          </a:p>
        </p:txBody>
      </p:sp>
      <p:sp>
        <p:nvSpPr>
          <p:cNvPr id="13" name="Text 11"/>
          <p:cNvSpPr/>
          <p:nvPr/>
        </p:nvSpPr>
        <p:spPr>
          <a:xfrm>
            <a:off x="3474720" y="2148840"/>
            <a:ext cx="2194560" cy="2194560"/>
          </a:xfrm>
          <a:prstGeom prst="rect">
            <a:avLst/>
          </a:prstGeom>
          <a:noFill/>
          <a:ln/>
        </p:spPr>
        <p:txBody>
          <a:bodyPr wrap="square" lIns="0" tIns="0" rIns="0" bIns="0" rtlCol="0" anchor="t"/>
          <a:lstStyle/>
          <a:p>
            <a:pPr indent="0" marL="0">
              <a:buNone/>
            </a:pPr>
            <a:r>
              <a:rPr lang="en-US" sz="1200" dirty="0">
                <a:solidFill>
                  <a:srgbClr val="E0E7EF"/>
                </a:solidFill>
                <a:latin typeface="Calibri" pitchFamily="34" charset="0"/>
                <a:ea typeface="Calibri" pitchFamily="34" charset="-122"/>
                <a:cs typeface="Calibri" pitchFamily="34" charset="-120"/>
              </a:rPr>
              <a:t>Basler 카메라 기반</a:t>
            </a:r>
            <a:endParaRPr lang="en-US" sz="1200" dirty="0"/>
          </a:p>
          <a:p>
            <a:pPr indent="0" marL="0">
              <a:buNone/>
            </a:pPr>
            <a:r>
              <a:rPr lang="en-US" sz="1200" dirty="0">
                <a:solidFill>
                  <a:srgbClr val="E0E7EF"/>
                </a:solidFill>
                <a:latin typeface="Calibri" pitchFamily="34" charset="0"/>
                <a:ea typeface="Calibri" pitchFamily="34" charset="-122"/>
                <a:cs typeface="Calibri" pitchFamily="34" charset="-120"/>
              </a:rPr>
              <a:t>실시간 바이알 이물질 검출</a:t>
            </a:r>
            <a:endParaRPr lang="en-US" sz="1200" dirty="0"/>
          </a:p>
          <a:p>
            <a:pPr indent="0" marL="0">
              <a:buNone/>
            </a:pPr>
            <a:endParaRPr lang="en-US" sz="1200" dirty="0"/>
          </a:p>
          <a:p>
            <a:pPr indent="0" marL="0">
              <a:buNone/>
            </a:pPr>
            <a:r>
              <a:rPr lang="en-US" sz="1200" dirty="0">
                <a:solidFill>
                  <a:srgbClr val="E0E7EF"/>
                </a:solidFill>
                <a:latin typeface="Calibri" pitchFamily="34" charset="0"/>
                <a:ea typeface="Calibri" pitchFamily="34" charset="-122"/>
                <a:cs typeface="Calibri" pitchFamily="34" charset="-120"/>
              </a:rPr>
              <a:t>이물질·버블·노이즈</a:t>
            </a:r>
            <a:endParaRPr lang="en-US" sz="1200" dirty="0"/>
          </a:p>
          <a:p>
            <a:pPr indent="0" marL="0">
              <a:buNone/>
            </a:pPr>
            <a:r>
              <a:rPr lang="en-US" sz="1200" dirty="0">
                <a:solidFill>
                  <a:srgbClr val="E0E7EF"/>
                </a:solidFill>
                <a:latin typeface="Calibri" pitchFamily="34" charset="0"/>
                <a:ea typeface="Calibri" pitchFamily="34" charset="-122"/>
                <a:cs typeface="Calibri" pitchFamily="34" charset="-120"/>
              </a:rPr>
              <a:t>자동 분류 및 판정</a:t>
            </a:r>
            <a:endParaRPr lang="en-US" sz="1200" dirty="0"/>
          </a:p>
        </p:txBody>
      </p:sp>
      <p:sp>
        <p:nvSpPr>
          <p:cNvPr id="14" name="Shape 12"/>
          <p:cNvSpPr/>
          <p:nvPr/>
        </p:nvSpPr>
        <p:spPr>
          <a:xfrm>
            <a:off x="6126480" y="1325880"/>
            <a:ext cx="2560320" cy="320040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5" name="Shape 13"/>
          <p:cNvSpPr/>
          <p:nvPr/>
        </p:nvSpPr>
        <p:spPr>
          <a:xfrm>
            <a:off x="6263640" y="1508760"/>
            <a:ext cx="457200" cy="457200"/>
          </a:xfrm>
          <a:prstGeom prst="ellipse">
            <a:avLst/>
          </a:prstGeom>
          <a:solidFill>
            <a:srgbClr val="00B4D8"/>
          </a:solidFill>
          <a:ln/>
        </p:spPr>
      </p:sp>
      <p:sp>
        <p:nvSpPr>
          <p:cNvPr id="16" name="Text 14"/>
          <p:cNvSpPr/>
          <p:nvPr/>
        </p:nvSpPr>
        <p:spPr>
          <a:xfrm>
            <a:off x="6263640" y="1508760"/>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17" name="Text 15"/>
          <p:cNvSpPr/>
          <p:nvPr/>
        </p:nvSpPr>
        <p:spPr>
          <a:xfrm>
            <a:off x="6858000" y="1508760"/>
            <a:ext cx="164592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핵심 가치</a:t>
            </a:r>
            <a:endParaRPr lang="en-US" sz="1800" dirty="0"/>
          </a:p>
        </p:txBody>
      </p:sp>
      <p:sp>
        <p:nvSpPr>
          <p:cNvPr id="18" name="Text 16"/>
          <p:cNvSpPr/>
          <p:nvPr/>
        </p:nvSpPr>
        <p:spPr>
          <a:xfrm>
            <a:off x="6309360" y="2148840"/>
            <a:ext cx="2194560" cy="2194560"/>
          </a:xfrm>
          <a:prstGeom prst="rect">
            <a:avLst/>
          </a:prstGeom>
          <a:noFill/>
          <a:ln/>
        </p:spPr>
        <p:txBody>
          <a:bodyPr wrap="square" lIns="0" tIns="0" rIns="0" bIns="0" rtlCol="0" anchor="t"/>
          <a:lstStyle/>
          <a:p>
            <a:pPr indent="0" marL="0">
              <a:buNone/>
            </a:pPr>
            <a:r>
              <a:rPr lang="en-US" sz="1200" dirty="0">
                <a:solidFill>
                  <a:srgbClr val="E0E7EF"/>
                </a:solidFill>
                <a:latin typeface="Calibri" pitchFamily="34" charset="0"/>
                <a:ea typeface="Calibri" pitchFamily="34" charset="-122"/>
                <a:cs typeface="Calibri" pitchFamily="34" charset="-120"/>
              </a:rPr>
              <a:t>3단계 권한 관리</a:t>
            </a:r>
            <a:endParaRPr lang="en-US" sz="1200" dirty="0"/>
          </a:p>
          <a:p>
            <a:pPr indent="0" marL="0">
              <a:buNone/>
            </a:pPr>
            <a:r>
              <a:rPr lang="en-US" sz="1200" dirty="0">
                <a:solidFill>
                  <a:srgbClr val="E0E7EF"/>
                </a:solidFill>
                <a:latin typeface="Calibri" pitchFamily="34" charset="0"/>
                <a:ea typeface="Calibri" pitchFamily="34" charset="-122"/>
                <a:cs typeface="Calibri" pitchFamily="34" charset="-120"/>
              </a:rPr>
              <a:t>(User / Viewer / Maker)</a:t>
            </a:r>
            <a:endParaRPr lang="en-US" sz="1200" dirty="0"/>
          </a:p>
          <a:p>
            <a:pPr indent="0" marL="0">
              <a:buNone/>
            </a:pPr>
            <a:endParaRPr lang="en-US" sz="1200" dirty="0"/>
          </a:p>
          <a:p>
            <a:pPr indent="0" marL="0">
              <a:buNone/>
            </a:pPr>
            <a:r>
              <a:rPr lang="en-US" sz="1200" dirty="0">
                <a:solidFill>
                  <a:srgbClr val="E0E7EF"/>
                </a:solidFill>
                <a:latin typeface="Calibri" pitchFamily="34" charset="0"/>
                <a:ea typeface="Calibri" pitchFamily="34" charset="-122"/>
                <a:cs typeface="Calibri" pitchFamily="34" charset="-120"/>
              </a:rPr>
              <a:t>딥러닝 + 영상처리 하이브리드</a:t>
            </a:r>
            <a:endParaRPr lang="en-US" sz="1200" dirty="0"/>
          </a:p>
          <a:p>
            <a:pPr indent="0" marL="0">
              <a:buNone/>
            </a:pPr>
            <a:r>
              <a:rPr lang="en-US" sz="1200" dirty="0">
                <a:solidFill>
                  <a:srgbClr val="E0E7EF"/>
                </a:solidFill>
                <a:latin typeface="Calibri" pitchFamily="34" charset="0"/>
                <a:ea typeface="Calibri" pitchFamily="34" charset="-122"/>
                <a:cs typeface="Calibri" pitchFamily="34" charset="-120"/>
              </a:rPr>
              <a:t>검출 정확도 극대화</a:t>
            </a:r>
            <a:endParaRPr lang="en-US" sz="1200" dirty="0"/>
          </a:p>
        </p:txBody>
      </p:sp>
      <p:sp>
        <p:nvSpPr>
          <p:cNvPr id="19" name="Text 1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8899AA"/>
                </a:solidFill>
              </a:rPr>
              <a:t>2 / 11</a:t>
            </a:r>
            <a:endParaRPr lang="en-US" sz="900" dirty="0"/>
          </a:p>
        </p:txBody>
      </p:sp>
      <p:sp>
        <p:nvSpPr>
          <p:cNvPr id="20" name="Text 18"/>
          <p:cNvSpPr/>
          <p:nvPr/>
        </p:nvSpPr>
        <p:spPr>
          <a:xfrm>
            <a:off x="457200" y="4754880"/>
            <a:ext cx="1828800" cy="274320"/>
          </a:xfrm>
          <a:prstGeom prst="rect">
            <a:avLst/>
          </a:prstGeom>
          <a:noFill/>
          <a:ln/>
        </p:spPr>
        <p:txBody>
          <a:bodyPr wrap="square" rtlCol="0" anchor="ctr"/>
          <a:lstStyle/>
          <a:p>
            <a:pPr algn="l" indent="0" marL="0">
              <a:buNone/>
            </a:pPr>
            <a:r>
              <a:rPr lang="en-US" sz="900" dirty="0">
                <a:solidFill>
                  <a:srgbClr val="8899AA"/>
                </a:solidFill>
              </a:rPr>
              <a:t>NOVAnix-DVI</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E3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시스템 구조 &amp; 기술 스택</a:t>
            </a:r>
            <a:endParaRPr lang="en-US" sz="2800" dirty="0"/>
          </a:p>
        </p:txBody>
      </p:sp>
      <p:sp>
        <p:nvSpPr>
          <p:cNvPr id="3" name="Shape 1"/>
          <p:cNvSpPr/>
          <p:nvPr/>
        </p:nvSpPr>
        <p:spPr>
          <a:xfrm>
            <a:off x="274320" y="1188720"/>
            <a:ext cx="1554480" cy="16459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4" name="Shape 2"/>
          <p:cNvSpPr/>
          <p:nvPr/>
        </p:nvSpPr>
        <p:spPr>
          <a:xfrm>
            <a:off x="274320" y="1188720"/>
            <a:ext cx="1554480" cy="54864"/>
          </a:xfrm>
          <a:prstGeom prst="rect">
            <a:avLst/>
          </a:prstGeom>
          <a:solidFill>
            <a:srgbClr val="0077B6"/>
          </a:solidFill>
          <a:ln/>
        </p:spPr>
      </p:sp>
      <p:sp>
        <p:nvSpPr>
          <p:cNvPr id="5" name="Text 3"/>
          <p:cNvSpPr/>
          <p:nvPr/>
        </p:nvSpPr>
        <p:spPr>
          <a:xfrm>
            <a:off x="365760" y="137160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Basler</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Camera</a:t>
            </a:r>
            <a:endParaRPr lang="en-US" sz="1300" dirty="0"/>
          </a:p>
        </p:txBody>
      </p:sp>
      <p:sp>
        <p:nvSpPr>
          <p:cNvPr id="6" name="Text 4"/>
          <p:cNvSpPr/>
          <p:nvPr/>
        </p:nvSpPr>
        <p:spPr>
          <a:xfrm>
            <a:off x="365760" y="2011680"/>
            <a:ext cx="1371600" cy="640080"/>
          </a:xfrm>
          <a:prstGeom prst="rect">
            <a:avLst/>
          </a:prstGeom>
          <a:noFill/>
          <a:ln/>
        </p:spPr>
        <p:txBody>
          <a:bodyPr wrap="square" lIns="0" tIns="0" rIns="0" bIns="0" rtlCol="0" anchor="t"/>
          <a:lstStyle/>
          <a:p>
            <a:pPr algn="ctr" indent="0" marL="0">
              <a:buNone/>
            </a:pPr>
            <a:r>
              <a:rPr lang="en-US" sz="1000" dirty="0">
                <a:solidFill>
                  <a:srgbClr val="8899AA"/>
                </a:solidFill>
                <a:latin typeface="Calibri" pitchFamily="34" charset="0"/>
                <a:ea typeface="Calibri" pitchFamily="34" charset="-122"/>
                <a:cs typeface="Calibri" pitchFamily="34" charset="-120"/>
              </a:rPr>
              <a:t>GigE 산업용 카메라</a:t>
            </a:r>
            <a:endParaRPr lang="en-US" sz="1000" dirty="0"/>
          </a:p>
        </p:txBody>
      </p:sp>
      <p:sp>
        <p:nvSpPr>
          <p:cNvPr id="7" name="Text 5"/>
          <p:cNvSpPr/>
          <p:nvPr/>
        </p:nvSpPr>
        <p:spPr>
          <a:xfrm>
            <a:off x="1828800" y="1645920"/>
            <a:ext cx="228600" cy="457200"/>
          </a:xfrm>
          <a:prstGeom prst="rect">
            <a:avLst/>
          </a:prstGeom>
          <a:noFill/>
          <a:ln/>
        </p:spPr>
        <p:txBody>
          <a:bodyPr wrap="square" lIns="0" tIns="0" rIns="0" bIns="0" rtlCol="0" anchor="ctr"/>
          <a:lstStyle/>
          <a:p>
            <a:pPr algn="ctr" indent="0" marL="0">
              <a:buNone/>
            </a:pPr>
            <a:r>
              <a:rPr lang="en-US" sz="1800" dirty="0">
                <a:solidFill>
                  <a:srgbClr val="00B4D8"/>
                </a:solidFill>
              </a:rPr>
              <a:t>→</a:t>
            </a:r>
            <a:endParaRPr lang="en-US" sz="1800" dirty="0"/>
          </a:p>
        </p:txBody>
      </p:sp>
      <p:sp>
        <p:nvSpPr>
          <p:cNvPr id="8" name="Shape 6"/>
          <p:cNvSpPr/>
          <p:nvPr/>
        </p:nvSpPr>
        <p:spPr>
          <a:xfrm>
            <a:off x="2057400" y="1188720"/>
            <a:ext cx="1554480" cy="16459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9" name="Shape 7"/>
          <p:cNvSpPr/>
          <p:nvPr/>
        </p:nvSpPr>
        <p:spPr>
          <a:xfrm>
            <a:off x="2057400" y="1188720"/>
            <a:ext cx="1554480" cy="54864"/>
          </a:xfrm>
          <a:prstGeom prst="rect">
            <a:avLst/>
          </a:prstGeom>
          <a:solidFill>
            <a:srgbClr val="0D9488"/>
          </a:solidFill>
          <a:ln/>
        </p:spPr>
      </p:sp>
      <p:sp>
        <p:nvSpPr>
          <p:cNvPr id="10" name="Text 8"/>
          <p:cNvSpPr/>
          <p:nvPr/>
        </p:nvSpPr>
        <p:spPr>
          <a:xfrm>
            <a:off x="2148840" y="137160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영상 전처리</a:t>
            </a:r>
            <a:endParaRPr lang="en-US" sz="1300" dirty="0"/>
          </a:p>
        </p:txBody>
      </p:sp>
      <p:sp>
        <p:nvSpPr>
          <p:cNvPr id="11" name="Text 9"/>
          <p:cNvSpPr/>
          <p:nvPr/>
        </p:nvSpPr>
        <p:spPr>
          <a:xfrm>
            <a:off x="2148840" y="2011680"/>
            <a:ext cx="1371600" cy="640080"/>
          </a:xfrm>
          <a:prstGeom prst="rect">
            <a:avLst/>
          </a:prstGeom>
          <a:noFill/>
          <a:ln/>
        </p:spPr>
        <p:txBody>
          <a:bodyPr wrap="square" lIns="0" tIns="0" rIns="0" bIns="0" rtlCol="0" anchor="t"/>
          <a:lstStyle/>
          <a:p>
            <a:pPr algn="ctr" indent="0" marL="0">
              <a:buNone/>
            </a:pPr>
            <a:r>
              <a:rPr lang="en-US" sz="1000" dirty="0">
                <a:solidFill>
                  <a:srgbClr val="8899AA"/>
                </a:solidFill>
                <a:latin typeface="Calibri" pitchFamily="34" charset="0"/>
                <a:ea typeface="Calibri" pitchFamily="34" charset="-122"/>
                <a:cs typeface="Calibri" pitchFamily="34" charset="-120"/>
              </a:rPr>
              <a:t>Threshold · Morphology</a:t>
            </a:r>
            <a:endParaRPr lang="en-US" sz="1000" dirty="0"/>
          </a:p>
          <a:p>
            <a:pPr algn="ctr" indent="0" marL="0">
              <a:buNone/>
            </a:pPr>
            <a:r>
              <a:rPr lang="en-US" sz="1000" dirty="0">
                <a:solidFill>
                  <a:srgbClr val="8899AA"/>
                </a:solidFill>
                <a:latin typeface="Calibri" pitchFamily="34" charset="0"/>
                <a:ea typeface="Calibri" pitchFamily="34" charset="-122"/>
                <a:cs typeface="Calibri" pitchFamily="34" charset="-120"/>
              </a:rPr>
              <a:t>DoG · CLAHE</a:t>
            </a:r>
            <a:endParaRPr lang="en-US" sz="1000" dirty="0"/>
          </a:p>
        </p:txBody>
      </p:sp>
      <p:sp>
        <p:nvSpPr>
          <p:cNvPr id="12" name="Text 10"/>
          <p:cNvSpPr/>
          <p:nvPr/>
        </p:nvSpPr>
        <p:spPr>
          <a:xfrm>
            <a:off x="3611880" y="1645920"/>
            <a:ext cx="228600" cy="457200"/>
          </a:xfrm>
          <a:prstGeom prst="rect">
            <a:avLst/>
          </a:prstGeom>
          <a:noFill/>
          <a:ln/>
        </p:spPr>
        <p:txBody>
          <a:bodyPr wrap="square" lIns="0" tIns="0" rIns="0" bIns="0" rtlCol="0" anchor="ctr"/>
          <a:lstStyle/>
          <a:p>
            <a:pPr algn="ctr" indent="0" marL="0">
              <a:buNone/>
            </a:pPr>
            <a:r>
              <a:rPr lang="en-US" sz="1800" dirty="0">
                <a:solidFill>
                  <a:srgbClr val="00B4D8"/>
                </a:solidFill>
              </a:rPr>
              <a:t>→</a:t>
            </a:r>
            <a:endParaRPr lang="en-US" sz="1800" dirty="0"/>
          </a:p>
        </p:txBody>
      </p:sp>
      <p:sp>
        <p:nvSpPr>
          <p:cNvPr id="13" name="Shape 11"/>
          <p:cNvSpPr/>
          <p:nvPr/>
        </p:nvSpPr>
        <p:spPr>
          <a:xfrm>
            <a:off x="3840480" y="1188720"/>
            <a:ext cx="1554480" cy="16459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4" name="Shape 12"/>
          <p:cNvSpPr/>
          <p:nvPr/>
        </p:nvSpPr>
        <p:spPr>
          <a:xfrm>
            <a:off x="3840480" y="1188720"/>
            <a:ext cx="1554480" cy="54864"/>
          </a:xfrm>
          <a:prstGeom prst="rect">
            <a:avLst/>
          </a:prstGeom>
          <a:solidFill>
            <a:srgbClr val="00B4D8"/>
          </a:solidFill>
          <a:ln/>
        </p:spPr>
      </p:sp>
      <p:sp>
        <p:nvSpPr>
          <p:cNvPr id="15" name="Text 13"/>
          <p:cNvSpPr/>
          <p:nvPr/>
        </p:nvSpPr>
        <p:spPr>
          <a:xfrm>
            <a:off x="3931920" y="137160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이물질 검출</a:t>
            </a:r>
            <a:endParaRPr lang="en-US" sz="1300" dirty="0"/>
          </a:p>
        </p:txBody>
      </p:sp>
      <p:sp>
        <p:nvSpPr>
          <p:cNvPr id="16" name="Text 14"/>
          <p:cNvSpPr/>
          <p:nvPr/>
        </p:nvSpPr>
        <p:spPr>
          <a:xfrm>
            <a:off x="3931920" y="2011680"/>
            <a:ext cx="1371600" cy="640080"/>
          </a:xfrm>
          <a:prstGeom prst="rect">
            <a:avLst/>
          </a:prstGeom>
          <a:noFill/>
          <a:ln/>
        </p:spPr>
        <p:txBody>
          <a:bodyPr wrap="square" lIns="0" tIns="0" rIns="0" bIns="0" rtlCol="0" anchor="t"/>
          <a:lstStyle/>
          <a:p>
            <a:pPr algn="ctr" indent="0" marL="0">
              <a:buNone/>
            </a:pPr>
            <a:r>
              <a:rPr lang="en-US" sz="1000" dirty="0">
                <a:solidFill>
                  <a:srgbClr val="8899AA"/>
                </a:solidFill>
                <a:latin typeface="Calibri" pitchFamily="34" charset="0"/>
                <a:ea typeface="Calibri" pitchFamily="34" charset="-122"/>
                <a:cs typeface="Calibri" pitchFamily="34" charset="-120"/>
              </a:rPr>
              <a:t>일반 검출 · 버블 검출</a:t>
            </a:r>
            <a:endParaRPr lang="en-US" sz="1000" dirty="0"/>
          </a:p>
          <a:p>
            <a:pPr algn="ctr" indent="0" marL="0">
              <a:buNone/>
            </a:pPr>
            <a:r>
              <a:rPr lang="en-US" sz="1000" dirty="0">
                <a:solidFill>
                  <a:srgbClr val="8899AA"/>
                </a:solidFill>
                <a:latin typeface="Calibri" pitchFamily="34" charset="0"/>
                <a:ea typeface="Calibri" pitchFamily="34" charset="-122"/>
                <a:cs typeface="Calibri" pitchFamily="34" charset="-120"/>
              </a:rPr>
              <a:t>ECC 보정</a:t>
            </a:r>
            <a:endParaRPr lang="en-US" sz="1000" dirty="0"/>
          </a:p>
        </p:txBody>
      </p:sp>
      <p:sp>
        <p:nvSpPr>
          <p:cNvPr id="17" name="Text 15"/>
          <p:cNvSpPr/>
          <p:nvPr/>
        </p:nvSpPr>
        <p:spPr>
          <a:xfrm>
            <a:off x="5394960" y="1645920"/>
            <a:ext cx="228600" cy="457200"/>
          </a:xfrm>
          <a:prstGeom prst="rect">
            <a:avLst/>
          </a:prstGeom>
          <a:noFill/>
          <a:ln/>
        </p:spPr>
        <p:txBody>
          <a:bodyPr wrap="square" lIns="0" tIns="0" rIns="0" bIns="0" rtlCol="0" anchor="ctr"/>
          <a:lstStyle/>
          <a:p>
            <a:pPr algn="ctr" indent="0" marL="0">
              <a:buNone/>
            </a:pPr>
            <a:r>
              <a:rPr lang="en-US" sz="1800" dirty="0">
                <a:solidFill>
                  <a:srgbClr val="00B4D8"/>
                </a:solidFill>
              </a:rPr>
              <a:t>→</a:t>
            </a:r>
            <a:endParaRPr lang="en-US" sz="1800" dirty="0"/>
          </a:p>
        </p:txBody>
      </p:sp>
      <p:sp>
        <p:nvSpPr>
          <p:cNvPr id="18" name="Shape 16"/>
          <p:cNvSpPr/>
          <p:nvPr/>
        </p:nvSpPr>
        <p:spPr>
          <a:xfrm>
            <a:off x="5623560" y="1188720"/>
            <a:ext cx="1554480" cy="16459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9" name="Shape 17"/>
          <p:cNvSpPr/>
          <p:nvPr/>
        </p:nvSpPr>
        <p:spPr>
          <a:xfrm>
            <a:off x="5623560" y="1188720"/>
            <a:ext cx="1554480" cy="54864"/>
          </a:xfrm>
          <a:prstGeom prst="rect">
            <a:avLst/>
          </a:prstGeom>
          <a:solidFill>
            <a:srgbClr val="00C9A7"/>
          </a:solidFill>
          <a:ln/>
        </p:spPr>
      </p:sp>
      <p:sp>
        <p:nvSpPr>
          <p:cNvPr id="20" name="Text 18"/>
          <p:cNvSpPr/>
          <p:nvPr/>
        </p:nvSpPr>
        <p:spPr>
          <a:xfrm>
            <a:off x="5715000" y="137160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DL 분류</a:t>
            </a:r>
            <a:endParaRPr lang="en-US" sz="1300" dirty="0"/>
          </a:p>
        </p:txBody>
      </p:sp>
      <p:sp>
        <p:nvSpPr>
          <p:cNvPr id="21" name="Text 19"/>
          <p:cNvSpPr/>
          <p:nvPr/>
        </p:nvSpPr>
        <p:spPr>
          <a:xfrm>
            <a:off x="5715000" y="2011680"/>
            <a:ext cx="1371600" cy="640080"/>
          </a:xfrm>
          <a:prstGeom prst="rect">
            <a:avLst/>
          </a:prstGeom>
          <a:noFill/>
          <a:ln/>
        </p:spPr>
        <p:txBody>
          <a:bodyPr wrap="square" lIns="0" tIns="0" rIns="0" bIns="0" rtlCol="0" anchor="t"/>
          <a:lstStyle/>
          <a:p>
            <a:pPr algn="ctr" indent="0" marL="0">
              <a:buNone/>
            </a:pPr>
            <a:r>
              <a:rPr lang="en-US" sz="1000" dirty="0">
                <a:solidFill>
                  <a:srgbClr val="8899AA"/>
                </a:solidFill>
                <a:latin typeface="Calibri" pitchFamily="34" charset="0"/>
                <a:ea typeface="Calibri" pitchFamily="34" charset="-122"/>
                <a:cs typeface="Calibri" pitchFamily="34" charset="-120"/>
              </a:rPr>
              <a:t>PyTorch · ONNX</a:t>
            </a:r>
            <a:endParaRPr lang="en-US" sz="1000" dirty="0"/>
          </a:p>
          <a:p>
            <a:pPr algn="ctr" indent="0" marL="0">
              <a:buNone/>
            </a:pPr>
            <a:r>
              <a:rPr lang="en-US" sz="1000" dirty="0">
                <a:solidFill>
                  <a:srgbClr val="8899AA"/>
                </a:solidFill>
                <a:latin typeface="Calibri" pitchFamily="34" charset="0"/>
                <a:ea typeface="Calibri" pitchFamily="34" charset="-122"/>
                <a:cs typeface="Calibri" pitchFamily="34" charset="-120"/>
              </a:rPr>
              <a:t>OpenVINO</a:t>
            </a:r>
            <a:endParaRPr lang="en-US" sz="1000" dirty="0"/>
          </a:p>
        </p:txBody>
      </p:sp>
      <p:sp>
        <p:nvSpPr>
          <p:cNvPr id="22" name="Text 20"/>
          <p:cNvSpPr/>
          <p:nvPr/>
        </p:nvSpPr>
        <p:spPr>
          <a:xfrm>
            <a:off x="7178040" y="1645920"/>
            <a:ext cx="228600" cy="457200"/>
          </a:xfrm>
          <a:prstGeom prst="rect">
            <a:avLst/>
          </a:prstGeom>
          <a:noFill/>
          <a:ln/>
        </p:spPr>
        <p:txBody>
          <a:bodyPr wrap="square" lIns="0" tIns="0" rIns="0" bIns="0" rtlCol="0" anchor="ctr"/>
          <a:lstStyle/>
          <a:p>
            <a:pPr algn="ctr" indent="0" marL="0">
              <a:buNone/>
            </a:pPr>
            <a:r>
              <a:rPr lang="en-US" sz="1800" dirty="0">
                <a:solidFill>
                  <a:srgbClr val="00B4D8"/>
                </a:solidFill>
              </a:rPr>
              <a:t>→</a:t>
            </a:r>
            <a:endParaRPr lang="en-US" sz="1800" dirty="0"/>
          </a:p>
        </p:txBody>
      </p:sp>
      <p:sp>
        <p:nvSpPr>
          <p:cNvPr id="23" name="Shape 21"/>
          <p:cNvSpPr/>
          <p:nvPr/>
        </p:nvSpPr>
        <p:spPr>
          <a:xfrm>
            <a:off x="7406640" y="1188720"/>
            <a:ext cx="1554480" cy="16459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24" name="Shape 22"/>
          <p:cNvSpPr/>
          <p:nvPr/>
        </p:nvSpPr>
        <p:spPr>
          <a:xfrm>
            <a:off x="7406640" y="1188720"/>
            <a:ext cx="1554480" cy="54864"/>
          </a:xfrm>
          <a:prstGeom prst="rect">
            <a:avLst/>
          </a:prstGeom>
          <a:solidFill>
            <a:srgbClr val="FFB347"/>
          </a:solidFill>
          <a:ln/>
        </p:spPr>
      </p:sp>
      <p:sp>
        <p:nvSpPr>
          <p:cNvPr id="25" name="Text 23"/>
          <p:cNvSpPr/>
          <p:nvPr/>
        </p:nvSpPr>
        <p:spPr>
          <a:xfrm>
            <a:off x="7498080" y="1371600"/>
            <a:ext cx="1371600" cy="6400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판정 결과</a:t>
            </a:r>
            <a:endParaRPr lang="en-US" sz="1300" dirty="0"/>
          </a:p>
        </p:txBody>
      </p:sp>
      <p:sp>
        <p:nvSpPr>
          <p:cNvPr id="26" name="Text 24"/>
          <p:cNvSpPr/>
          <p:nvPr/>
        </p:nvSpPr>
        <p:spPr>
          <a:xfrm>
            <a:off x="7498080" y="2011680"/>
            <a:ext cx="1371600" cy="640080"/>
          </a:xfrm>
          <a:prstGeom prst="rect">
            <a:avLst/>
          </a:prstGeom>
          <a:noFill/>
          <a:ln/>
        </p:spPr>
        <p:txBody>
          <a:bodyPr wrap="square" lIns="0" tIns="0" rIns="0" bIns="0" rtlCol="0" anchor="t"/>
          <a:lstStyle/>
          <a:p>
            <a:pPr algn="ctr" indent="0" marL="0">
              <a:buNone/>
            </a:pPr>
            <a:r>
              <a:rPr lang="en-US" sz="1000" dirty="0">
                <a:solidFill>
                  <a:srgbClr val="8899AA"/>
                </a:solidFill>
                <a:latin typeface="Calibri" pitchFamily="34" charset="0"/>
                <a:ea typeface="Calibri" pitchFamily="34" charset="-122"/>
                <a:cs typeface="Calibri" pitchFamily="34" charset="-120"/>
              </a:rPr>
              <a:t>Particle · Noise</a:t>
            </a:r>
            <a:endParaRPr lang="en-US" sz="1000" dirty="0"/>
          </a:p>
          <a:p>
            <a:pPr algn="ctr" indent="0" marL="0">
              <a:buNone/>
            </a:pPr>
            <a:r>
              <a:rPr lang="en-US" sz="1000" dirty="0">
                <a:solidFill>
                  <a:srgbClr val="8899AA"/>
                </a:solidFill>
                <a:latin typeface="Calibri" pitchFamily="34" charset="0"/>
                <a:ea typeface="Calibri" pitchFamily="34" charset="-122"/>
                <a:cs typeface="Calibri" pitchFamily="34" charset="-120"/>
              </a:rPr>
              <a:t>Bubble</a:t>
            </a:r>
            <a:endParaRPr lang="en-US" sz="1000" dirty="0"/>
          </a:p>
        </p:txBody>
      </p:sp>
      <p:sp>
        <p:nvSpPr>
          <p:cNvPr id="27" name="Text 25"/>
          <p:cNvSpPr/>
          <p:nvPr/>
        </p:nvSpPr>
        <p:spPr>
          <a:xfrm>
            <a:off x="457200" y="3108960"/>
            <a:ext cx="8229600" cy="365760"/>
          </a:xfrm>
          <a:prstGeom prst="rect">
            <a:avLst/>
          </a:prstGeom>
          <a:noFill/>
          <a:ln/>
        </p:spPr>
        <p:txBody>
          <a:bodyPr wrap="square" lIns="0" tIns="0" rIns="0" bIns="0" rtlCol="0" anchor="ctr"/>
          <a:lstStyle/>
          <a:p>
            <a:pPr indent="0" marL="0">
              <a:buNone/>
            </a:pPr>
            <a:r>
              <a:rPr lang="en-US" sz="1600" b="1" dirty="0">
                <a:solidFill>
                  <a:srgbClr val="00B4D8"/>
                </a:solidFill>
                <a:latin typeface="Calibri" pitchFamily="34" charset="0"/>
                <a:ea typeface="Calibri" pitchFamily="34" charset="-122"/>
                <a:cs typeface="Calibri" pitchFamily="34" charset="-120"/>
              </a:rPr>
              <a:t>기술 스택</a:t>
            </a:r>
            <a:endParaRPr lang="en-US" sz="1600" dirty="0"/>
          </a:p>
        </p:txBody>
      </p:sp>
      <p:sp>
        <p:nvSpPr>
          <p:cNvPr id="28" name="Shape 26"/>
          <p:cNvSpPr/>
          <p:nvPr/>
        </p:nvSpPr>
        <p:spPr>
          <a:xfrm>
            <a:off x="457200" y="3566160"/>
            <a:ext cx="1920240" cy="82296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29" name="Text 27"/>
          <p:cNvSpPr/>
          <p:nvPr/>
        </p:nvSpPr>
        <p:spPr>
          <a:xfrm>
            <a:off x="594360" y="3611880"/>
            <a:ext cx="1645920" cy="320040"/>
          </a:xfrm>
          <a:prstGeom prst="rect">
            <a:avLst/>
          </a:prstGeom>
          <a:noFill/>
          <a:ln/>
        </p:spPr>
        <p:txBody>
          <a:bodyPr wrap="square" lIns="0" tIns="0" rIns="0" bIns="0" rtlCol="0" anchor="ctr"/>
          <a:lstStyle/>
          <a:p>
            <a:pPr indent="0" marL="0">
              <a:buNone/>
            </a:pPr>
            <a:r>
              <a:rPr lang="en-US" sz="1100" b="1" dirty="0">
                <a:solidFill>
                  <a:srgbClr val="0077B6"/>
                </a:solidFill>
                <a:latin typeface="Calibri" pitchFamily="34" charset="0"/>
                <a:ea typeface="Calibri" pitchFamily="34" charset="-122"/>
                <a:cs typeface="Calibri" pitchFamily="34" charset="-120"/>
              </a:rPr>
              <a:t>Frontend</a:t>
            </a:r>
            <a:endParaRPr lang="en-US" sz="1100" dirty="0"/>
          </a:p>
        </p:txBody>
      </p:sp>
      <p:sp>
        <p:nvSpPr>
          <p:cNvPr id="30" name="Text 28"/>
          <p:cNvSpPr/>
          <p:nvPr/>
        </p:nvSpPr>
        <p:spPr>
          <a:xfrm>
            <a:off x="594360" y="3931920"/>
            <a:ext cx="1645920" cy="32004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Python · PyQt5</a:t>
            </a:r>
            <a:endParaRPr lang="en-US" sz="1100" dirty="0"/>
          </a:p>
        </p:txBody>
      </p:sp>
      <p:sp>
        <p:nvSpPr>
          <p:cNvPr id="31" name="Shape 29"/>
          <p:cNvSpPr/>
          <p:nvPr/>
        </p:nvSpPr>
        <p:spPr>
          <a:xfrm>
            <a:off x="2606040" y="3566160"/>
            <a:ext cx="1920240" cy="82296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32" name="Text 30"/>
          <p:cNvSpPr/>
          <p:nvPr/>
        </p:nvSpPr>
        <p:spPr>
          <a:xfrm>
            <a:off x="2743200" y="3611880"/>
            <a:ext cx="1645920" cy="320040"/>
          </a:xfrm>
          <a:prstGeom prst="rect">
            <a:avLst/>
          </a:prstGeom>
          <a:noFill/>
          <a:ln/>
        </p:spPr>
        <p:txBody>
          <a:bodyPr wrap="square" lIns="0" tIns="0" rIns="0" bIns="0" rtlCol="0" anchor="ctr"/>
          <a:lstStyle/>
          <a:p>
            <a:pPr indent="0" marL="0">
              <a:buNone/>
            </a:pPr>
            <a:r>
              <a:rPr lang="en-US" sz="1100" b="1" dirty="0">
                <a:solidFill>
                  <a:srgbClr val="0D9488"/>
                </a:solidFill>
                <a:latin typeface="Calibri" pitchFamily="34" charset="0"/>
                <a:ea typeface="Calibri" pitchFamily="34" charset="-122"/>
                <a:cs typeface="Calibri" pitchFamily="34" charset="-120"/>
              </a:rPr>
              <a:t>Vision</a:t>
            </a:r>
            <a:endParaRPr lang="en-US" sz="1100" dirty="0"/>
          </a:p>
        </p:txBody>
      </p:sp>
      <p:sp>
        <p:nvSpPr>
          <p:cNvPr id="33" name="Text 31"/>
          <p:cNvSpPr/>
          <p:nvPr/>
        </p:nvSpPr>
        <p:spPr>
          <a:xfrm>
            <a:off x="2743200" y="3931920"/>
            <a:ext cx="1645920" cy="32004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OpenCV · NumPy</a:t>
            </a:r>
            <a:endParaRPr lang="en-US" sz="1100" dirty="0"/>
          </a:p>
        </p:txBody>
      </p:sp>
      <p:sp>
        <p:nvSpPr>
          <p:cNvPr id="34" name="Shape 32"/>
          <p:cNvSpPr/>
          <p:nvPr/>
        </p:nvSpPr>
        <p:spPr>
          <a:xfrm>
            <a:off x="4754880" y="3566160"/>
            <a:ext cx="1920240" cy="82296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35" name="Text 33"/>
          <p:cNvSpPr/>
          <p:nvPr/>
        </p:nvSpPr>
        <p:spPr>
          <a:xfrm>
            <a:off x="4892040" y="3611880"/>
            <a:ext cx="1645920" cy="320040"/>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AI/DL</a:t>
            </a:r>
            <a:endParaRPr lang="en-US" sz="1100" dirty="0"/>
          </a:p>
        </p:txBody>
      </p:sp>
      <p:sp>
        <p:nvSpPr>
          <p:cNvPr id="36" name="Text 34"/>
          <p:cNvSpPr/>
          <p:nvPr/>
        </p:nvSpPr>
        <p:spPr>
          <a:xfrm>
            <a:off x="4892040" y="3931920"/>
            <a:ext cx="1645920" cy="32004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PyTorch · ONNX · OpenVINO</a:t>
            </a:r>
            <a:endParaRPr lang="en-US" sz="1100" dirty="0"/>
          </a:p>
        </p:txBody>
      </p:sp>
      <p:sp>
        <p:nvSpPr>
          <p:cNvPr id="37" name="Shape 35"/>
          <p:cNvSpPr/>
          <p:nvPr/>
        </p:nvSpPr>
        <p:spPr>
          <a:xfrm>
            <a:off x="6903720" y="3566160"/>
            <a:ext cx="1920240" cy="82296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38" name="Text 36"/>
          <p:cNvSpPr/>
          <p:nvPr/>
        </p:nvSpPr>
        <p:spPr>
          <a:xfrm>
            <a:off x="7040880" y="3611880"/>
            <a:ext cx="1645920" cy="320040"/>
          </a:xfrm>
          <a:prstGeom prst="rect">
            <a:avLst/>
          </a:prstGeom>
          <a:noFill/>
          <a:ln/>
        </p:spPr>
        <p:txBody>
          <a:bodyPr wrap="square" lIns="0" tIns="0" rIns="0" bIns="0" rtlCol="0" anchor="ctr"/>
          <a:lstStyle/>
          <a:p>
            <a:pPr indent="0" marL="0">
              <a:buNone/>
            </a:pPr>
            <a:r>
              <a:rPr lang="en-US" sz="1100" b="1" dirty="0">
                <a:solidFill>
                  <a:srgbClr val="00C9A7"/>
                </a:solidFill>
                <a:latin typeface="Calibri" pitchFamily="34" charset="0"/>
                <a:ea typeface="Calibri" pitchFamily="34" charset="-122"/>
                <a:cs typeface="Calibri" pitchFamily="34" charset="-120"/>
              </a:rPr>
              <a:t>Camera</a:t>
            </a:r>
            <a:endParaRPr lang="en-US" sz="1100" dirty="0"/>
          </a:p>
        </p:txBody>
      </p:sp>
      <p:sp>
        <p:nvSpPr>
          <p:cNvPr id="39" name="Text 37"/>
          <p:cNvSpPr/>
          <p:nvPr/>
        </p:nvSpPr>
        <p:spPr>
          <a:xfrm>
            <a:off x="7040880" y="3931920"/>
            <a:ext cx="1645920" cy="32004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Basler Pylon SDK</a:t>
            </a:r>
            <a:endParaRPr lang="en-US" sz="1100" dirty="0"/>
          </a:p>
        </p:txBody>
      </p:sp>
      <p:sp>
        <p:nvSpPr>
          <p:cNvPr id="40" name="Text 38"/>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8899AA"/>
                </a:solidFill>
              </a:rPr>
              <a:t>3 / 11</a:t>
            </a:r>
            <a:endParaRPr lang="en-US" sz="900" dirty="0"/>
          </a:p>
        </p:txBody>
      </p:sp>
      <p:sp>
        <p:nvSpPr>
          <p:cNvPr id="41" name="Text 39"/>
          <p:cNvSpPr/>
          <p:nvPr/>
        </p:nvSpPr>
        <p:spPr>
          <a:xfrm>
            <a:off x="457200" y="4754880"/>
            <a:ext cx="1828800" cy="274320"/>
          </a:xfrm>
          <a:prstGeom prst="rect">
            <a:avLst/>
          </a:prstGeom>
          <a:noFill/>
          <a:ln/>
        </p:spPr>
        <p:txBody>
          <a:bodyPr wrap="square" rtlCol="0" anchor="ctr"/>
          <a:lstStyle/>
          <a:p>
            <a:pPr algn="l" indent="0" marL="0">
              <a:buNone/>
            </a:pPr>
            <a:r>
              <a:rPr lang="en-US" sz="900" dirty="0">
                <a:solidFill>
                  <a:srgbClr val="8899AA"/>
                </a:solidFill>
              </a:rPr>
              <a:t>NOVAnix-DVI</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E3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메인 화면 — User 모드</a:t>
            </a:r>
            <a:endParaRPr lang="en-US" sz="2800" dirty="0"/>
          </a:p>
        </p:txBody>
      </p:sp>
      <p:sp>
        <p:nvSpPr>
          <p:cNvPr id="3" name="Shape 1"/>
          <p:cNvSpPr/>
          <p:nvPr/>
        </p:nvSpPr>
        <p:spPr>
          <a:xfrm>
            <a:off x="365760" y="1051560"/>
            <a:ext cx="2377440" cy="3383280"/>
          </a:xfrm>
          <a:prstGeom prst="rect">
            <a:avLst/>
          </a:prstGeom>
          <a:solidFill>
            <a:srgbClr val="1A2535"/>
          </a:solidFill>
          <a:ln/>
          <a:effectLst>
            <a:outerShdw sx="100000" sy="100000" kx="0" ky="0" algn="bl" rotWithShape="0" blurRad="76200" dist="25400" dir="8100000">
              <a:srgbClr val="000000">
                <a:alpha val="20000"/>
              </a:srgbClr>
            </a:outerShdw>
          </a:effectLst>
        </p:spPr>
      </p:sp>
      <p:sp>
        <p:nvSpPr>
          <p:cNvPr id="4" name="Text 2"/>
          <p:cNvSpPr/>
          <p:nvPr/>
        </p:nvSpPr>
        <p:spPr>
          <a:xfrm>
            <a:off x="457200" y="1143000"/>
            <a:ext cx="2194560" cy="320040"/>
          </a:xfrm>
          <a:prstGeom prst="rect">
            <a:avLst/>
          </a:prstGeom>
          <a:noFill/>
          <a:ln/>
        </p:spPr>
        <p:txBody>
          <a:bodyPr wrap="square" lIns="0" tIns="0" rIns="0" bIns="0" rtlCol="0" anchor="ctr"/>
          <a:lstStyle/>
          <a:p>
            <a:pPr indent="0" marL="0">
              <a:buNone/>
            </a:pPr>
            <a:r>
              <a:rPr lang="en-US" sz="1100" b="1" dirty="0">
                <a:solidFill>
                  <a:srgbClr val="00B4D8"/>
                </a:solidFill>
                <a:latin typeface="Calibri" pitchFamily="34" charset="0"/>
                <a:ea typeface="Calibri" pitchFamily="34" charset="-122"/>
                <a:cs typeface="Calibri" pitchFamily="34" charset="-120"/>
              </a:rPr>
              <a:t>Debug Image</a:t>
            </a:r>
            <a:endParaRPr lang="en-US" sz="1100" dirty="0"/>
          </a:p>
        </p:txBody>
      </p:sp>
      <p:sp>
        <p:nvSpPr>
          <p:cNvPr id="5" name="Text 3"/>
          <p:cNvSpPr/>
          <p:nvPr/>
        </p:nvSpPr>
        <p:spPr>
          <a:xfrm>
            <a:off x="457200" y="1417320"/>
            <a:ext cx="2194560" cy="228600"/>
          </a:xfrm>
          <a:prstGeom prst="rect">
            <a:avLst/>
          </a:prstGeom>
          <a:noFill/>
          <a:ln/>
        </p:spPr>
        <p:txBody>
          <a:bodyPr wrap="square" lIns="0" tIns="0" rIns="0" bIns="0" rtlCol="0" anchor="ctr"/>
          <a:lstStyle/>
          <a:p>
            <a:pPr indent="0" marL="0">
              <a:buNone/>
            </a:pPr>
            <a:r>
              <a:rPr lang="en-US" sz="800" dirty="0">
                <a:solidFill>
                  <a:srgbClr val="8899AA"/>
                </a:solidFill>
                <a:latin typeface="Calibri" pitchFamily="34" charset="0"/>
                <a:ea typeface="Calibri" pitchFamily="34" charset="-122"/>
                <a:cs typeface="Calibri" pitchFamily="34" charset="-120"/>
              </a:rPr>
              <a:t>일반 검출  버블 검출  ECC 검출</a:t>
            </a:r>
            <a:endParaRPr lang="en-US" sz="800" dirty="0"/>
          </a:p>
        </p:txBody>
      </p:sp>
      <p:sp>
        <p:nvSpPr>
          <p:cNvPr id="6" name="Shape 4"/>
          <p:cNvSpPr/>
          <p:nvPr/>
        </p:nvSpPr>
        <p:spPr>
          <a:xfrm>
            <a:off x="502920" y="1737360"/>
            <a:ext cx="1005840" cy="868680"/>
          </a:xfrm>
          <a:prstGeom prst="rect">
            <a:avLst/>
          </a:prstGeom>
          <a:solidFill>
            <a:srgbClr val="2A3A4A"/>
          </a:solidFill>
          <a:ln/>
        </p:spPr>
      </p:sp>
      <p:sp>
        <p:nvSpPr>
          <p:cNvPr id="7" name="Text 5"/>
          <p:cNvSpPr/>
          <p:nvPr/>
        </p:nvSpPr>
        <p:spPr>
          <a:xfrm>
            <a:off x="502920" y="2377440"/>
            <a:ext cx="1005840" cy="228600"/>
          </a:xfrm>
          <a:prstGeom prst="rect">
            <a:avLst/>
          </a:prstGeom>
          <a:noFill/>
          <a:ln/>
        </p:spPr>
        <p:txBody>
          <a:bodyPr wrap="square" lIns="0" tIns="0" rIns="0" bIns="0"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Gray</a:t>
            </a:r>
            <a:endParaRPr lang="en-US" sz="700" dirty="0"/>
          </a:p>
        </p:txBody>
      </p:sp>
      <p:sp>
        <p:nvSpPr>
          <p:cNvPr id="8" name="Shape 6"/>
          <p:cNvSpPr/>
          <p:nvPr/>
        </p:nvSpPr>
        <p:spPr>
          <a:xfrm>
            <a:off x="1600200" y="1737360"/>
            <a:ext cx="1005840" cy="868680"/>
          </a:xfrm>
          <a:prstGeom prst="rect">
            <a:avLst/>
          </a:prstGeom>
          <a:solidFill>
            <a:srgbClr val="2A3A4A"/>
          </a:solidFill>
          <a:ln/>
        </p:spPr>
      </p:sp>
      <p:sp>
        <p:nvSpPr>
          <p:cNvPr id="9" name="Text 7"/>
          <p:cNvSpPr/>
          <p:nvPr/>
        </p:nvSpPr>
        <p:spPr>
          <a:xfrm>
            <a:off x="1600200" y="2377440"/>
            <a:ext cx="1005840" cy="228600"/>
          </a:xfrm>
          <a:prstGeom prst="rect">
            <a:avLst/>
          </a:prstGeom>
          <a:noFill/>
          <a:ln/>
        </p:spPr>
        <p:txBody>
          <a:bodyPr wrap="square" lIns="0" tIns="0" rIns="0" bIns="0"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Blurred</a:t>
            </a:r>
            <a:endParaRPr lang="en-US" sz="700" dirty="0"/>
          </a:p>
        </p:txBody>
      </p:sp>
      <p:sp>
        <p:nvSpPr>
          <p:cNvPr id="10" name="Shape 8"/>
          <p:cNvSpPr/>
          <p:nvPr/>
        </p:nvSpPr>
        <p:spPr>
          <a:xfrm>
            <a:off x="502920" y="2834640"/>
            <a:ext cx="1005840" cy="868680"/>
          </a:xfrm>
          <a:prstGeom prst="rect">
            <a:avLst/>
          </a:prstGeom>
          <a:solidFill>
            <a:srgbClr val="2A3A4A"/>
          </a:solidFill>
          <a:ln/>
        </p:spPr>
      </p:sp>
      <p:sp>
        <p:nvSpPr>
          <p:cNvPr id="11" name="Text 9"/>
          <p:cNvSpPr/>
          <p:nvPr/>
        </p:nvSpPr>
        <p:spPr>
          <a:xfrm>
            <a:off x="502920" y="3474720"/>
            <a:ext cx="1005840" cy="228600"/>
          </a:xfrm>
          <a:prstGeom prst="rect">
            <a:avLst/>
          </a:prstGeom>
          <a:noFill/>
          <a:ln/>
        </p:spPr>
        <p:txBody>
          <a:bodyPr wrap="square" lIns="0" tIns="0" rIns="0" bIns="0"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Threshold</a:t>
            </a:r>
            <a:endParaRPr lang="en-US" sz="700" dirty="0"/>
          </a:p>
        </p:txBody>
      </p:sp>
      <p:sp>
        <p:nvSpPr>
          <p:cNvPr id="12" name="Shape 10"/>
          <p:cNvSpPr/>
          <p:nvPr/>
        </p:nvSpPr>
        <p:spPr>
          <a:xfrm>
            <a:off x="1600200" y="2834640"/>
            <a:ext cx="1005840" cy="868680"/>
          </a:xfrm>
          <a:prstGeom prst="rect">
            <a:avLst/>
          </a:prstGeom>
          <a:solidFill>
            <a:srgbClr val="2A3A4A"/>
          </a:solidFill>
          <a:ln/>
        </p:spPr>
      </p:sp>
      <p:sp>
        <p:nvSpPr>
          <p:cNvPr id="13" name="Text 11"/>
          <p:cNvSpPr/>
          <p:nvPr/>
        </p:nvSpPr>
        <p:spPr>
          <a:xfrm>
            <a:off x="1600200" y="3474720"/>
            <a:ext cx="1005840" cy="228600"/>
          </a:xfrm>
          <a:prstGeom prst="rect">
            <a:avLst/>
          </a:prstGeom>
          <a:noFill/>
          <a:ln/>
        </p:spPr>
        <p:txBody>
          <a:bodyPr wrap="square" lIns="0" tIns="0" rIns="0" bIns="0" rtlCol="0" anchor="ctr"/>
          <a:lstStyle/>
          <a:p>
            <a:pPr algn="ctr" indent="0" marL="0">
              <a:buNone/>
            </a:pPr>
            <a:r>
              <a:rPr lang="en-US" sz="700" dirty="0">
                <a:solidFill>
                  <a:srgbClr val="8899AA"/>
                </a:solidFill>
                <a:latin typeface="Calibri" pitchFamily="34" charset="0"/>
                <a:ea typeface="Calibri" pitchFamily="34" charset="-122"/>
                <a:cs typeface="Calibri" pitchFamily="34" charset="-120"/>
              </a:rPr>
              <a:t>Morphology</a:t>
            </a:r>
            <a:endParaRPr lang="en-US" sz="700" dirty="0"/>
          </a:p>
        </p:txBody>
      </p:sp>
      <p:sp>
        <p:nvSpPr>
          <p:cNvPr id="14" name="Text 12"/>
          <p:cNvSpPr/>
          <p:nvPr/>
        </p:nvSpPr>
        <p:spPr>
          <a:xfrm>
            <a:off x="457200" y="3794760"/>
            <a:ext cx="2194560" cy="228600"/>
          </a:xfrm>
          <a:prstGeom prst="rect">
            <a:avLst/>
          </a:prstGeom>
          <a:noFill/>
          <a:ln/>
        </p:spPr>
        <p:txBody>
          <a:bodyPr wrap="square" lIns="0" tIns="0" rIns="0" bIns="0" rtlCol="0" anchor="ctr"/>
          <a:lstStyle/>
          <a:p>
            <a:pPr indent="0" marL="0">
              <a:buNone/>
            </a:pPr>
            <a:r>
              <a:rPr lang="en-US" sz="900" dirty="0">
                <a:solidFill>
                  <a:srgbClr val="00B4D8"/>
                </a:solidFill>
                <a:latin typeface="Calibri" pitchFamily="34" charset="0"/>
                <a:ea typeface="Calibri" pitchFamily="34" charset="-122"/>
                <a:cs typeface="Calibri" pitchFamily="34" charset="-120"/>
              </a:rPr>
              <a:t>Defect View</a:t>
            </a:r>
            <a:endParaRPr lang="en-US" sz="900" dirty="0"/>
          </a:p>
        </p:txBody>
      </p:sp>
      <p:sp>
        <p:nvSpPr>
          <p:cNvPr id="15" name="Shape 13"/>
          <p:cNvSpPr/>
          <p:nvPr/>
        </p:nvSpPr>
        <p:spPr>
          <a:xfrm>
            <a:off x="502920" y="4023360"/>
            <a:ext cx="1005840" cy="320040"/>
          </a:xfrm>
          <a:prstGeom prst="rect">
            <a:avLst/>
          </a:prstGeom>
          <a:solidFill>
            <a:srgbClr val="2A3A4A"/>
          </a:solidFill>
          <a:ln/>
        </p:spPr>
      </p:sp>
      <p:sp>
        <p:nvSpPr>
          <p:cNvPr id="16" name="Shape 14"/>
          <p:cNvSpPr/>
          <p:nvPr/>
        </p:nvSpPr>
        <p:spPr>
          <a:xfrm>
            <a:off x="2926080" y="1051560"/>
            <a:ext cx="3474720" cy="3383280"/>
          </a:xfrm>
          <a:prstGeom prst="rect">
            <a:avLst/>
          </a:prstGeom>
          <a:solidFill>
            <a:srgbClr val="1A2535"/>
          </a:solidFill>
          <a:ln/>
          <a:effectLst>
            <a:outerShdw sx="100000" sy="100000" kx="0" ky="0" algn="bl" rotWithShape="0" blurRad="76200" dist="25400" dir="8100000">
              <a:srgbClr val="000000">
                <a:alpha val="20000"/>
              </a:srgbClr>
            </a:outerShdw>
          </a:effectLst>
        </p:spPr>
      </p:sp>
      <p:sp>
        <p:nvSpPr>
          <p:cNvPr id="17" name="Text 15"/>
          <p:cNvSpPr/>
          <p:nvPr/>
        </p:nvSpPr>
        <p:spPr>
          <a:xfrm>
            <a:off x="3108960" y="2377440"/>
            <a:ext cx="3108960" cy="457200"/>
          </a:xfrm>
          <a:prstGeom prst="rect">
            <a:avLst/>
          </a:prstGeom>
          <a:noFill/>
          <a:ln/>
        </p:spPr>
        <p:txBody>
          <a:bodyPr wrap="square" lIns="0" tIns="0" rIns="0" bIns="0" rtlCol="0" anchor="ctr"/>
          <a:lstStyle/>
          <a:p>
            <a:pPr algn="ctr" indent="0" marL="0">
              <a:buNone/>
            </a:pPr>
            <a:r>
              <a:rPr lang="en-US" sz="1400" dirty="0">
                <a:solidFill>
                  <a:srgbClr val="8899AA"/>
                </a:solidFill>
                <a:latin typeface="Calibri" pitchFamily="34" charset="0"/>
                <a:ea typeface="Calibri" pitchFamily="34" charset="-122"/>
                <a:cs typeface="Calibri" pitchFamily="34" charset="-120"/>
              </a:rPr>
              <a:t>메인 뷰 (바이알 이미지)</a:t>
            </a:r>
            <a:endParaRPr lang="en-US" sz="1400" dirty="0"/>
          </a:p>
        </p:txBody>
      </p:sp>
      <p:sp>
        <p:nvSpPr>
          <p:cNvPr id="18" name="Shape 16"/>
          <p:cNvSpPr/>
          <p:nvPr/>
        </p:nvSpPr>
        <p:spPr>
          <a:xfrm>
            <a:off x="6583680" y="1051560"/>
            <a:ext cx="2194560" cy="3383280"/>
          </a:xfrm>
          <a:prstGeom prst="rect">
            <a:avLst/>
          </a:prstGeom>
          <a:solidFill>
            <a:srgbClr val="1A2535"/>
          </a:solidFill>
          <a:ln/>
          <a:effectLst>
            <a:outerShdw sx="100000" sy="100000" kx="0" ky="0" algn="bl" rotWithShape="0" blurRad="76200" dist="25400" dir="8100000">
              <a:srgbClr val="000000">
                <a:alpha val="20000"/>
              </a:srgbClr>
            </a:outerShdw>
          </a:effectLst>
        </p:spPr>
      </p:sp>
      <p:sp>
        <p:nvSpPr>
          <p:cNvPr id="19" name="Text 17"/>
          <p:cNvSpPr/>
          <p:nvPr/>
        </p:nvSpPr>
        <p:spPr>
          <a:xfrm>
            <a:off x="6720840" y="1143000"/>
            <a:ext cx="1920240" cy="228600"/>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Basler Cam Control</a:t>
            </a:r>
            <a:endParaRPr lang="en-US" sz="900" dirty="0"/>
          </a:p>
        </p:txBody>
      </p:sp>
      <p:sp>
        <p:nvSpPr>
          <p:cNvPr id="20" name="Text 18"/>
          <p:cNvSpPr/>
          <p:nvPr/>
        </p:nvSpPr>
        <p:spPr>
          <a:xfrm>
            <a:off x="6720840" y="1371600"/>
            <a:ext cx="1920240" cy="548640"/>
          </a:xfrm>
          <a:prstGeom prst="rect">
            <a:avLst/>
          </a:prstGeom>
          <a:noFill/>
          <a:ln/>
        </p:spPr>
        <p:txBody>
          <a:bodyPr wrap="square" lIns="0" tIns="0" rIns="0" bIns="0" rtlCol="0" anchor="ctr"/>
          <a:lstStyle/>
          <a:p>
            <a:pPr indent="0" marL="0">
              <a:buNone/>
            </a:pPr>
            <a:r>
              <a:rPr lang="en-US" sz="800" dirty="0">
                <a:solidFill>
                  <a:srgbClr val="E0E7EF"/>
                </a:solidFill>
                <a:latin typeface="Calibri" pitchFamily="34" charset="0"/>
                <a:ea typeface="Calibri" pitchFamily="34" charset="-122"/>
                <a:cs typeface="Calibri" pitchFamily="34" charset="-120"/>
              </a:rPr>
              <a:t>카메라 연결 · GrabSave</a:t>
            </a:r>
            <a:endParaRPr lang="en-US" sz="800" dirty="0"/>
          </a:p>
          <a:p>
            <a:pPr indent="0" marL="0">
              <a:buNone/>
            </a:pPr>
            <a:r>
              <a:rPr lang="en-US" sz="800" dirty="0">
                <a:solidFill>
                  <a:srgbClr val="E0E7EF"/>
                </a:solidFill>
                <a:latin typeface="Calibri" pitchFamily="34" charset="0"/>
                <a:ea typeface="Calibri" pitchFamily="34" charset="-122"/>
                <a:cs typeface="Calibri" pitchFamily="34" charset="-120"/>
              </a:rPr>
              <a:t>Load Image / Video</a:t>
            </a:r>
            <a:endParaRPr lang="en-US" sz="800" dirty="0"/>
          </a:p>
        </p:txBody>
      </p:sp>
      <p:sp>
        <p:nvSpPr>
          <p:cNvPr id="21" name="Text 19"/>
          <p:cNvSpPr/>
          <p:nvPr/>
        </p:nvSpPr>
        <p:spPr>
          <a:xfrm>
            <a:off x="6720840" y="1965960"/>
            <a:ext cx="1920240" cy="228600"/>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Inspection</a:t>
            </a:r>
            <a:endParaRPr lang="en-US" sz="900" dirty="0"/>
          </a:p>
        </p:txBody>
      </p:sp>
      <p:sp>
        <p:nvSpPr>
          <p:cNvPr id="22" name="Text 20"/>
          <p:cNvSpPr/>
          <p:nvPr/>
        </p:nvSpPr>
        <p:spPr>
          <a:xfrm>
            <a:off x="6720840" y="2194560"/>
            <a:ext cx="1920240" cy="548640"/>
          </a:xfrm>
          <a:prstGeom prst="rect">
            <a:avLst/>
          </a:prstGeom>
          <a:noFill/>
          <a:ln/>
        </p:spPr>
        <p:txBody>
          <a:bodyPr wrap="square" lIns="0" tIns="0" rIns="0" bIns="0" rtlCol="0" anchor="ctr"/>
          <a:lstStyle/>
          <a:p>
            <a:pPr indent="0" marL="0">
              <a:buNone/>
            </a:pPr>
            <a:r>
              <a:rPr lang="en-US" sz="800" dirty="0">
                <a:solidFill>
                  <a:srgbClr val="E0E7EF"/>
                </a:solidFill>
                <a:latin typeface="Calibri" pitchFamily="34" charset="0"/>
                <a:ea typeface="Calibri" pitchFamily="34" charset="-122"/>
                <a:cs typeface="Calibri" pitchFamily="34" charset="-120"/>
              </a:rPr>
              <a:t>Start Inspection</a:t>
            </a:r>
            <a:endParaRPr lang="en-US" sz="800" dirty="0"/>
          </a:p>
        </p:txBody>
      </p:sp>
      <p:sp>
        <p:nvSpPr>
          <p:cNvPr id="23" name="Text 21"/>
          <p:cNvSpPr/>
          <p:nvPr/>
        </p:nvSpPr>
        <p:spPr>
          <a:xfrm>
            <a:off x="6720840" y="2514600"/>
            <a:ext cx="1920240" cy="228600"/>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Settings</a:t>
            </a:r>
            <a:endParaRPr lang="en-US" sz="900" dirty="0"/>
          </a:p>
        </p:txBody>
      </p:sp>
      <p:sp>
        <p:nvSpPr>
          <p:cNvPr id="24" name="Text 22"/>
          <p:cNvSpPr/>
          <p:nvPr/>
        </p:nvSpPr>
        <p:spPr>
          <a:xfrm>
            <a:off x="6720840" y="2743200"/>
            <a:ext cx="1920240" cy="548640"/>
          </a:xfrm>
          <a:prstGeom prst="rect">
            <a:avLst/>
          </a:prstGeom>
          <a:noFill/>
          <a:ln/>
        </p:spPr>
        <p:txBody>
          <a:bodyPr wrap="square" lIns="0" tIns="0" rIns="0" bIns="0" rtlCol="0" anchor="ctr"/>
          <a:lstStyle/>
          <a:p>
            <a:pPr indent="0" marL="0">
              <a:buNone/>
            </a:pPr>
            <a:r>
              <a:rPr lang="en-US" sz="800" dirty="0">
                <a:solidFill>
                  <a:srgbClr val="E0E7EF"/>
                </a:solidFill>
                <a:latin typeface="Calibri" pitchFamily="34" charset="0"/>
                <a:ea typeface="Calibri" pitchFamily="34" charset="-122"/>
                <a:cs typeface="Calibri" pitchFamily="34" charset="-120"/>
              </a:rPr>
              <a:t>Threshold · Min Area</a:t>
            </a:r>
            <a:endParaRPr lang="en-US" sz="800" dirty="0"/>
          </a:p>
          <a:p>
            <a:pPr indent="0" marL="0">
              <a:buNone/>
            </a:pPr>
            <a:r>
              <a:rPr lang="en-US" sz="800" dirty="0">
                <a:solidFill>
                  <a:srgbClr val="E0E7EF"/>
                </a:solidFill>
                <a:latin typeface="Calibri" pitchFamily="34" charset="0"/>
                <a:ea typeface="Calibri" pitchFamily="34" charset="-122"/>
                <a:cs typeface="Calibri" pitchFamily="34" charset="-120"/>
              </a:rPr>
              <a:t>Adaptive Threshold</a:t>
            </a:r>
            <a:endParaRPr lang="en-US" sz="800" dirty="0"/>
          </a:p>
          <a:p>
            <a:pPr indent="0" marL="0">
              <a:buNone/>
            </a:pPr>
            <a:r>
              <a:rPr lang="en-US" sz="800" dirty="0">
                <a:solidFill>
                  <a:srgbClr val="E0E7EF"/>
                </a:solidFill>
                <a:latin typeface="Calibri" pitchFamily="34" charset="0"/>
                <a:ea typeface="Calibri" pitchFamily="34" charset="-122"/>
                <a:cs typeface="Calibri" pitchFamily="34" charset="-120"/>
              </a:rPr>
              <a:t>ROI 설정 · DL 분류</a:t>
            </a:r>
            <a:endParaRPr lang="en-US" sz="800" dirty="0"/>
          </a:p>
        </p:txBody>
      </p:sp>
      <p:sp>
        <p:nvSpPr>
          <p:cNvPr id="25" name="Text 23"/>
          <p:cNvSpPr/>
          <p:nvPr/>
        </p:nvSpPr>
        <p:spPr>
          <a:xfrm>
            <a:off x="6720840" y="3429000"/>
            <a:ext cx="1920240" cy="228600"/>
          </a:xfrm>
          <a:prstGeom prst="rect">
            <a:avLst/>
          </a:prstGeom>
          <a:noFill/>
          <a:ln/>
        </p:spPr>
        <p:txBody>
          <a:bodyPr wrap="square" lIns="0" tIns="0" rIns="0" bIns="0" rtlCol="0" anchor="ctr"/>
          <a:lstStyle/>
          <a:p>
            <a:pPr indent="0" marL="0">
              <a:buNone/>
            </a:pPr>
            <a:r>
              <a:rPr lang="en-US" sz="900" b="1" dirty="0">
                <a:solidFill>
                  <a:srgbClr val="00B4D8"/>
                </a:solidFill>
                <a:latin typeface="Calibri" pitchFamily="34" charset="0"/>
                <a:ea typeface="Calibri" pitchFamily="34" charset="-122"/>
                <a:cs typeface="Calibri" pitchFamily="34" charset="-120"/>
              </a:rPr>
              <a:t>Results</a:t>
            </a:r>
            <a:endParaRPr lang="en-US" sz="900" dirty="0"/>
          </a:p>
        </p:txBody>
      </p:sp>
      <p:sp>
        <p:nvSpPr>
          <p:cNvPr id="26" name="Text 24"/>
          <p:cNvSpPr/>
          <p:nvPr/>
        </p:nvSpPr>
        <p:spPr>
          <a:xfrm>
            <a:off x="6720840" y="3657600"/>
            <a:ext cx="1920240" cy="548640"/>
          </a:xfrm>
          <a:prstGeom prst="rect">
            <a:avLst/>
          </a:prstGeom>
          <a:noFill/>
          <a:ln/>
        </p:spPr>
        <p:txBody>
          <a:bodyPr wrap="square" lIns="0" tIns="0" rIns="0" bIns="0" rtlCol="0" anchor="ctr"/>
          <a:lstStyle/>
          <a:p>
            <a:pPr indent="0" marL="0">
              <a:buNone/>
            </a:pPr>
            <a:r>
              <a:rPr lang="en-US" sz="800" dirty="0">
                <a:solidFill>
                  <a:srgbClr val="E0E7EF"/>
                </a:solidFill>
                <a:latin typeface="Calibri" pitchFamily="34" charset="0"/>
                <a:ea typeface="Calibri" pitchFamily="34" charset="-122"/>
                <a:cs typeface="Calibri" pitchFamily="34" charset="-120"/>
              </a:rPr>
              <a:t>ALL · Parti · Noise · Bubt</a:t>
            </a:r>
            <a:endParaRPr lang="en-US" sz="800" dirty="0"/>
          </a:p>
        </p:txBody>
      </p:sp>
      <p:sp>
        <p:nvSpPr>
          <p:cNvPr id="27" name="Shape 25"/>
          <p:cNvSpPr/>
          <p:nvPr/>
        </p:nvSpPr>
        <p:spPr>
          <a:xfrm>
            <a:off x="365760" y="4526280"/>
            <a:ext cx="8412480" cy="27432"/>
          </a:xfrm>
          <a:prstGeom prst="rect">
            <a:avLst/>
          </a:prstGeom>
          <a:solidFill>
            <a:srgbClr val="00B4D8">
              <a:alpha val="30000"/>
            </a:srgbClr>
          </a:solidFill>
          <a:ln/>
        </p:spPr>
      </p:sp>
      <p:sp>
        <p:nvSpPr>
          <p:cNvPr id="28" name="Text 26"/>
          <p:cNvSpPr/>
          <p:nvPr/>
        </p:nvSpPr>
        <p:spPr>
          <a:xfrm>
            <a:off x="365760" y="4572000"/>
            <a:ext cx="2194560" cy="228600"/>
          </a:xfrm>
          <a:prstGeom prst="rect">
            <a:avLst/>
          </a:prstGeom>
          <a:noFill/>
          <a:ln/>
        </p:spPr>
        <p:txBody>
          <a:bodyPr wrap="square" lIns="0" tIns="0" rIns="0" bIns="0" rtlCol="0" anchor="ctr"/>
          <a:lstStyle/>
          <a:p>
            <a:pPr algn="ctr" indent="0" marL="0">
              <a:buNone/>
            </a:pPr>
            <a:r>
              <a:rPr lang="en-US" sz="900" dirty="0">
                <a:solidFill>
                  <a:srgbClr val="FFB347"/>
                </a:solidFill>
                <a:latin typeface="Calibri" pitchFamily="34" charset="0"/>
                <a:ea typeface="Calibri" pitchFamily="34" charset="-122"/>
                <a:cs typeface="Calibri" pitchFamily="34" charset="-120"/>
              </a:rPr>
              <a:t>← 디버그 패널</a:t>
            </a:r>
            <a:endParaRPr lang="en-US" sz="900" dirty="0"/>
          </a:p>
        </p:txBody>
      </p:sp>
      <p:sp>
        <p:nvSpPr>
          <p:cNvPr id="29" name="Text 27"/>
          <p:cNvSpPr/>
          <p:nvPr/>
        </p:nvSpPr>
        <p:spPr>
          <a:xfrm>
            <a:off x="3291840" y="4572000"/>
            <a:ext cx="2194560" cy="228600"/>
          </a:xfrm>
          <a:prstGeom prst="rect">
            <a:avLst/>
          </a:prstGeom>
          <a:noFill/>
          <a:ln/>
        </p:spPr>
        <p:txBody>
          <a:bodyPr wrap="square" lIns="0" tIns="0" rIns="0" bIns="0" rtlCol="0" anchor="ctr"/>
          <a:lstStyle/>
          <a:p>
            <a:pPr algn="ctr" indent="0" marL="0">
              <a:buNone/>
            </a:pPr>
            <a:r>
              <a:rPr lang="en-US" sz="900" dirty="0">
                <a:solidFill>
                  <a:srgbClr val="00C9A7"/>
                </a:solidFill>
                <a:latin typeface="Calibri" pitchFamily="34" charset="0"/>
                <a:ea typeface="Calibri" pitchFamily="34" charset="-122"/>
                <a:cs typeface="Calibri" pitchFamily="34" charset="-120"/>
              </a:rPr>
              <a:t>← 메인 뷰 (촬영 영상) →</a:t>
            </a:r>
            <a:endParaRPr lang="en-US" sz="900" dirty="0"/>
          </a:p>
        </p:txBody>
      </p:sp>
      <p:sp>
        <p:nvSpPr>
          <p:cNvPr id="30" name="Text 28"/>
          <p:cNvSpPr/>
          <p:nvPr/>
        </p:nvSpPr>
        <p:spPr>
          <a:xfrm>
            <a:off x="6766560" y="4572000"/>
            <a:ext cx="2194560" cy="228600"/>
          </a:xfrm>
          <a:prstGeom prst="rect">
            <a:avLst/>
          </a:prstGeom>
          <a:noFill/>
          <a:ln/>
        </p:spPr>
        <p:txBody>
          <a:bodyPr wrap="square" lIns="0" tIns="0" rIns="0" bIns="0" rtlCol="0" anchor="ctr"/>
          <a:lstStyle/>
          <a:p>
            <a:pPr algn="ctr" indent="0" marL="0">
              <a:buNone/>
            </a:pPr>
            <a:r>
              <a:rPr lang="en-US" sz="900" dirty="0">
                <a:solidFill>
                  <a:srgbClr val="00B4D8"/>
                </a:solidFill>
                <a:latin typeface="Calibri" pitchFamily="34" charset="0"/>
                <a:ea typeface="Calibri" pitchFamily="34" charset="-122"/>
                <a:cs typeface="Calibri" pitchFamily="34" charset="-120"/>
              </a:rPr>
              <a:t>제어 패널 →</a:t>
            </a:r>
            <a:endParaRPr lang="en-US" sz="900" dirty="0"/>
          </a:p>
        </p:txBody>
      </p:sp>
      <p:sp>
        <p:nvSpPr>
          <p:cNvPr id="31" name="Text 2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8899AA"/>
                </a:solidFill>
              </a:rPr>
              <a:t>4 / 11</a:t>
            </a:r>
            <a:endParaRPr lang="en-US" sz="900" dirty="0"/>
          </a:p>
        </p:txBody>
      </p:sp>
      <p:sp>
        <p:nvSpPr>
          <p:cNvPr id="32" name="Text 30"/>
          <p:cNvSpPr/>
          <p:nvPr/>
        </p:nvSpPr>
        <p:spPr>
          <a:xfrm>
            <a:off x="457200" y="4754880"/>
            <a:ext cx="1828800" cy="274320"/>
          </a:xfrm>
          <a:prstGeom prst="rect">
            <a:avLst/>
          </a:prstGeom>
          <a:noFill/>
          <a:ln/>
        </p:spPr>
        <p:txBody>
          <a:bodyPr wrap="square" rtlCol="0" anchor="ctr"/>
          <a:lstStyle/>
          <a:p>
            <a:pPr algn="l" indent="0" marL="0">
              <a:buNone/>
            </a:pPr>
            <a:r>
              <a:rPr lang="en-US" sz="900" dirty="0">
                <a:solidFill>
                  <a:srgbClr val="8899AA"/>
                </a:solidFill>
              </a:rPr>
              <a:t>NOVAnix-DVI</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E3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메인 화면 — 주요 기능</a:t>
            </a:r>
            <a:endParaRPr lang="en-US" sz="2800" dirty="0"/>
          </a:p>
        </p:txBody>
      </p:sp>
      <p:sp>
        <p:nvSpPr>
          <p:cNvPr id="3" name="Shape 1"/>
          <p:cNvSpPr/>
          <p:nvPr/>
        </p:nvSpPr>
        <p:spPr>
          <a:xfrm>
            <a:off x="457200" y="1097280"/>
            <a:ext cx="2560320" cy="155448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4" name="Shape 2"/>
          <p:cNvSpPr/>
          <p:nvPr/>
        </p:nvSpPr>
        <p:spPr>
          <a:xfrm>
            <a:off x="457200" y="1097280"/>
            <a:ext cx="64008" cy="1554480"/>
          </a:xfrm>
          <a:prstGeom prst="rect">
            <a:avLst/>
          </a:prstGeom>
          <a:solidFill>
            <a:srgbClr val="0077B6"/>
          </a:solidFill>
          <a:ln/>
        </p:spPr>
      </p:sp>
      <p:sp>
        <p:nvSpPr>
          <p:cNvPr id="5" name="Text 3"/>
          <p:cNvSpPr/>
          <p:nvPr/>
        </p:nvSpPr>
        <p:spPr>
          <a:xfrm>
            <a:off x="640080" y="1234440"/>
            <a:ext cx="365760" cy="365760"/>
          </a:xfrm>
          <a:prstGeom prst="rect">
            <a:avLst/>
          </a:prstGeom>
          <a:noFill/>
          <a:ln/>
        </p:spPr>
        <p:txBody>
          <a:bodyPr wrap="square" lIns="0" tIns="0" rIns="0" bIns="0" rtlCol="0" anchor="ctr"/>
          <a:lstStyle/>
          <a:p>
            <a:pPr indent="0" marL="0">
              <a:buNone/>
            </a:pPr>
            <a:r>
              <a:rPr lang="en-US" sz="1600" dirty="0">
                <a:solidFill>
                  <a:srgbClr val="0077B6"/>
                </a:solidFill>
                <a:latin typeface="Calibri" pitchFamily="34" charset="0"/>
                <a:ea typeface="Calibri" pitchFamily="34" charset="-122"/>
                <a:cs typeface="Calibri" pitchFamily="34" charset="-120"/>
              </a:rPr>
              <a:t>◉</a:t>
            </a:r>
            <a:endParaRPr lang="en-US" sz="1600" dirty="0"/>
          </a:p>
        </p:txBody>
      </p:sp>
      <p:sp>
        <p:nvSpPr>
          <p:cNvPr id="6" name="Text 4"/>
          <p:cNvSpPr/>
          <p:nvPr/>
        </p:nvSpPr>
        <p:spPr>
          <a:xfrm>
            <a:off x="1051560" y="1234440"/>
            <a:ext cx="1828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카메라 제어</a:t>
            </a:r>
            <a:endParaRPr lang="en-US" sz="1500" dirty="0"/>
          </a:p>
        </p:txBody>
      </p:sp>
      <p:sp>
        <p:nvSpPr>
          <p:cNvPr id="7" name="Text 5"/>
          <p:cNvSpPr/>
          <p:nvPr/>
        </p:nvSpPr>
        <p:spPr>
          <a:xfrm>
            <a:off x="685800" y="1645920"/>
            <a:ext cx="2148840" cy="86868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Basler 카메라 연결</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RealTime View 활성화</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Grab &amp; Save 기능</a:t>
            </a:r>
            <a:endParaRPr lang="en-US" sz="1100" dirty="0"/>
          </a:p>
        </p:txBody>
      </p:sp>
      <p:sp>
        <p:nvSpPr>
          <p:cNvPr id="8" name="Shape 6"/>
          <p:cNvSpPr/>
          <p:nvPr/>
        </p:nvSpPr>
        <p:spPr>
          <a:xfrm>
            <a:off x="3291840" y="1097280"/>
            <a:ext cx="2560320" cy="155448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9" name="Shape 7"/>
          <p:cNvSpPr/>
          <p:nvPr/>
        </p:nvSpPr>
        <p:spPr>
          <a:xfrm>
            <a:off x="3291840" y="1097280"/>
            <a:ext cx="64008" cy="1554480"/>
          </a:xfrm>
          <a:prstGeom prst="rect">
            <a:avLst/>
          </a:prstGeom>
          <a:solidFill>
            <a:srgbClr val="0D9488"/>
          </a:solidFill>
          <a:ln/>
        </p:spPr>
      </p:sp>
      <p:sp>
        <p:nvSpPr>
          <p:cNvPr id="10" name="Text 8"/>
          <p:cNvSpPr/>
          <p:nvPr/>
        </p:nvSpPr>
        <p:spPr>
          <a:xfrm>
            <a:off x="3474720" y="1234440"/>
            <a:ext cx="365760" cy="365760"/>
          </a:xfrm>
          <a:prstGeom prst="rect">
            <a:avLst/>
          </a:prstGeom>
          <a:noFill/>
          <a:ln/>
        </p:spPr>
        <p:txBody>
          <a:bodyPr wrap="square" lIns="0" tIns="0" rIns="0" bIns="0" rtlCol="0" anchor="ctr"/>
          <a:lstStyle/>
          <a:p>
            <a:pPr indent="0" marL="0">
              <a:buNone/>
            </a:pPr>
            <a:r>
              <a:rPr lang="en-US" sz="1600" dirty="0">
                <a:solidFill>
                  <a:srgbClr val="0D9488"/>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3886200" y="1234440"/>
            <a:ext cx="1828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검사 실행</a:t>
            </a:r>
            <a:endParaRPr lang="en-US" sz="1500" dirty="0"/>
          </a:p>
        </p:txBody>
      </p:sp>
      <p:sp>
        <p:nvSpPr>
          <p:cNvPr id="12" name="Text 10"/>
          <p:cNvSpPr/>
          <p:nvPr/>
        </p:nvSpPr>
        <p:spPr>
          <a:xfrm>
            <a:off x="3520440" y="1645920"/>
            <a:ext cx="2148840" cy="86868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Start Inspection 버튼</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이미지/비디오 로드 지원</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영상 저장 기능</a:t>
            </a:r>
            <a:endParaRPr lang="en-US" sz="1100" dirty="0"/>
          </a:p>
        </p:txBody>
      </p:sp>
      <p:sp>
        <p:nvSpPr>
          <p:cNvPr id="13" name="Shape 11"/>
          <p:cNvSpPr/>
          <p:nvPr/>
        </p:nvSpPr>
        <p:spPr>
          <a:xfrm>
            <a:off x="6126480" y="1097280"/>
            <a:ext cx="2560320" cy="155448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4" name="Shape 12"/>
          <p:cNvSpPr/>
          <p:nvPr/>
        </p:nvSpPr>
        <p:spPr>
          <a:xfrm>
            <a:off x="6126480" y="1097280"/>
            <a:ext cx="64008" cy="1554480"/>
          </a:xfrm>
          <a:prstGeom prst="rect">
            <a:avLst/>
          </a:prstGeom>
          <a:solidFill>
            <a:srgbClr val="00B4D8"/>
          </a:solidFill>
          <a:ln/>
        </p:spPr>
      </p:sp>
      <p:sp>
        <p:nvSpPr>
          <p:cNvPr id="15" name="Text 13"/>
          <p:cNvSpPr/>
          <p:nvPr/>
        </p:nvSpPr>
        <p:spPr>
          <a:xfrm>
            <a:off x="6309360" y="1234440"/>
            <a:ext cx="365760" cy="365760"/>
          </a:xfrm>
          <a:prstGeom prst="rect">
            <a:avLst/>
          </a:prstGeom>
          <a:noFill/>
          <a:ln/>
        </p:spPr>
        <p:txBody>
          <a:bodyPr wrap="square" lIns="0" tIns="0" rIns="0" bIns="0" rtlCol="0" anchor="ctr"/>
          <a:lstStyle/>
          <a:p>
            <a:pPr indent="0" marL="0">
              <a:buNone/>
            </a:pPr>
            <a:r>
              <a:rPr lang="en-US" sz="1600" dirty="0">
                <a:solidFill>
                  <a:srgbClr val="00B4D8"/>
                </a:solidFill>
                <a:latin typeface="Calibri" pitchFamily="34" charset="0"/>
                <a:ea typeface="Calibri" pitchFamily="34" charset="-122"/>
                <a:cs typeface="Calibri" pitchFamily="34" charset="-120"/>
              </a:rPr>
              <a:t>◈</a:t>
            </a:r>
            <a:endParaRPr lang="en-US" sz="1600" dirty="0"/>
          </a:p>
        </p:txBody>
      </p:sp>
      <p:sp>
        <p:nvSpPr>
          <p:cNvPr id="16" name="Text 14"/>
          <p:cNvSpPr/>
          <p:nvPr/>
        </p:nvSpPr>
        <p:spPr>
          <a:xfrm>
            <a:off x="6720840" y="1234440"/>
            <a:ext cx="1828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검출 설정</a:t>
            </a:r>
            <a:endParaRPr lang="en-US" sz="1500" dirty="0"/>
          </a:p>
        </p:txBody>
      </p:sp>
      <p:sp>
        <p:nvSpPr>
          <p:cNvPr id="17" name="Text 15"/>
          <p:cNvSpPr/>
          <p:nvPr/>
        </p:nvSpPr>
        <p:spPr>
          <a:xfrm>
            <a:off x="6355080" y="1645920"/>
            <a:ext cx="2148840" cy="86868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Threshold (0~255)</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Min Area 설정</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Adaptive Threshold</a:t>
            </a:r>
            <a:endParaRPr lang="en-US" sz="1100" dirty="0"/>
          </a:p>
        </p:txBody>
      </p:sp>
      <p:sp>
        <p:nvSpPr>
          <p:cNvPr id="18" name="Shape 16"/>
          <p:cNvSpPr/>
          <p:nvPr/>
        </p:nvSpPr>
        <p:spPr>
          <a:xfrm>
            <a:off x="457200" y="2926080"/>
            <a:ext cx="2560320" cy="155448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9" name="Shape 17"/>
          <p:cNvSpPr/>
          <p:nvPr/>
        </p:nvSpPr>
        <p:spPr>
          <a:xfrm>
            <a:off x="457200" y="2926080"/>
            <a:ext cx="64008" cy="1554480"/>
          </a:xfrm>
          <a:prstGeom prst="rect">
            <a:avLst/>
          </a:prstGeom>
          <a:solidFill>
            <a:srgbClr val="00C9A7"/>
          </a:solidFill>
          <a:ln/>
        </p:spPr>
      </p:sp>
      <p:sp>
        <p:nvSpPr>
          <p:cNvPr id="20" name="Text 18"/>
          <p:cNvSpPr/>
          <p:nvPr/>
        </p:nvSpPr>
        <p:spPr>
          <a:xfrm>
            <a:off x="640080" y="3063240"/>
            <a:ext cx="365760" cy="365760"/>
          </a:xfrm>
          <a:prstGeom prst="rect">
            <a:avLst/>
          </a:prstGeom>
          <a:noFill/>
          <a:ln/>
        </p:spPr>
        <p:txBody>
          <a:bodyPr wrap="square" lIns="0" tIns="0" rIns="0" bIns="0" rtlCol="0" anchor="ctr"/>
          <a:lstStyle/>
          <a:p>
            <a:pPr indent="0" marL="0">
              <a:buNone/>
            </a:pPr>
            <a:r>
              <a:rPr lang="en-US" sz="1600" dirty="0">
                <a:solidFill>
                  <a:srgbClr val="00C9A7"/>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1051560" y="3063240"/>
            <a:ext cx="1828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ROI 설정</a:t>
            </a:r>
            <a:endParaRPr lang="en-US" sz="1500" dirty="0"/>
          </a:p>
        </p:txBody>
      </p:sp>
      <p:sp>
        <p:nvSpPr>
          <p:cNvPr id="22" name="Text 20"/>
          <p:cNvSpPr/>
          <p:nvPr/>
        </p:nvSpPr>
        <p:spPr>
          <a:xfrm>
            <a:off x="685800" y="3474720"/>
            <a:ext cx="2148840" cy="86868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검사 ROI 설정</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어노테이션 ROI 설정</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검사 영역 한정</a:t>
            </a:r>
            <a:endParaRPr lang="en-US" sz="1100" dirty="0"/>
          </a:p>
        </p:txBody>
      </p:sp>
      <p:sp>
        <p:nvSpPr>
          <p:cNvPr id="23" name="Shape 21"/>
          <p:cNvSpPr/>
          <p:nvPr/>
        </p:nvSpPr>
        <p:spPr>
          <a:xfrm>
            <a:off x="3291840" y="2926080"/>
            <a:ext cx="2560320" cy="155448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24" name="Shape 22"/>
          <p:cNvSpPr/>
          <p:nvPr/>
        </p:nvSpPr>
        <p:spPr>
          <a:xfrm>
            <a:off x="3291840" y="2926080"/>
            <a:ext cx="64008" cy="1554480"/>
          </a:xfrm>
          <a:prstGeom prst="rect">
            <a:avLst/>
          </a:prstGeom>
          <a:solidFill>
            <a:srgbClr val="FFB347"/>
          </a:solidFill>
          <a:ln/>
        </p:spPr>
      </p:sp>
      <p:sp>
        <p:nvSpPr>
          <p:cNvPr id="25" name="Text 23"/>
          <p:cNvSpPr/>
          <p:nvPr/>
        </p:nvSpPr>
        <p:spPr>
          <a:xfrm>
            <a:off x="3474720" y="3063240"/>
            <a:ext cx="365760" cy="365760"/>
          </a:xfrm>
          <a:prstGeom prst="rect">
            <a:avLst/>
          </a:prstGeom>
          <a:noFill/>
          <a:ln/>
        </p:spPr>
        <p:txBody>
          <a:bodyPr wrap="square" lIns="0" tIns="0" rIns="0" bIns="0" rtlCol="0" anchor="ctr"/>
          <a:lstStyle/>
          <a:p>
            <a:pPr indent="0" marL="0">
              <a:buNone/>
            </a:pPr>
            <a:r>
              <a:rPr lang="en-US" sz="1600" dirty="0">
                <a:solidFill>
                  <a:srgbClr val="FFB347"/>
                </a:solidFill>
                <a:latin typeface="Calibri" pitchFamily="34" charset="0"/>
                <a:ea typeface="Calibri" pitchFamily="34" charset="-122"/>
                <a:cs typeface="Calibri" pitchFamily="34" charset="-120"/>
              </a:rPr>
              <a:t>◆</a:t>
            </a:r>
            <a:endParaRPr lang="en-US" sz="1600" dirty="0"/>
          </a:p>
        </p:txBody>
      </p:sp>
      <p:sp>
        <p:nvSpPr>
          <p:cNvPr id="26" name="Text 24"/>
          <p:cNvSpPr/>
          <p:nvPr/>
        </p:nvSpPr>
        <p:spPr>
          <a:xfrm>
            <a:off x="3886200" y="3063240"/>
            <a:ext cx="1828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DL 분류</a:t>
            </a:r>
            <a:endParaRPr lang="en-US" sz="1500" dirty="0"/>
          </a:p>
        </p:txBody>
      </p:sp>
      <p:sp>
        <p:nvSpPr>
          <p:cNvPr id="27" name="Text 25"/>
          <p:cNvSpPr/>
          <p:nvPr/>
        </p:nvSpPr>
        <p:spPr>
          <a:xfrm>
            <a:off x="3520440" y="3474720"/>
            <a:ext cx="2148840" cy="86868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분류 모델 로드</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Particle/Noise 판별</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Defect 이미지 저장</a:t>
            </a:r>
            <a:endParaRPr lang="en-US" sz="1100" dirty="0"/>
          </a:p>
        </p:txBody>
      </p:sp>
      <p:sp>
        <p:nvSpPr>
          <p:cNvPr id="28" name="Shape 26"/>
          <p:cNvSpPr/>
          <p:nvPr/>
        </p:nvSpPr>
        <p:spPr>
          <a:xfrm>
            <a:off x="6126480" y="2926080"/>
            <a:ext cx="2560320" cy="155448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29" name="Shape 27"/>
          <p:cNvSpPr/>
          <p:nvPr/>
        </p:nvSpPr>
        <p:spPr>
          <a:xfrm>
            <a:off x="6126480" y="2926080"/>
            <a:ext cx="64008" cy="1554480"/>
          </a:xfrm>
          <a:prstGeom prst="rect">
            <a:avLst/>
          </a:prstGeom>
          <a:solidFill>
            <a:srgbClr val="FF6B6B"/>
          </a:solidFill>
          <a:ln/>
        </p:spPr>
      </p:sp>
      <p:sp>
        <p:nvSpPr>
          <p:cNvPr id="30" name="Text 28"/>
          <p:cNvSpPr/>
          <p:nvPr/>
        </p:nvSpPr>
        <p:spPr>
          <a:xfrm>
            <a:off x="6309360" y="3063240"/>
            <a:ext cx="365760" cy="365760"/>
          </a:xfrm>
          <a:prstGeom prst="rect">
            <a:avLst/>
          </a:prstGeom>
          <a:noFill/>
          <a:ln/>
        </p:spPr>
        <p:txBody>
          <a:bodyPr wrap="square" lIns="0" tIns="0" rIns="0" bIns="0" rtlCol="0" anchor="ctr"/>
          <a:lstStyle/>
          <a:p>
            <a:pPr indent="0" marL="0">
              <a:buNone/>
            </a:pPr>
            <a:r>
              <a:rPr lang="en-US" sz="1600" dirty="0">
                <a:solidFill>
                  <a:srgbClr val="FF6B6B"/>
                </a:solidFill>
                <a:latin typeface="Calibri" pitchFamily="34" charset="0"/>
                <a:ea typeface="Calibri" pitchFamily="34" charset="-122"/>
                <a:cs typeface="Calibri" pitchFamily="34" charset="-120"/>
              </a:rPr>
              <a:t>≡</a:t>
            </a:r>
            <a:endParaRPr lang="en-US" sz="1600" dirty="0"/>
          </a:p>
        </p:txBody>
      </p:sp>
      <p:sp>
        <p:nvSpPr>
          <p:cNvPr id="31" name="Text 29"/>
          <p:cNvSpPr/>
          <p:nvPr/>
        </p:nvSpPr>
        <p:spPr>
          <a:xfrm>
            <a:off x="6720840" y="3063240"/>
            <a:ext cx="182880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결과 필터</a:t>
            </a:r>
            <a:endParaRPr lang="en-US" sz="1500" dirty="0"/>
          </a:p>
        </p:txBody>
      </p:sp>
      <p:sp>
        <p:nvSpPr>
          <p:cNvPr id="32" name="Text 30"/>
          <p:cNvSpPr/>
          <p:nvPr/>
        </p:nvSpPr>
        <p:spPr>
          <a:xfrm>
            <a:off x="6355080" y="3474720"/>
            <a:ext cx="2148840" cy="86868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ALL / Particle / Noise</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Bubble 필터링</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글자 보기 토글</a:t>
            </a:r>
            <a:endParaRPr lang="en-US" sz="1100" dirty="0"/>
          </a:p>
        </p:txBody>
      </p:sp>
      <p:sp>
        <p:nvSpPr>
          <p:cNvPr id="33" name="Text 31"/>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8899AA"/>
                </a:solidFill>
              </a:rPr>
              <a:t>5 / 11</a:t>
            </a:r>
            <a:endParaRPr lang="en-US" sz="900" dirty="0"/>
          </a:p>
        </p:txBody>
      </p:sp>
      <p:sp>
        <p:nvSpPr>
          <p:cNvPr id="34" name="Text 32"/>
          <p:cNvSpPr/>
          <p:nvPr/>
        </p:nvSpPr>
        <p:spPr>
          <a:xfrm>
            <a:off x="457200" y="4754880"/>
            <a:ext cx="1828800" cy="274320"/>
          </a:xfrm>
          <a:prstGeom prst="rect">
            <a:avLst/>
          </a:prstGeom>
          <a:noFill/>
          <a:ln/>
        </p:spPr>
        <p:txBody>
          <a:bodyPr wrap="square" rtlCol="0" anchor="ctr"/>
          <a:lstStyle/>
          <a:p>
            <a:pPr algn="l" indent="0" marL="0">
              <a:buNone/>
            </a:pPr>
            <a:r>
              <a:rPr lang="en-US" sz="900" dirty="0">
                <a:solidFill>
                  <a:srgbClr val="8899AA"/>
                </a:solidFill>
              </a:rPr>
              <a:t>NOVAnix-DVI</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E3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Viewer 모드</a:t>
            </a:r>
            <a:endParaRPr lang="en-US" sz="2800" dirty="0"/>
          </a:p>
        </p:txBody>
      </p:sp>
      <p:sp>
        <p:nvSpPr>
          <p:cNvPr id="3" name="Text 1"/>
          <p:cNvSpPr/>
          <p:nvPr/>
        </p:nvSpPr>
        <p:spPr>
          <a:xfrm>
            <a:off x="457200" y="777240"/>
            <a:ext cx="8229600" cy="320040"/>
          </a:xfrm>
          <a:prstGeom prst="rect">
            <a:avLst/>
          </a:prstGeom>
          <a:noFill/>
          <a:ln/>
        </p:spPr>
        <p:txBody>
          <a:bodyPr wrap="square" lIns="0" tIns="0" rIns="0" bIns="0" rtlCol="0" anchor="ctr"/>
          <a:lstStyle/>
          <a:p>
            <a:pPr indent="0" marL="0">
              <a:buNone/>
            </a:pPr>
            <a:r>
              <a:rPr lang="en-US" sz="1300" dirty="0">
                <a:solidFill>
                  <a:srgbClr val="8899AA"/>
                </a:solidFill>
                <a:latin typeface="Calibri" pitchFamily="34" charset="0"/>
                <a:ea typeface="Calibri" pitchFamily="34" charset="-122"/>
                <a:cs typeface="Calibri" pitchFamily="34" charset="-120"/>
              </a:rPr>
              <a:t>간소화된 모니터링 인터페이스</a:t>
            </a:r>
            <a:endParaRPr lang="en-US" sz="1300" dirty="0"/>
          </a:p>
        </p:txBody>
      </p:sp>
      <p:sp>
        <p:nvSpPr>
          <p:cNvPr id="4" name="Shape 2"/>
          <p:cNvSpPr/>
          <p:nvPr/>
        </p:nvSpPr>
        <p:spPr>
          <a:xfrm>
            <a:off x="457200" y="1371600"/>
            <a:ext cx="3840480" cy="2560320"/>
          </a:xfrm>
          <a:prstGeom prst="rect">
            <a:avLst/>
          </a:prstGeom>
          <a:solidFill>
            <a:srgbClr val="1A2535"/>
          </a:solidFill>
          <a:ln/>
          <a:effectLst>
            <a:outerShdw sx="100000" sy="100000" kx="0" ky="0" algn="bl" rotWithShape="0" blurRad="76200" dist="25400" dir="8100000">
              <a:srgbClr val="000000">
                <a:alpha val="20000"/>
              </a:srgbClr>
            </a:outerShdw>
          </a:effectLst>
        </p:spPr>
      </p:sp>
      <p:sp>
        <p:nvSpPr>
          <p:cNvPr id="5" name="Text 3"/>
          <p:cNvSpPr/>
          <p:nvPr/>
        </p:nvSpPr>
        <p:spPr>
          <a:xfrm>
            <a:off x="457200" y="1417320"/>
            <a:ext cx="3840480" cy="320040"/>
          </a:xfrm>
          <a:prstGeom prst="rect">
            <a:avLst/>
          </a:prstGeom>
          <a:noFill/>
          <a:ln/>
        </p:spPr>
        <p:txBody>
          <a:bodyPr wrap="square" lIns="0" tIns="0" rIns="0" bIns="0" rtlCol="0" anchor="ctr"/>
          <a:lstStyle/>
          <a:p>
            <a:pPr algn="ctr" indent="0" marL="0">
              <a:buNone/>
            </a:pPr>
            <a:r>
              <a:rPr lang="en-US" sz="1400" b="1" dirty="0">
                <a:solidFill>
                  <a:srgbClr val="FFB347"/>
                </a:solidFill>
                <a:latin typeface="Calibri" pitchFamily="34" charset="0"/>
                <a:ea typeface="Calibri" pitchFamily="34" charset="-122"/>
                <a:cs typeface="Calibri" pitchFamily="34" charset="-120"/>
              </a:rPr>
              <a:t>User 모드</a:t>
            </a:r>
            <a:endParaRPr lang="en-US" sz="1400" dirty="0"/>
          </a:p>
        </p:txBody>
      </p:sp>
      <p:sp>
        <p:nvSpPr>
          <p:cNvPr id="6" name="Shape 4"/>
          <p:cNvSpPr/>
          <p:nvPr/>
        </p:nvSpPr>
        <p:spPr>
          <a:xfrm>
            <a:off x="640080" y="1874520"/>
            <a:ext cx="914400" cy="1645920"/>
          </a:xfrm>
          <a:prstGeom prst="rect">
            <a:avLst/>
          </a:prstGeom>
          <a:solidFill>
            <a:srgbClr val="2A3A4A"/>
          </a:solidFill>
          <a:ln/>
        </p:spPr>
      </p:sp>
      <p:sp>
        <p:nvSpPr>
          <p:cNvPr id="7" name="Text 5"/>
          <p:cNvSpPr/>
          <p:nvPr/>
        </p:nvSpPr>
        <p:spPr>
          <a:xfrm>
            <a:off x="640080" y="2103120"/>
            <a:ext cx="914400" cy="548640"/>
          </a:xfrm>
          <a:prstGeom prst="rect">
            <a:avLst/>
          </a:prstGeom>
          <a:noFill/>
          <a:ln/>
        </p:spPr>
        <p:txBody>
          <a:bodyPr wrap="square" lIns="0" tIns="0" rIns="0" bIns="0" rtlCol="0" anchor="ctr"/>
          <a:lstStyle/>
          <a:p>
            <a:pPr algn="ctr" indent="0" marL="0">
              <a:buNone/>
            </a:pPr>
            <a:r>
              <a:rPr lang="en-US" sz="800" dirty="0">
                <a:solidFill>
                  <a:srgbClr val="8899AA"/>
                </a:solidFill>
              </a:rPr>
              <a:t>Debug</a:t>
            </a:r>
            <a:endParaRPr lang="en-US" sz="800" dirty="0"/>
          </a:p>
          <a:p>
            <a:pPr algn="ctr" indent="0" marL="0">
              <a:buNone/>
            </a:pPr>
            <a:r>
              <a:rPr lang="en-US" sz="800" dirty="0">
                <a:solidFill>
                  <a:srgbClr val="8899AA"/>
                </a:solidFill>
              </a:rPr>
              <a:t>Image</a:t>
            </a:r>
            <a:endParaRPr lang="en-US" sz="800" dirty="0"/>
          </a:p>
        </p:txBody>
      </p:sp>
      <p:sp>
        <p:nvSpPr>
          <p:cNvPr id="8" name="Shape 6"/>
          <p:cNvSpPr/>
          <p:nvPr/>
        </p:nvSpPr>
        <p:spPr>
          <a:xfrm>
            <a:off x="1691640" y="1874520"/>
            <a:ext cx="1554480" cy="1645920"/>
          </a:xfrm>
          <a:prstGeom prst="rect">
            <a:avLst/>
          </a:prstGeom>
          <a:solidFill>
            <a:srgbClr val="2A3A4A"/>
          </a:solidFill>
          <a:ln/>
        </p:spPr>
      </p:sp>
      <p:sp>
        <p:nvSpPr>
          <p:cNvPr id="9" name="Text 7"/>
          <p:cNvSpPr/>
          <p:nvPr/>
        </p:nvSpPr>
        <p:spPr>
          <a:xfrm>
            <a:off x="1691640" y="2468880"/>
            <a:ext cx="1554480" cy="365760"/>
          </a:xfrm>
          <a:prstGeom prst="rect">
            <a:avLst/>
          </a:prstGeom>
          <a:noFill/>
          <a:ln/>
        </p:spPr>
        <p:txBody>
          <a:bodyPr wrap="square" lIns="0" tIns="0" rIns="0" bIns="0" rtlCol="0" anchor="ctr"/>
          <a:lstStyle/>
          <a:p>
            <a:pPr algn="ctr" indent="0" marL="0">
              <a:buNone/>
            </a:pPr>
            <a:r>
              <a:rPr lang="en-US" sz="900" dirty="0">
                <a:solidFill>
                  <a:srgbClr val="8899AA"/>
                </a:solidFill>
              </a:rPr>
              <a:t>Main View</a:t>
            </a:r>
            <a:endParaRPr lang="en-US" sz="900" dirty="0"/>
          </a:p>
        </p:txBody>
      </p:sp>
      <p:sp>
        <p:nvSpPr>
          <p:cNvPr id="10" name="Shape 8"/>
          <p:cNvSpPr/>
          <p:nvPr/>
        </p:nvSpPr>
        <p:spPr>
          <a:xfrm>
            <a:off x="3383280" y="1874520"/>
            <a:ext cx="731520" cy="1645920"/>
          </a:xfrm>
          <a:prstGeom prst="rect">
            <a:avLst/>
          </a:prstGeom>
          <a:solidFill>
            <a:srgbClr val="2A3A4A"/>
          </a:solidFill>
          <a:ln/>
        </p:spPr>
      </p:sp>
      <p:sp>
        <p:nvSpPr>
          <p:cNvPr id="11" name="Text 9"/>
          <p:cNvSpPr/>
          <p:nvPr/>
        </p:nvSpPr>
        <p:spPr>
          <a:xfrm>
            <a:off x="3383280" y="2103120"/>
            <a:ext cx="731520" cy="548640"/>
          </a:xfrm>
          <a:prstGeom prst="rect">
            <a:avLst/>
          </a:prstGeom>
          <a:noFill/>
          <a:ln/>
        </p:spPr>
        <p:txBody>
          <a:bodyPr wrap="square" lIns="0" tIns="0" rIns="0" bIns="0" rtlCol="0" anchor="ctr"/>
          <a:lstStyle/>
          <a:p>
            <a:pPr algn="ctr" indent="0" marL="0">
              <a:buNone/>
            </a:pPr>
            <a:r>
              <a:rPr lang="en-US" sz="700" dirty="0">
                <a:solidFill>
                  <a:srgbClr val="8899AA"/>
                </a:solidFill>
              </a:rPr>
              <a:t>Control</a:t>
            </a:r>
            <a:endParaRPr lang="en-US" sz="700" dirty="0"/>
          </a:p>
          <a:p>
            <a:pPr algn="ctr" indent="0" marL="0">
              <a:buNone/>
            </a:pPr>
            <a:r>
              <a:rPr lang="en-US" sz="700" dirty="0">
                <a:solidFill>
                  <a:srgbClr val="8899AA"/>
                </a:solidFill>
              </a:rPr>
              <a:t>Panel</a:t>
            </a:r>
            <a:endParaRPr lang="en-US" sz="700" dirty="0"/>
          </a:p>
        </p:txBody>
      </p:sp>
      <p:sp>
        <p:nvSpPr>
          <p:cNvPr id="12" name="Text 10"/>
          <p:cNvSpPr/>
          <p:nvPr/>
        </p:nvSpPr>
        <p:spPr>
          <a:xfrm>
            <a:off x="640080" y="3611880"/>
            <a:ext cx="3474720" cy="274320"/>
          </a:xfrm>
          <a:prstGeom prst="rect">
            <a:avLst/>
          </a:prstGeom>
          <a:noFill/>
          <a:ln/>
        </p:spPr>
        <p:txBody>
          <a:bodyPr wrap="square" lIns="0" tIns="0" rIns="0" bIns="0" rtlCol="0" anchor="ctr"/>
          <a:lstStyle/>
          <a:p>
            <a:pPr algn="ctr" indent="0" marL="0">
              <a:buNone/>
            </a:pPr>
            <a:r>
              <a:rPr lang="en-US" sz="900" dirty="0">
                <a:solidFill>
                  <a:srgbClr val="E0E7EF"/>
                </a:solidFill>
                <a:latin typeface="Calibri" pitchFamily="34" charset="0"/>
                <a:ea typeface="Calibri" pitchFamily="34" charset="-122"/>
                <a:cs typeface="Calibri" pitchFamily="34" charset="-120"/>
              </a:rPr>
              <a:t>디버그 패널 + 설정 + 결과 필터</a:t>
            </a:r>
            <a:endParaRPr lang="en-US" sz="900" dirty="0"/>
          </a:p>
          <a:p>
            <a:pPr algn="ctr" indent="0" marL="0">
              <a:buNone/>
            </a:pPr>
            <a:r>
              <a:rPr lang="en-US" sz="900" dirty="0">
                <a:solidFill>
                  <a:srgbClr val="E0E7EF"/>
                </a:solidFill>
                <a:latin typeface="Calibri" pitchFamily="34" charset="0"/>
                <a:ea typeface="Calibri" pitchFamily="34" charset="-122"/>
                <a:cs typeface="Calibri" pitchFamily="34" charset="-120"/>
              </a:rPr>
              <a:t>전체 기능 접근 가능</a:t>
            </a:r>
            <a:endParaRPr lang="en-US" sz="900" dirty="0"/>
          </a:p>
        </p:txBody>
      </p:sp>
      <p:sp>
        <p:nvSpPr>
          <p:cNvPr id="13" name="Text 11"/>
          <p:cNvSpPr/>
          <p:nvPr/>
        </p:nvSpPr>
        <p:spPr>
          <a:xfrm>
            <a:off x="4297680" y="2286000"/>
            <a:ext cx="548640" cy="457200"/>
          </a:xfrm>
          <a:prstGeom prst="rect">
            <a:avLst/>
          </a:prstGeom>
          <a:noFill/>
          <a:ln/>
        </p:spPr>
        <p:txBody>
          <a:bodyPr wrap="square" lIns="0" tIns="0" rIns="0" bIns="0" rtlCol="0" anchor="ctr"/>
          <a:lstStyle/>
          <a:p>
            <a:pPr algn="ctr" indent="0" marL="0">
              <a:buNone/>
            </a:pPr>
            <a:r>
              <a:rPr lang="en-US" sz="2800" dirty="0">
                <a:solidFill>
                  <a:srgbClr val="00B4D8"/>
                </a:solidFill>
              </a:rPr>
              <a:t>→</a:t>
            </a:r>
            <a:endParaRPr lang="en-US" sz="2800" dirty="0"/>
          </a:p>
        </p:txBody>
      </p:sp>
      <p:sp>
        <p:nvSpPr>
          <p:cNvPr id="14" name="Shape 12"/>
          <p:cNvSpPr/>
          <p:nvPr/>
        </p:nvSpPr>
        <p:spPr>
          <a:xfrm>
            <a:off x="4846320" y="1371600"/>
            <a:ext cx="3840480" cy="2560320"/>
          </a:xfrm>
          <a:prstGeom prst="rect">
            <a:avLst/>
          </a:prstGeom>
          <a:solidFill>
            <a:srgbClr val="1A2535"/>
          </a:solidFill>
          <a:ln/>
          <a:effectLst>
            <a:outerShdw sx="100000" sy="100000" kx="0" ky="0" algn="bl" rotWithShape="0" blurRad="76200" dist="25400" dir="8100000">
              <a:srgbClr val="000000">
                <a:alpha val="20000"/>
              </a:srgbClr>
            </a:outerShdw>
          </a:effectLst>
        </p:spPr>
      </p:sp>
      <p:sp>
        <p:nvSpPr>
          <p:cNvPr id="15" name="Text 13"/>
          <p:cNvSpPr/>
          <p:nvPr/>
        </p:nvSpPr>
        <p:spPr>
          <a:xfrm>
            <a:off x="4846320" y="1417320"/>
            <a:ext cx="3840480" cy="320040"/>
          </a:xfrm>
          <a:prstGeom prst="rect">
            <a:avLst/>
          </a:prstGeom>
          <a:noFill/>
          <a:ln/>
        </p:spPr>
        <p:txBody>
          <a:bodyPr wrap="square" lIns="0" tIns="0" rIns="0" bIns="0" rtlCol="0" anchor="ctr"/>
          <a:lstStyle/>
          <a:p>
            <a:pPr algn="ctr" indent="0" marL="0">
              <a:buNone/>
            </a:pPr>
            <a:r>
              <a:rPr lang="en-US" sz="1400" b="1" dirty="0">
                <a:solidFill>
                  <a:srgbClr val="00C9A7"/>
                </a:solidFill>
                <a:latin typeface="Calibri" pitchFamily="34" charset="0"/>
                <a:ea typeface="Calibri" pitchFamily="34" charset="-122"/>
                <a:cs typeface="Calibri" pitchFamily="34" charset="-120"/>
              </a:rPr>
              <a:t>Viewer 모드</a:t>
            </a:r>
            <a:endParaRPr lang="en-US" sz="1400" dirty="0"/>
          </a:p>
        </p:txBody>
      </p:sp>
      <p:sp>
        <p:nvSpPr>
          <p:cNvPr id="16" name="Shape 14"/>
          <p:cNvSpPr/>
          <p:nvPr/>
        </p:nvSpPr>
        <p:spPr>
          <a:xfrm>
            <a:off x="5029200" y="1874520"/>
            <a:ext cx="2560320" cy="1645920"/>
          </a:xfrm>
          <a:prstGeom prst="rect">
            <a:avLst/>
          </a:prstGeom>
          <a:solidFill>
            <a:srgbClr val="2A3A4A"/>
          </a:solidFill>
          <a:ln/>
        </p:spPr>
      </p:sp>
      <p:sp>
        <p:nvSpPr>
          <p:cNvPr id="17" name="Text 15"/>
          <p:cNvSpPr/>
          <p:nvPr/>
        </p:nvSpPr>
        <p:spPr>
          <a:xfrm>
            <a:off x="5029200" y="2377440"/>
            <a:ext cx="2560320" cy="548640"/>
          </a:xfrm>
          <a:prstGeom prst="rect">
            <a:avLst/>
          </a:prstGeom>
          <a:noFill/>
          <a:ln/>
        </p:spPr>
        <p:txBody>
          <a:bodyPr wrap="square" lIns="0" tIns="0" rIns="0" bIns="0" rtlCol="0" anchor="ctr"/>
          <a:lstStyle/>
          <a:p>
            <a:pPr algn="ctr" indent="0" marL="0">
              <a:buNone/>
            </a:pPr>
            <a:r>
              <a:rPr lang="en-US" sz="1000" dirty="0">
                <a:solidFill>
                  <a:srgbClr val="8899AA"/>
                </a:solidFill>
              </a:rPr>
              <a:t>Main View</a:t>
            </a:r>
            <a:endParaRPr lang="en-US" sz="1000" dirty="0"/>
          </a:p>
          <a:p>
            <a:pPr algn="ctr" indent="0" marL="0">
              <a:buNone/>
            </a:pPr>
            <a:r>
              <a:rPr lang="en-US" sz="1000" dirty="0">
                <a:solidFill>
                  <a:srgbClr val="8899AA"/>
                </a:solidFill>
              </a:rPr>
              <a:t>(전체 화면 확대)</a:t>
            </a:r>
            <a:endParaRPr lang="en-US" sz="1000" dirty="0"/>
          </a:p>
        </p:txBody>
      </p:sp>
      <p:sp>
        <p:nvSpPr>
          <p:cNvPr id="18" name="Shape 16"/>
          <p:cNvSpPr/>
          <p:nvPr/>
        </p:nvSpPr>
        <p:spPr>
          <a:xfrm>
            <a:off x="7726680" y="1874520"/>
            <a:ext cx="777240" cy="1645920"/>
          </a:xfrm>
          <a:prstGeom prst="rect">
            <a:avLst/>
          </a:prstGeom>
          <a:solidFill>
            <a:srgbClr val="2A3A4A"/>
          </a:solidFill>
          <a:ln/>
        </p:spPr>
      </p:sp>
      <p:sp>
        <p:nvSpPr>
          <p:cNvPr id="19" name="Text 17"/>
          <p:cNvSpPr/>
          <p:nvPr/>
        </p:nvSpPr>
        <p:spPr>
          <a:xfrm>
            <a:off x="7726680" y="2194560"/>
            <a:ext cx="777240" cy="731520"/>
          </a:xfrm>
          <a:prstGeom prst="rect">
            <a:avLst/>
          </a:prstGeom>
          <a:noFill/>
          <a:ln/>
        </p:spPr>
        <p:txBody>
          <a:bodyPr wrap="square" lIns="0" tIns="0" rIns="0" bIns="0" rtlCol="0" anchor="ctr"/>
          <a:lstStyle/>
          <a:p>
            <a:pPr algn="ctr" indent="0" marL="0">
              <a:buNone/>
            </a:pPr>
            <a:r>
              <a:rPr lang="en-US" sz="700" dirty="0">
                <a:solidFill>
                  <a:srgbClr val="8899AA"/>
                </a:solidFill>
              </a:rPr>
              <a:t>Cam</a:t>
            </a:r>
            <a:endParaRPr lang="en-US" sz="700" dirty="0"/>
          </a:p>
          <a:p>
            <a:pPr algn="ctr" indent="0" marL="0">
              <a:buNone/>
            </a:pPr>
            <a:r>
              <a:rPr lang="en-US" sz="700" dirty="0">
                <a:solidFill>
                  <a:srgbClr val="8899AA"/>
                </a:solidFill>
              </a:rPr>
              <a:t>+</a:t>
            </a:r>
            <a:endParaRPr lang="en-US" sz="700" dirty="0"/>
          </a:p>
          <a:p>
            <a:pPr algn="ctr" indent="0" marL="0">
              <a:buNone/>
            </a:pPr>
            <a:r>
              <a:rPr lang="en-US" sz="700" dirty="0">
                <a:solidFill>
                  <a:srgbClr val="8899AA"/>
                </a:solidFill>
              </a:rPr>
              <a:t>Result</a:t>
            </a:r>
            <a:endParaRPr lang="en-US" sz="700" dirty="0"/>
          </a:p>
        </p:txBody>
      </p:sp>
      <p:sp>
        <p:nvSpPr>
          <p:cNvPr id="20" name="Text 18"/>
          <p:cNvSpPr/>
          <p:nvPr/>
        </p:nvSpPr>
        <p:spPr>
          <a:xfrm>
            <a:off x="5029200" y="3611880"/>
            <a:ext cx="3474720" cy="274320"/>
          </a:xfrm>
          <a:prstGeom prst="rect">
            <a:avLst/>
          </a:prstGeom>
          <a:noFill/>
          <a:ln/>
        </p:spPr>
        <p:txBody>
          <a:bodyPr wrap="square" lIns="0" tIns="0" rIns="0" bIns="0" rtlCol="0" anchor="ctr"/>
          <a:lstStyle/>
          <a:p>
            <a:pPr algn="ctr" indent="0" marL="0">
              <a:buNone/>
            </a:pPr>
            <a:r>
              <a:rPr lang="en-US" sz="900" dirty="0">
                <a:solidFill>
                  <a:srgbClr val="E0E7EF"/>
                </a:solidFill>
                <a:latin typeface="Calibri" pitchFamily="34" charset="0"/>
                <a:ea typeface="Calibri" pitchFamily="34" charset="-122"/>
                <a:cs typeface="Calibri" pitchFamily="34" charset="-120"/>
              </a:rPr>
              <a:t>디버그·설정 패널 숨김</a:t>
            </a:r>
            <a:endParaRPr lang="en-US" sz="900" dirty="0"/>
          </a:p>
          <a:p>
            <a:pPr algn="ctr" indent="0" marL="0">
              <a:buNone/>
            </a:pPr>
            <a:r>
              <a:rPr lang="en-US" sz="900" dirty="0">
                <a:solidFill>
                  <a:srgbClr val="E0E7EF"/>
                </a:solidFill>
                <a:latin typeface="Calibri" pitchFamily="34" charset="0"/>
                <a:ea typeface="Calibri" pitchFamily="34" charset="-122"/>
                <a:cs typeface="Calibri" pitchFamily="34" charset="-120"/>
              </a:rPr>
              <a:t>모니터링 전용 뷰</a:t>
            </a:r>
            <a:endParaRPr lang="en-US" sz="900" dirty="0"/>
          </a:p>
        </p:txBody>
      </p:sp>
      <p:sp>
        <p:nvSpPr>
          <p:cNvPr id="21" name="Text 19"/>
          <p:cNvSpPr/>
          <p:nvPr/>
        </p:nvSpPr>
        <p:spPr>
          <a:xfrm>
            <a:off x="457200" y="4160520"/>
            <a:ext cx="8229600" cy="320040"/>
          </a:xfrm>
          <a:prstGeom prst="rect">
            <a:avLst/>
          </a:prstGeom>
          <a:noFill/>
          <a:ln/>
        </p:spPr>
        <p:txBody>
          <a:bodyPr wrap="square" lIns="0" tIns="0" rIns="0" bIns="0"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3단계 권한 체계</a:t>
            </a:r>
            <a:endParaRPr lang="en-US" sz="1400" dirty="0"/>
          </a:p>
        </p:txBody>
      </p:sp>
      <p:sp>
        <p:nvSpPr>
          <p:cNvPr id="22" name="Shape 20"/>
          <p:cNvSpPr/>
          <p:nvPr/>
        </p:nvSpPr>
        <p:spPr>
          <a:xfrm>
            <a:off x="457200" y="4526280"/>
            <a:ext cx="2651760" cy="5029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23" name="Shape 21"/>
          <p:cNvSpPr/>
          <p:nvPr/>
        </p:nvSpPr>
        <p:spPr>
          <a:xfrm>
            <a:off x="457200" y="4526280"/>
            <a:ext cx="54864" cy="502920"/>
          </a:xfrm>
          <a:prstGeom prst="rect">
            <a:avLst/>
          </a:prstGeom>
          <a:solidFill>
            <a:srgbClr val="00C9A7"/>
          </a:solidFill>
          <a:ln/>
        </p:spPr>
      </p:sp>
      <p:sp>
        <p:nvSpPr>
          <p:cNvPr id="24" name="Text 22"/>
          <p:cNvSpPr/>
          <p:nvPr/>
        </p:nvSpPr>
        <p:spPr>
          <a:xfrm>
            <a:off x="640080" y="4544568"/>
            <a:ext cx="731520" cy="457200"/>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Viewer</a:t>
            </a:r>
            <a:endParaRPr lang="en-US" sz="1200" dirty="0"/>
          </a:p>
        </p:txBody>
      </p:sp>
      <p:sp>
        <p:nvSpPr>
          <p:cNvPr id="25" name="Text 23"/>
          <p:cNvSpPr/>
          <p:nvPr/>
        </p:nvSpPr>
        <p:spPr>
          <a:xfrm>
            <a:off x="1371600" y="4544568"/>
            <a:ext cx="1645920" cy="457200"/>
          </a:xfrm>
          <a:prstGeom prst="rect">
            <a:avLst/>
          </a:prstGeom>
          <a:noFill/>
          <a:ln/>
        </p:spPr>
        <p:txBody>
          <a:bodyPr wrap="square" lIns="0" tIns="0" rIns="0" bIns="0" rtlCol="0" anchor="ctr"/>
          <a:lstStyle/>
          <a:p>
            <a:pPr indent="0" marL="0">
              <a:buNone/>
            </a:pPr>
            <a:r>
              <a:rPr lang="en-US" sz="900" dirty="0">
                <a:solidFill>
                  <a:srgbClr val="E0E7EF"/>
                </a:solidFill>
                <a:latin typeface="Calibri" pitchFamily="34" charset="0"/>
                <a:ea typeface="Calibri" pitchFamily="34" charset="-122"/>
                <a:cs typeface="Calibri" pitchFamily="34" charset="-120"/>
              </a:rPr>
              <a:t>영상 모니터링만 가능</a:t>
            </a:r>
            <a:endParaRPr lang="en-US" sz="900" dirty="0"/>
          </a:p>
          <a:p>
            <a:pPr indent="0" marL="0">
              <a:buNone/>
            </a:pPr>
            <a:r>
              <a:rPr lang="en-US" sz="900" dirty="0">
                <a:solidFill>
                  <a:srgbClr val="E0E7EF"/>
                </a:solidFill>
                <a:latin typeface="Calibri" pitchFamily="34" charset="0"/>
                <a:ea typeface="Calibri" pitchFamily="34" charset="-122"/>
                <a:cs typeface="Calibri" pitchFamily="34" charset="-120"/>
              </a:rPr>
              <a:t>설정 변경 불가</a:t>
            </a:r>
            <a:endParaRPr lang="en-US" sz="900" dirty="0"/>
          </a:p>
        </p:txBody>
      </p:sp>
      <p:sp>
        <p:nvSpPr>
          <p:cNvPr id="26" name="Shape 24"/>
          <p:cNvSpPr/>
          <p:nvPr/>
        </p:nvSpPr>
        <p:spPr>
          <a:xfrm>
            <a:off x="3383280" y="4526280"/>
            <a:ext cx="2651760" cy="5029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27" name="Shape 25"/>
          <p:cNvSpPr/>
          <p:nvPr/>
        </p:nvSpPr>
        <p:spPr>
          <a:xfrm>
            <a:off x="3383280" y="4526280"/>
            <a:ext cx="54864" cy="502920"/>
          </a:xfrm>
          <a:prstGeom prst="rect">
            <a:avLst/>
          </a:prstGeom>
          <a:solidFill>
            <a:srgbClr val="FFB347"/>
          </a:solidFill>
          <a:ln/>
        </p:spPr>
      </p:sp>
      <p:sp>
        <p:nvSpPr>
          <p:cNvPr id="28" name="Text 26"/>
          <p:cNvSpPr/>
          <p:nvPr/>
        </p:nvSpPr>
        <p:spPr>
          <a:xfrm>
            <a:off x="3566160" y="4544568"/>
            <a:ext cx="731520" cy="457200"/>
          </a:xfrm>
          <a:prstGeom prst="rect">
            <a:avLst/>
          </a:prstGeom>
          <a:noFill/>
          <a:ln/>
        </p:spPr>
        <p:txBody>
          <a:bodyPr wrap="square" lIns="0" tIns="0" rIns="0" bIns="0" rtlCol="0" anchor="ctr"/>
          <a:lstStyle/>
          <a:p>
            <a:pPr indent="0" marL="0">
              <a:buNone/>
            </a:pPr>
            <a:r>
              <a:rPr lang="en-US" sz="1200" b="1" dirty="0">
                <a:solidFill>
                  <a:srgbClr val="FFB347"/>
                </a:solidFill>
                <a:latin typeface="Calibri" pitchFamily="34" charset="0"/>
                <a:ea typeface="Calibri" pitchFamily="34" charset="-122"/>
                <a:cs typeface="Calibri" pitchFamily="34" charset="-120"/>
              </a:rPr>
              <a:t>User</a:t>
            </a:r>
            <a:endParaRPr lang="en-US" sz="1200" dirty="0"/>
          </a:p>
        </p:txBody>
      </p:sp>
      <p:sp>
        <p:nvSpPr>
          <p:cNvPr id="29" name="Text 27"/>
          <p:cNvSpPr/>
          <p:nvPr/>
        </p:nvSpPr>
        <p:spPr>
          <a:xfrm>
            <a:off x="4297680" y="4544568"/>
            <a:ext cx="1645920" cy="457200"/>
          </a:xfrm>
          <a:prstGeom prst="rect">
            <a:avLst/>
          </a:prstGeom>
          <a:noFill/>
          <a:ln/>
        </p:spPr>
        <p:txBody>
          <a:bodyPr wrap="square" lIns="0" tIns="0" rIns="0" bIns="0" rtlCol="0" anchor="ctr"/>
          <a:lstStyle/>
          <a:p>
            <a:pPr indent="0" marL="0">
              <a:buNone/>
            </a:pPr>
            <a:r>
              <a:rPr lang="en-US" sz="900" dirty="0">
                <a:solidFill>
                  <a:srgbClr val="E0E7EF"/>
                </a:solidFill>
                <a:latin typeface="Calibri" pitchFamily="34" charset="0"/>
                <a:ea typeface="Calibri" pitchFamily="34" charset="-122"/>
                <a:cs typeface="Calibri" pitchFamily="34" charset="-120"/>
              </a:rPr>
              <a:t>검사 실행 및 파라미터 설정</a:t>
            </a:r>
            <a:endParaRPr lang="en-US" sz="900" dirty="0"/>
          </a:p>
          <a:p>
            <a:pPr indent="0" marL="0">
              <a:buNone/>
            </a:pPr>
            <a:r>
              <a:rPr lang="en-US" sz="900" dirty="0">
                <a:solidFill>
                  <a:srgbClr val="E0E7EF"/>
                </a:solidFill>
                <a:latin typeface="Calibri" pitchFamily="34" charset="0"/>
                <a:ea typeface="Calibri" pitchFamily="34" charset="-122"/>
                <a:cs typeface="Calibri" pitchFamily="34" charset="-120"/>
              </a:rPr>
              <a:t>일반 운영자용</a:t>
            </a:r>
            <a:endParaRPr lang="en-US" sz="900" dirty="0"/>
          </a:p>
        </p:txBody>
      </p:sp>
      <p:sp>
        <p:nvSpPr>
          <p:cNvPr id="30" name="Shape 28"/>
          <p:cNvSpPr/>
          <p:nvPr/>
        </p:nvSpPr>
        <p:spPr>
          <a:xfrm>
            <a:off x="6309360" y="4526280"/>
            <a:ext cx="2651760" cy="5029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31" name="Shape 29"/>
          <p:cNvSpPr/>
          <p:nvPr/>
        </p:nvSpPr>
        <p:spPr>
          <a:xfrm>
            <a:off x="6309360" y="4526280"/>
            <a:ext cx="54864" cy="502920"/>
          </a:xfrm>
          <a:prstGeom prst="rect">
            <a:avLst/>
          </a:prstGeom>
          <a:solidFill>
            <a:srgbClr val="FF6B6B"/>
          </a:solidFill>
          <a:ln/>
        </p:spPr>
      </p:sp>
      <p:sp>
        <p:nvSpPr>
          <p:cNvPr id="32" name="Text 30"/>
          <p:cNvSpPr/>
          <p:nvPr/>
        </p:nvSpPr>
        <p:spPr>
          <a:xfrm>
            <a:off x="6492240" y="4544568"/>
            <a:ext cx="731520" cy="457200"/>
          </a:xfrm>
          <a:prstGeom prst="rect">
            <a:avLst/>
          </a:prstGeom>
          <a:noFill/>
          <a:ln/>
        </p:spPr>
        <p:txBody>
          <a:bodyPr wrap="square" lIns="0" tIns="0" rIns="0" bIns="0" rtlCol="0" anchor="ctr"/>
          <a:lstStyle/>
          <a:p>
            <a:pPr indent="0" marL="0">
              <a:buNone/>
            </a:pPr>
            <a:r>
              <a:rPr lang="en-US" sz="1200" b="1" dirty="0">
                <a:solidFill>
                  <a:srgbClr val="FF6B6B"/>
                </a:solidFill>
                <a:latin typeface="Calibri" pitchFamily="34" charset="0"/>
                <a:ea typeface="Calibri" pitchFamily="34" charset="-122"/>
                <a:cs typeface="Calibri" pitchFamily="34" charset="-120"/>
              </a:rPr>
              <a:t>Maker</a:t>
            </a:r>
            <a:endParaRPr lang="en-US" sz="1200" dirty="0"/>
          </a:p>
        </p:txBody>
      </p:sp>
      <p:sp>
        <p:nvSpPr>
          <p:cNvPr id="33" name="Text 31"/>
          <p:cNvSpPr/>
          <p:nvPr/>
        </p:nvSpPr>
        <p:spPr>
          <a:xfrm>
            <a:off x="7223760" y="4544568"/>
            <a:ext cx="1645920" cy="457200"/>
          </a:xfrm>
          <a:prstGeom prst="rect">
            <a:avLst/>
          </a:prstGeom>
          <a:noFill/>
          <a:ln/>
        </p:spPr>
        <p:txBody>
          <a:bodyPr wrap="square" lIns="0" tIns="0" rIns="0" bIns="0" rtlCol="0" anchor="ctr"/>
          <a:lstStyle/>
          <a:p>
            <a:pPr indent="0" marL="0">
              <a:buNone/>
            </a:pPr>
            <a:r>
              <a:rPr lang="en-US" sz="900" dirty="0">
                <a:solidFill>
                  <a:srgbClr val="E0E7EF"/>
                </a:solidFill>
                <a:latin typeface="Calibri" pitchFamily="34" charset="0"/>
                <a:ea typeface="Calibri" pitchFamily="34" charset="-122"/>
                <a:cs typeface="Calibri" pitchFamily="34" charset="-120"/>
              </a:rPr>
              <a:t>모든 설정 접근 가능</a:t>
            </a:r>
            <a:endParaRPr lang="en-US" sz="900" dirty="0"/>
          </a:p>
          <a:p>
            <a:pPr indent="0" marL="0">
              <a:buNone/>
            </a:pPr>
            <a:r>
              <a:rPr lang="en-US" sz="900" dirty="0">
                <a:solidFill>
                  <a:srgbClr val="E0E7EF"/>
                </a:solidFill>
                <a:latin typeface="Calibri" pitchFamily="34" charset="0"/>
                <a:ea typeface="Calibri" pitchFamily="34" charset="-122"/>
                <a:cs typeface="Calibri" pitchFamily="34" charset="-120"/>
              </a:rPr>
              <a:t>시스템 관리자용</a:t>
            </a:r>
            <a:endParaRPr lang="en-US" sz="900" dirty="0"/>
          </a:p>
        </p:txBody>
      </p:sp>
      <p:sp>
        <p:nvSpPr>
          <p:cNvPr id="34" name="Text 32"/>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8899AA"/>
                </a:solidFill>
              </a:rPr>
              <a:t>6 / 11</a:t>
            </a:r>
            <a:endParaRPr lang="en-US" sz="900" dirty="0"/>
          </a:p>
        </p:txBody>
      </p:sp>
      <p:sp>
        <p:nvSpPr>
          <p:cNvPr id="35" name="Text 33"/>
          <p:cNvSpPr/>
          <p:nvPr/>
        </p:nvSpPr>
        <p:spPr>
          <a:xfrm>
            <a:off x="457200" y="4754880"/>
            <a:ext cx="1828800" cy="274320"/>
          </a:xfrm>
          <a:prstGeom prst="rect">
            <a:avLst/>
          </a:prstGeom>
          <a:noFill/>
          <a:ln/>
        </p:spPr>
        <p:txBody>
          <a:bodyPr wrap="square" rtlCol="0" anchor="ctr"/>
          <a:lstStyle/>
          <a:p>
            <a:pPr algn="l" indent="0" marL="0">
              <a:buNone/>
            </a:pPr>
            <a:r>
              <a:rPr lang="en-US" sz="900" dirty="0">
                <a:solidFill>
                  <a:srgbClr val="8899AA"/>
                </a:solidFill>
              </a:rPr>
              <a:t>NOVAnix-DVI</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E3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검사 파라미터 — 분류/검출 조건</a:t>
            </a:r>
            <a:endParaRPr lang="en-US" sz="2600" dirty="0"/>
          </a:p>
        </p:txBody>
      </p:sp>
      <p:sp>
        <p:nvSpPr>
          <p:cNvPr id="3" name="Shape 1"/>
          <p:cNvSpPr/>
          <p:nvPr/>
        </p:nvSpPr>
        <p:spPr>
          <a:xfrm>
            <a:off x="457200" y="960120"/>
            <a:ext cx="2011680" cy="320040"/>
          </a:xfrm>
          <a:prstGeom prst="rect">
            <a:avLst/>
          </a:prstGeom>
          <a:solidFill>
            <a:srgbClr val="00B4D8"/>
          </a:solidFill>
          <a:ln/>
        </p:spPr>
      </p:sp>
      <p:sp>
        <p:nvSpPr>
          <p:cNvPr id="4" name="Text 2"/>
          <p:cNvSpPr/>
          <p:nvPr/>
        </p:nvSpPr>
        <p:spPr>
          <a:xfrm>
            <a:off x="457200" y="960120"/>
            <a:ext cx="2011680" cy="320040"/>
          </a:xfrm>
          <a:prstGeom prst="rect">
            <a:avLst/>
          </a:prstGeom>
          <a:noFill/>
          <a:ln/>
        </p:spPr>
        <p:txBody>
          <a:bodyPr wrap="square" lIns="0" tIns="0" rIns="0" bIns="0" rtlCol="0" anchor="ctr"/>
          <a:lstStyle/>
          <a:p>
            <a:pPr algn="ctr" indent="0" marL="0">
              <a:buNone/>
            </a:pPr>
            <a:r>
              <a:rPr lang="en-US" sz="1000" b="1" dirty="0">
                <a:solidFill>
                  <a:srgbClr val="0F1B2D"/>
                </a:solidFill>
                <a:latin typeface="Calibri" pitchFamily="34" charset="0"/>
                <a:ea typeface="Calibri" pitchFamily="34" charset="-122"/>
                <a:cs typeface="Calibri" pitchFamily="34" charset="-120"/>
              </a:rPr>
              <a:t>분류/검출 조건</a:t>
            </a:r>
            <a:endParaRPr lang="en-US" sz="1000" dirty="0"/>
          </a:p>
        </p:txBody>
      </p:sp>
      <p:sp>
        <p:nvSpPr>
          <p:cNvPr id="5" name="Shape 3"/>
          <p:cNvSpPr/>
          <p:nvPr/>
        </p:nvSpPr>
        <p:spPr>
          <a:xfrm>
            <a:off x="2743200" y="960120"/>
            <a:ext cx="2011680" cy="320040"/>
          </a:xfrm>
          <a:prstGeom prst="rect">
            <a:avLst/>
          </a:prstGeom>
          <a:solidFill>
            <a:srgbClr val="1C2940"/>
          </a:solidFill>
          <a:ln/>
        </p:spPr>
      </p:sp>
      <p:sp>
        <p:nvSpPr>
          <p:cNvPr id="6" name="Text 4"/>
          <p:cNvSpPr/>
          <p:nvPr/>
        </p:nvSpPr>
        <p:spPr>
          <a:xfrm>
            <a:off x="2743200" y="960120"/>
            <a:ext cx="2011680" cy="320040"/>
          </a:xfrm>
          <a:prstGeom prst="rect">
            <a:avLst/>
          </a:prstGeom>
          <a:noFill/>
          <a:ln/>
        </p:spPr>
        <p:txBody>
          <a:bodyPr wrap="square" lIns="0" tIns="0" rIns="0" bIns="0"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Bubble 검출</a:t>
            </a:r>
            <a:endParaRPr lang="en-US" sz="1000" dirty="0"/>
          </a:p>
        </p:txBody>
      </p:sp>
      <p:sp>
        <p:nvSpPr>
          <p:cNvPr id="7" name="Shape 5"/>
          <p:cNvSpPr/>
          <p:nvPr/>
        </p:nvSpPr>
        <p:spPr>
          <a:xfrm>
            <a:off x="5029200" y="960120"/>
            <a:ext cx="2011680" cy="320040"/>
          </a:xfrm>
          <a:prstGeom prst="rect">
            <a:avLst/>
          </a:prstGeom>
          <a:solidFill>
            <a:srgbClr val="1C2940"/>
          </a:solidFill>
          <a:ln/>
        </p:spPr>
      </p:sp>
      <p:sp>
        <p:nvSpPr>
          <p:cNvPr id="8" name="Text 6"/>
          <p:cNvSpPr/>
          <p:nvPr/>
        </p:nvSpPr>
        <p:spPr>
          <a:xfrm>
            <a:off x="5029200" y="960120"/>
            <a:ext cx="2011680" cy="320040"/>
          </a:xfrm>
          <a:prstGeom prst="rect">
            <a:avLst/>
          </a:prstGeom>
          <a:noFill/>
          <a:ln/>
        </p:spPr>
        <p:txBody>
          <a:bodyPr wrap="square" lIns="0" tIns="0" rIns="0" bIns="0"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DL 최적화</a:t>
            </a:r>
            <a:endParaRPr lang="en-US" sz="1000" dirty="0"/>
          </a:p>
        </p:txBody>
      </p:sp>
      <p:sp>
        <p:nvSpPr>
          <p:cNvPr id="9" name="Shape 7"/>
          <p:cNvSpPr/>
          <p:nvPr/>
        </p:nvSpPr>
        <p:spPr>
          <a:xfrm>
            <a:off x="457200" y="1508760"/>
            <a:ext cx="4023360" cy="30175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0" name="Text 8"/>
          <p:cNvSpPr/>
          <p:nvPr/>
        </p:nvSpPr>
        <p:spPr>
          <a:xfrm>
            <a:off x="640080" y="1600200"/>
            <a:ext cx="3657600" cy="320040"/>
          </a:xfrm>
          <a:prstGeom prst="rect">
            <a:avLst/>
          </a:prstGeom>
          <a:noFill/>
          <a:ln/>
        </p:spPr>
        <p:txBody>
          <a:bodyPr wrap="square" lIns="0" tIns="0" rIns="0" bIns="0"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기존 검사 정지 상태 판단</a:t>
            </a:r>
            <a:endParaRPr lang="en-US" sz="1400" dirty="0"/>
          </a:p>
        </p:txBody>
      </p:sp>
      <p:sp>
        <p:nvSpPr>
          <p:cNvPr id="11" name="Text 9"/>
          <p:cNvSpPr/>
          <p:nvPr/>
        </p:nvSpPr>
        <p:spPr>
          <a:xfrm>
            <a:off x="640080" y="2011680"/>
            <a:ext cx="1463040" cy="274320"/>
          </a:xfrm>
          <a:prstGeom prst="rect">
            <a:avLst/>
          </a:prstGeom>
          <a:noFill/>
          <a:ln/>
        </p:spPr>
        <p:txBody>
          <a:bodyPr wrap="square" lIns="0" tIns="0" rIns="0" bIns="0" rtlCol="0" anchor="ctr"/>
          <a:lstStyle/>
          <a:p>
            <a:pPr indent="0" marL="0">
              <a:buNone/>
            </a:pPr>
            <a:r>
              <a:rPr lang="en-US" sz="900" dirty="0">
                <a:solidFill>
                  <a:srgbClr val="E0E7EF"/>
                </a:solidFill>
                <a:latin typeface="Calibri" pitchFamily="34" charset="0"/>
                <a:ea typeface="Calibri" pitchFamily="34" charset="-122"/>
                <a:cs typeface="Calibri" pitchFamily="34" charset="-120"/>
              </a:rPr>
              <a:t>Stop Motion</a:t>
            </a:r>
            <a:endParaRPr lang="en-US" sz="900" dirty="0"/>
          </a:p>
        </p:txBody>
      </p:sp>
      <p:sp>
        <p:nvSpPr>
          <p:cNvPr id="12" name="Text 10"/>
          <p:cNvSpPr/>
          <p:nvPr/>
        </p:nvSpPr>
        <p:spPr>
          <a:xfrm>
            <a:off x="2103120" y="2011680"/>
            <a:ext cx="640080" cy="274320"/>
          </a:xfrm>
          <a:prstGeom prst="rect">
            <a:avLst/>
          </a:prstGeom>
          <a:noFill/>
          <a:ln/>
        </p:spPr>
        <p:txBody>
          <a:bodyPr wrap="square" lIns="0" tIns="0" rIns="0" bIns="0" rtlCol="0" anchor="ctr"/>
          <a:lstStyle/>
          <a:p>
            <a:pPr algn="r" indent="0" marL="0">
              <a:buNone/>
            </a:pPr>
            <a:r>
              <a:rPr lang="en-US" sz="900" b="1" dirty="0">
                <a:solidFill>
                  <a:srgbClr val="00B4D8"/>
                </a:solidFill>
                <a:latin typeface="Calibri" pitchFamily="34" charset="0"/>
                <a:ea typeface="Calibri" pitchFamily="34" charset="-122"/>
                <a:cs typeface="Calibri" pitchFamily="34" charset="-120"/>
              </a:rPr>
              <a:t>3.00</a:t>
            </a:r>
            <a:endParaRPr lang="en-US" sz="900" dirty="0"/>
          </a:p>
        </p:txBody>
      </p:sp>
      <p:sp>
        <p:nvSpPr>
          <p:cNvPr id="13" name="Text 11"/>
          <p:cNvSpPr/>
          <p:nvPr/>
        </p:nvSpPr>
        <p:spPr>
          <a:xfrm>
            <a:off x="2834640" y="2011680"/>
            <a:ext cx="1463040" cy="274320"/>
          </a:xfrm>
          <a:prstGeom prst="rect">
            <a:avLst/>
          </a:prstGeom>
          <a:noFill/>
          <a:ln/>
        </p:spPr>
        <p:txBody>
          <a:bodyPr wrap="square" lIns="0" tIns="0" rIns="0" bIns="0" rtlCol="0" anchor="ctr"/>
          <a:lstStyle/>
          <a:p>
            <a:pPr indent="0" marL="0">
              <a:buNone/>
            </a:pPr>
            <a:r>
              <a:rPr lang="en-US" sz="800" i="1" dirty="0">
                <a:solidFill>
                  <a:srgbClr val="8899AA"/>
                </a:solidFill>
                <a:latin typeface="Calibri" pitchFamily="34" charset="0"/>
                <a:ea typeface="Calibri" pitchFamily="34" charset="-122"/>
                <a:cs typeface="Calibri" pitchFamily="34" charset="-120"/>
              </a:rPr>
              <a:t>정지 판단 움직임 임계값</a:t>
            </a:r>
            <a:endParaRPr lang="en-US" sz="800" dirty="0"/>
          </a:p>
        </p:txBody>
      </p:sp>
      <p:sp>
        <p:nvSpPr>
          <p:cNvPr id="14" name="Text 12"/>
          <p:cNvSpPr/>
          <p:nvPr/>
        </p:nvSpPr>
        <p:spPr>
          <a:xfrm>
            <a:off x="640080" y="2304288"/>
            <a:ext cx="1463040" cy="274320"/>
          </a:xfrm>
          <a:prstGeom prst="rect">
            <a:avLst/>
          </a:prstGeom>
          <a:noFill/>
          <a:ln/>
        </p:spPr>
        <p:txBody>
          <a:bodyPr wrap="square" lIns="0" tIns="0" rIns="0" bIns="0" rtlCol="0" anchor="ctr"/>
          <a:lstStyle/>
          <a:p>
            <a:pPr indent="0" marL="0">
              <a:buNone/>
            </a:pPr>
            <a:r>
              <a:rPr lang="en-US" sz="900" dirty="0">
                <a:solidFill>
                  <a:srgbClr val="E0E7EF"/>
                </a:solidFill>
                <a:latin typeface="Calibri" pitchFamily="34" charset="0"/>
                <a:ea typeface="Calibri" pitchFamily="34" charset="-122"/>
                <a:cs typeface="Calibri" pitchFamily="34" charset="-120"/>
              </a:rPr>
              <a:t>Stop Edge</a:t>
            </a:r>
            <a:endParaRPr lang="en-US" sz="900" dirty="0"/>
          </a:p>
        </p:txBody>
      </p:sp>
      <p:sp>
        <p:nvSpPr>
          <p:cNvPr id="15" name="Text 13"/>
          <p:cNvSpPr/>
          <p:nvPr/>
        </p:nvSpPr>
        <p:spPr>
          <a:xfrm>
            <a:off x="2103120" y="2304288"/>
            <a:ext cx="640080" cy="274320"/>
          </a:xfrm>
          <a:prstGeom prst="rect">
            <a:avLst/>
          </a:prstGeom>
          <a:noFill/>
          <a:ln/>
        </p:spPr>
        <p:txBody>
          <a:bodyPr wrap="square" lIns="0" tIns="0" rIns="0" bIns="0" rtlCol="0" anchor="ctr"/>
          <a:lstStyle/>
          <a:p>
            <a:pPr algn="r" indent="0" marL="0">
              <a:buNone/>
            </a:pPr>
            <a:r>
              <a:rPr lang="en-US" sz="900" b="1" dirty="0">
                <a:solidFill>
                  <a:srgbClr val="00B4D8"/>
                </a:solidFill>
                <a:latin typeface="Calibri" pitchFamily="34" charset="0"/>
                <a:ea typeface="Calibri" pitchFamily="34" charset="-122"/>
                <a:cs typeface="Calibri" pitchFamily="34" charset="-120"/>
              </a:rPr>
              <a:t>4.00</a:t>
            </a:r>
            <a:endParaRPr lang="en-US" sz="900" dirty="0"/>
          </a:p>
        </p:txBody>
      </p:sp>
      <p:sp>
        <p:nvSpPr>
          <p:cNvPr id="16" name="Text 14"/>
          <p:cNvSpPr/>
          <p:nvPr/>
        </p:nvSpPr>
        <p:spPr>
          <a:xfrm>
            <a:off x="2834640" y="2304288"/>
            <a:ext cx="1463040" cy="274320"/>
          </a:xfrm>
          <a:prstGeom prst="rect">
            <a:avLst/>
          </a:prstGeom>
          <a:noFill/>
          <a:ln/>
        </p:spPr>
        <p:txBody>
          <a:bodyPr wrap="square" lIns="0" tIns="0" rIns="0" bIns="0" rtlCol="0" anchor="ctr"/>
          <a:lstStyle/>
          <a:p>
            <a:pPr indent="0" marL="0">
              <a:buNone/>
            </a:pPr>
            <a:r>
              <a:rPr lang="en-US" sz="800" i="1" dirty="0">
                <a:solidFill>
                  <a:srgbClr val="8899AA"/>
                </a:solidFill>
                <a:latin typeface="Calibri" pitchFamily="34" charset="0"/>
                <a:ea typeface="Calibri" pitchFamily="34" charset="-122"/>
                <a:cs typeface="Calibri" pitchFamily="34" charset="-120"/>
              </a:rPr>
              <a:t>정지 판단 에지 임계값</a:t>
            </a:r>
            <a:endParaRPr lang="en-US" sz="800" dirty="0"/>
          </a:p>
        </p:txBody>
      </p:sp>
      <p:sp>
        <p:nvSpPr>
          <p:cNvPr id="17" name="Text 15"/>
          <p:cNvSpPr/>
          <p:nvPr/>
        </p:nvSpPr>
        <p:spPr>
          <a:xfrm>
            <a:off x="640080" y="2596896"/>
            <a:ext cx="1463040" cy="274320"/>
          </a:xfrm>
          <a:prstGeom prst="rect">
            <a:avLst/>
          </a:prstGeom>
          <a:noFill/>
          <a:ln/>
        </p:spPr>
        <p:txBody>
          <a:bodyPr wrap="square" lIns="0" tIns="0" rIns="0" bIns="0" rtlCol="0" anchor="ctr"/>
          <a:lstStyle/>
          <a:p>
            <a:pPr indent="0" marL="0">
              <a:buNone/>
            </a:pPr>
            <a:r>
              <a:rPr lang="en-US" sz="900" dirty="0">
                <a:solidFill>
                  <a:srgbClr val="E0E7EF"/>
                </a:solidFill>
                <a:latin typeface="Calibri" pitchFamily="34" charset="0"/>
                <a:ea typeface="Calibri" pitchFamily="34" charset="-122"/>
                <a:cs typeface="Calibri" pitchFamily="34" charset="-120"/>
              </a:rPr>
              <a:t>Stop Dark</a:t>
            </a:r>
            <a:endParaRPr lang="en-US" sz="900" dirty="0"/>
          </a:p>
        </p:txBody>
      </p:sp>
      <p:sp>
        <p:nvSpPr>
          <p:cNvPr id="18" name="Text 16"/>
          <p:cNvSpPr/>
          <p:nvPr/>
        </p:nvSpPr>
        <p:spPr>
          <a:xfrm>
            <a:off x="2103120" y="2596896"/>
            <a:ext cx="640080" cy="274320"/>
          </a:xfrm>
          <a:prstGeom prst="rect">
            <a:avLst/>
          </a:prstGeom>
          <a:noFill/>
          <a:ln/>
        </p:spPr>
        <p:txBody>
          <a:bodyPr wrap="square" lIns="0" tIns="0" rIns="0" bIns="0" rtlCol="0" anchor="ctr"/>
          <a:lstStyle/>
          <a:p>
            <a:pPr algn="r" indent="0" marL="0">
              <a:buNone/>
            </a:pPr>
            <a:r>
              <a:rPr lang="en-US" sz="900" b="1" dirty="0">
                <a:solidFill>
                  <a:srgbClr val="00B4D8"/>
                </a:solidFill>
                <a:latin typeface="Calibri" pitchFamily="34" charset="0"/>
                <a:ea typeface="Calibri" pitchFamily="34" charset="-122"/>
                <a:cs typeface="Calibri" pitchFamily="34" charset="-120"/>
              </a:rPr>
              <a:t>0.0200</a:t>
            </a:r>
            <a:endParaRPr lang="en-US" sz="900" dirty="0"/>
          </a:p>
        </p:txBody>
      </p:sp>
      <p:sp>
        <p:nvSpPr>
          <p:cNvPr id="19" name="Text 17"/>
          <p:cNvSpPr/>
          <p:nvPr/>
        </p:nvSpPr>
        <p:spPr>
          <a:xfrm>
            <a:off x="2834640" y="2596896"/>
            <a:ext cx="1463040" cy="274320"/>
          </a:xfrm>
          <a:prstGeom prst="rect">
            <a:avLst/>
          </a:prstGeom>
          <a:noFill/>
          <a:ln/>
        </p:spPr>
        <p:txBody>
          <a:bodyPr wrap="square" lIns="0" tIns="0" rIns="0" bIns="0" rtlCol="0" anchor="ctr"/>
          <a:lstStyle/>
          <a:p>
            <a:pPr indent="0" marL="0">
              <a:buNone/>
            </a:pPr>
            <a:r>
              <a:rPr lang="en-US" sz="800" i="1" dirty="0">
                <a:solidFill>
                  <a:srgbClr val="8899AA"/>
                </a:solidFill>
                <a:latin typeface="Calibri" pitchFamily="34" charset="0"/>
                <a:ea typeface="Calibri" pitchFamily="34" charset="-122"/>
                <a:cs typeface="Calibri" pitchFamily="34" charset="-120"/>
              </a:rPr>
              <a:t>정지 판단 어두움 임계값</a:t>
            </a:r>
            <a:endParaRPr lang="en-US" sz="800" dirty="0"/>
          </a:p>
        </p:txBody>
      </p:sp>
      <p:sp>
        <p:nvSpPr>
          <p:cNvPr id="20" name="Text 18"/>
          <p:cNvSpPr/>
          <p:nvPr/>
        </p:nvSpPr>
        <p:spPr>
          <a:xfrm>
            <a:off x="640080" y="2889504"/>
            <a:ext cx="1463040" cy="274320"/>
          </a:xfrm>
          <a:prstGeom prst="rect">
            <a:avLst/>
          </a:prstGeom>
          <a:noFill/>
          <a:ln/>
        </p:spPr>
        <p:txBody>
          <a:bodyPr wrap="square" lIns="0" tIns="0" rIns="0" bIns="0" rtlCol="0" anchor="ctr"/>
          <a:lstStyle/>
          <a:p>
            <a:pPr indent="0" marL="0">
              <a:buNone/>
            </a:pPr>
            <a:r>
              <a:rPr lang="en-US" sz="900" dirty="0">
                <a:solidFill>
                  <a:srgbClr val="E0E7EF"/>
                </a:solidFill>
                <a:latin typeface="Calibri" pitchFamily="34" charset="0"/>
                <a:ea typeface="Calibri" pitchFamily="34" charset="-122"/>
                <a:cs typeface="Calibri" pitchFamily="34" charset="-120"/>
              </a:rPr>
              <a:t>Reenter Motion</a:t>
            </a:r>
            <a:endParaRPr lang="en-US" sz="900" dirty="0"/>
          </a:p>
        </p:txBody>
      </p:sp>
      <p:sp>
        <p:nvSpPr>
          <p:cNvPr id="21" name="Text 19"/>
          <p:cNvSpPr/>
          <p:nvPr/>
        </p:nvSpPr>
        <p:spPr>
          <a:xfrm>
            <a:off x="2103120" y="2889504"/>
            <a:ext cx="640080" cy="274320"/>
          </a:xfrm>
          <a:prstGeom prst="rect">
            <a:avLst/>
          </a:prstGeom>
          <a:noFill/>
          <a:ln/>
        </p:spPr>
        <p:txBody>
          <a:bodyPr wrap="square" lIns="0" tIns="0" rIns="0" bIns="0" rtlCol="0" anchor="ctr"/>
          <a:lstStyle/>
          <a:p>
            <a:pPr algn="r" indent="0" marL="0">
              <a:buNone/>
            </a:pPr>
            <a:r>
              <a:rPr lang="en-US" sz="900" b="1" dirty="0">
                <a:solidFill>
                  <a:srgbClr val="00B4D8"/>
                </a:solidFill>
                <a:latin typeface="Calibri" pitchFamily="34" charset="0"/>
                <a:ea typeface="Calibri" pitchFamily="34" charset="-122"/>
                <a:cs typeface="Calibri" pitchFamily="34" charset="-120"/>
              </a:rPr>
              <a:t>12.00</a:t>
            </a:r>
            <a:endParaRPr lang="en-US" sz="900" dirty="0"/>
          </a:p>
        </p:txBody>
      </p:sp>
      <p:sp>
        <p:nvSpPr>
          <p:cNvPr id="22" name="Text 20"/>
          <p:cNvSpPr/>
          <p:nvPr/>
        </p:nvSpPr>
        <p:spPr>
          <a:xfrm>
            <a:off x="2834640" y="2889504"/>
            <a:ext cx="1463040" cy="274320"/>
          </a:xfrm>
          <a:prstGeom prst="rect">
            <a:avLst/>
          </a:prstGeom>
          <a:noFill/>
          <a:ln/>
        </p:spPr>
        <p:txBody>
          <a:bodyPr wrap="square" lIns="0" tIns="0" rIns="0" bIns="0" rtlCol="0" anchor="ctr"/>
          <a:lstStyle/>
          <a:p>
            <a:pPr indent="0" marL="0">
              <a:buNone/>
            </a:pPr>
            <a:r>
              <a:rPr lang="en-US" sz="800" i="1" dirty="0">
                <a:solidFill>
                  <a:srgbClr val="8899AA"/>
                </a:solidFill>
                <a:latin typeface="Calibri" pitchFamily="34" charset="0"/>
                <a:ea typeface="Calibri" pitchFamily="34" charset="-122"/>
                <a:cs typeface="Calibri" pitchFamily="34" charset="-120"/>
              </a:rPr>
              <a:t>재진입 움직임 임계값</a:t>
            </a:r>
            <a:endParaRPr lang="en-US" sz="800" dirty="0"/>
          </a:p>
        </p:txBody>
      </p:sp>
      <p:sp>
        <p:nvSpPr>
          <p:cNvPr id="23" name="Text 21"/>
          <p:cNvSpPr/>
          <p:nvPr/>
        </p:nvSpPr>
        <p:spPr>
          <a:xfrm>
            <a:off x="640080" y="3182112"/>
            <a:ext cx="1463040" cy="274320"/>
          </a:xfrm>
          <a:prstGeom prst="rect">
            <a:avLst/>
          </a:prstGeom>
          <a:noFill/>
          <a:ln/>
        </p:spPr>
        <p:txBody>
          <a:bodyPr wrap="square" lIns="0" tIns="0" rIns="0" bIns="0" rtlCol="0" anchor="ctr"/>
          <a:lstStyle/>
          <a:p>
            <a:pPr indent="0" marL="0">
              <a:buNone/>
            </a:pPr>
            <a:r>
              <a:rPr lang="en-US" sz="900" dirty="0">
                <a:solidFill>
                  <a:srgbClr val="E0E7EF"/>
                </a:solidFill>
                <a:latin typeface="Calibri" pitchFamily="34" charset="0"/>
                <a:ea typeface="Calibri" pitchFamily="34" charset="-122"/>
                <a:cs typeface="Calibri" pitchFamily="34" charset="-120"/>
              </a:rPr>
              <a:t>Reenter Edge</a:t>
            </a:r>
            <a:endParaRPr lang="en-US" sz="900" dirty="0"/>
          </a:p>
        </p:txBody>
      </p:sp>
      <p:sp>
        <p:nvSpPr>
          <p:cNvPr id="24" name="Text 22"/>
          <p:cNvSpPr/>
          <p:nvPr/>
        </p:nvSpPr>
        <p:spPr>
          <a:xfrm>
            <a:off x="2103120" y="3182112"/>
            <a:ext cx="640080" cy="274320"/>
          </a:xfrm>
          <a:prstGeom prst="rect">
            <a:avLst/>
          </a:prstGeom>
          <a:noFill/>
          <a:ln/>
        </p:spPr>
        <p:txBody>
          <a:bodyPr wrap="square" lIns="0" tIns="0" rIns="0" bIns="0" rtlCol="0" anchor="ctr"/>
          <a:lstStyle/>
          <a:p>
            <a:pPr algn="r" indent="0" marL="0">
              <a:buNone/>
            </a:pPr>
            <a:r>
              <a:rPr lang="en-US" sz="900" b="1" dirty="0">
                <a:solidFill>
                  <a:srgbClr val="00B4D8"/>
                </a:solidFill>
                <a:latin typeface="Calibri" pitchFamily="34" charset="0"/>
                <a:ea typeface="Calibri" pitchFamily="34" charset="-122"/>
                <a:cs typeface="Calibri" pitchFamily="34" charset="-120"/>
              </a:rPr>
              <a:t>12.00</a:t>
            </a:r>
            <a:endParaRPr lang="en-US" sz="900" dirty="0"/>
          </a:p>
        </p:txBody>
      </p:sp>
      <p:sp>
        <p:nvSpPr>
          <p:cNvPr id="25" name="Text 23"/>
          <p:cNvSpPr/>
          <p:nvPr/>
        </p:nvSpPr>
        <p:spPr>
          <a:xfrm>
            <a:off x="2834640" y="3182112"/>
            <a:ext cx="1463040" cy="274320"/>
          </a:xfrm>
          <a:prstGeom prst="rect">
            <a:avLst/>
          </a:prstGeom>
          <a:noFill/>
          <a:ln/>
        </p:spPr>
        <p:txBody>
          <a:bodyPr wrap="square" lIns="0" tIns="0" rIns="0" bIns="0" rtlCol="0" anchor="ctr"/>
          <a:lstStyle/>
          <a:p>
            <a:pPr indent="0" marL="0">
              <a:buNone/>
            </a:pPr>
            <a:r>
              <a:rPr lang="en-US" sz="800" i="1" dirty="0">
                <a:solidFill>
                  <a:srgbClr val="8899AA"/>
                </a:solidFill>
                <a:latin typeface="Calibri" pitchFamily="34" charset="0"/>
                <a:ea typeface="Calibri" pitchFamily="34" charset="-122"/>
                <a:cs typeface="Calibri" pitchFamily="34" charset="-120"/>
              </a:rPr>
              <a:t>재진입 에지 임계값</a:t>
            </a:r>
            <a:endParaRPr lang="en-US" sz="800" dirty="0"/>
          </a:p>
        </p:txBody>
      </p:sp>
      <p:sp>
        <p:nvSpPr>
          <p:cNvPr id="26" name="Text 24"/>
          <p:cNvSpPr/>
          <p:nvPr/>
        </p:nvSpPr>
        <p:spPr>
          <a:xfrm>
            <a:off x="640080" y="3474720"/>
            <a:ext cx="1463040" cy="274320"/>
          </a:xfrm>
          <a:prstGeom prst="rect">
            <a:avLst/>
          </a:prstGeom>
          <a:noFill/>
          <a:ln/>
        </p:spPr>
        <p:txBody>
          <a:bodyPr wrap="square" lIns="0" tIns="0" rIns="0" bIns="0" rtlCol="0" anchor="ctr"/>
          <a:lstStyle/>
          <a:p>
            <a:pPr indent="0" marL="0">
              <a:buNone/>
            </a:pPr>
            <a:r>
              <a:rPr lang="en-US" sz="900" dirty="0">
                <a:solidFill>
                  <a:srgbClr val="E0E7EF"/>
                </a:solidFill>
                <a:latin typeface="Calibri" pitchFamily="34" charset="0"/>
                <a:ea typeface="Calibri" pitchFamily="34" charset="-122"/>
                <a:cs typeface="Calibri" pitchFamily="34" charset="-120"/>
              </a:rPr>
              <a:t>Reenter Dark</a:t>
            </a:r>
            <a:endParaRPr lang="en-US" sz="900" dirty="0"/>
          </a:p>
        </p:txBody>
      </p:sp>
      <p:sp>
        <p:nvSpPr>
          <p:cNvPr id="27" name="Text 25"/>
          <p:cNvSpPr/>
          <p:nvPr/>
        </p:nvSpPr>
        <p:spPr>
          <a:xfrm>
            <a:off x="2103120" y="3474720"/>
            <a:ext cx="640080" cy="274320"/>
          </a:xfrm>
          <a:prstGeom prst="rect">
            <a:avLst/>
          </a:prstGeom>
          <a:noFill/>
          <a:ln/>
        </p:spPr>
        <p:txBody>
          <a:bodyPr wrap="square" lIns="0" tIns="0" rIns="0" bIns="0" rtlCol="0" anchor="ctr"/>
          <a:lstStyle/>
          <a:p>
            <a:pPr algn="r" indent="0" marL="0">
              <a:buNone/>
            </a:pPr>
            <a:r>
              <a:rPr lang="en-US" sz="900" b="1" dirty="0">
                <a:solidFill>
                  <a:srgbClr val="00B4D8"/>
                </a:solidFill>
                <a:latin typeface="Calibri" pitchFamily="34" charset="0"/>
                <a:ea typeface="Calibri" pitchFamily="34" charset="-122"/>
                <a:cs typeface="Calibri" pitchFamily="34" charset="-120"/>
              </a:rPr>
              <a:t>0.0500</a:t>
            </a:r>
            <a:endParaRPr lang="en-US" sz="900" dirty="0"/>
          </a:p>
        </p:txBody>
      </p:sp>
      <p:sp>
        <p:nvSpPr>
          <p:cNvPr id="28" name="Text 26"/>
          <p:cNvSpPr/>
          <p:nvPr/>
        </p:nvSpPr>
        <p:spPr>
          <a:xfrm>
            <a:off x="2834640" y="3474720"/>
            <a:ext cx="1463040" cy="274320"/>
          </a:xfrm>
          <a:prstGeom prst="rect">
            <a:avLst/>
          </a:prstGeom>
          <a:noFill/>
          <a:ln/>
        </p:spPr>
        <p:txBody>
          <a:bodyPr wrap="square" lIns="0" tIns="0" rIns="0" bIns="0" rtlCol="0" anchor="ctr"/>
          <a:lstStyle/>
          <a:p>
            <a:pPr indent="0" marL="0">
              <a:buNone/>
            </a:pPr>
            <a:r>
              <a:rPr lang="en-US" sz="800" i="1" dirty="0">
                <a:solidFill>
                  <a:srgbClr val="8899AA"/>
                </a:solidFill>
                <a:latin typeface="Calibri" pitchFamily="34" charset="0"/>
                <a:ea typeface="Calibri" pitchFamily="34" charset="-122"/>
                <a:cs typeface="Calibri" pitchFamily="34" charset="-120"/>
              </a:rPr>
              <a:t>재진입 어두움 임계값</a:t>
            </a:r>
            <a:endParaRPr lang="en-US" sz="800" dirty="0"/>
          </a:p>
        </p:txBody>
      </p:sp>
      <p:sp>
        <p:nvSpPr>
          <p:cNvPr id="29" name="Text 27"/>
          <p:cNvSpPr/>
          <p:nvPr/>
        </p:nvSpPr>
        <p:spPr>
          <a:xfrm>
            <a:off x="640080" y="3767328"/>
            <a:ext cx="1463040" cy="274320"/>
          </a:xfrm>
          <a:prstGeom prst="rect">
            <a:avLst/>
          </a:prstGeom>
          <a:noFill/>
          <a:ln/>
        </p:spPr>
        <p:txBody>
          <a:bodyPr wrap="square" lIns="0" tIns="0" rIns="0" bIns="0" rtlCol="0" anchor="ctr"/>
          <a:lstStyle/>
          <a:p>
            <a:pPr indent="0" marL="0">
              <a:buNone/>
            </a:pPr>
            <a:r>
              <a:rPr lang="en-US" sz="900" dirty="0">
                <a:solidFill>
                  <a:srgbClr val="E0E7EF"/>
                </a:solidFill>
                <a:latin typeface="Calibri" pitchFamily="34" charset="0"/>
                <a:ea typeface="Calibri" pitchFamily="34" charset="-122"/>
                <a:cs typeface="Calibri" pitchFamily="34" charset="-120"/>
              </a:rPr>
              <a:t>Candidate Frames</a:t>
            </a:r>
            <a:endParaRPr lang="en-US" sz="900" dirty="0"/>
          </a:p>
        </p:txBody>
      </p:sp>
      <p:sp>
        <p:nvSpPr>
          <p:cNvPr id="30" name="Text 28"/>
          <p:cNvSpPr/>
          <p:nvPr/>
        </p:nvSpPr>
        <p:spPr>
          <a:xfrm>
            <a:off x="2103120" y="3767328"/>
            <a:ext cx="640080" cy="274320"/>
          </a:xfrm>
          <a:prstGeom prst="rect">
            <a:avLst/>
          </a:prstGeom>
          <a:noFill/>
          <a:ln/>
        </p:spPr>
        <p:txBody>
          <a:bodyPr wrap="square" lIns="0" tIns="0" rIns="0" bIns="0" rtlCol="0" anchor="ctr"/>
          <a:lstStyle/>
          <a:p>
            <a:pPr algn="r" indent="0" marL="0">
              <a:buNone/>
            </a:pPr>
            <a:r>
              <a:rPr lang="en-US" sz="900" b="1" dirty="0">
                <a:solidFill>
                  <a:srgbClr val="00B4D8"/>
                </a:solidFill>
                <a:latin typeface="Calibri" pitchFamily="34" charset="0"/>
                <a:ea typeface="Calibri" pitchFamily="34" charset="-122"/>
                <a:cs typeface="Calibri" pitchFamily="34" charset="-120"/>
              </a:rPr>
              <a:t>2</a:t>
            </a:r>
            <a:endParaRPr lang="en-US" sz="900" dirty="0"/>
          </a:p>
        </p:txBody>
      </p:sp>
      <p:sp>
        <p:nvSpPr>
          <p:cNvPr id="31" name="Text 29"/>
          <p:cNvSpPr/>
          <p:nvPr/>
        </p:nvSpPr>
        <p:spPr>
          <a:xfrm>
            <a:off x="2834640" y="3767328"/>
            <a:ext cx="1463040" cy="274320"/>
          </a:xfrm>
          <a:prstGeom prst="rect">
            <a:avLst/>
          </a:prstGeom>
          <a:noFill/>
          <a:ln/>
        </p:spPr>
        <p:txBody>
          <a:bodyPr wrap="square" lIns="0" tIns="0" rIns="0" bIns="0" rtlCol="0" anchor="ctr"/>
          <a:lstStyle/>
          <a:p>
            <a:pPr indent="0" marL="0">
              <a:buNone/>
            </a:pPr>
            <a:r>
              <a:rPr lang="en-US" sz="800" i="1" dirty="0">
                <a:solidFill>
                  <a:srgbClr val="8899AA"/>
                </a:solidFill>
                <a:latin typeface="Calibri" pitchFamily="34" charset="0"/>
                <a:ea typeface="Calibri" pitchFamily="34" charset="-122"/>
                <a:cs typeface="Calibri" pitchFamily="34" charset="-120"/>
              </a:rPr>
              <a:t>후보 프레임 수</a:t>
            </a:r>
            <a:endParaRPr lang="en-US" sz="800" dirty="0"/>
          </a:p>
        </p:txBody>
      </p:sp>
      <p:sp>
        <p:nvSpPr>
          <p:cNvPr id="32" name="Text 30"/>
          <p:cNvSpPr/>
          <p:nvPr/>
        </p:nvSpPr>
        <p:spPr>
          <a:xfrm>
            <a:off x="640080" y="4059936"/>
            <a:ext cx="1463040" cy="274320"/>
          </a:xfrm>
          <a:prstGeom prst="rect">
            <a:avLst/>
          </a:prstGeom>
          <a:noFill/>
          <a:ln/>
        </p:spPr>
        <p:txBody>
          <a:bodyPr wrap="square" lIns="0" tIns="0" rIns="0" bIns="0" rtlCol="0" anchor="ctr"/>
          <a:lstStyle/>
          <a:p>
            <a:pPr indent="0" marL="0">
              <a:buNone/>
            </a:pPr>
            <a:r>
              <a:rPr lang="en-US" sz="900" dirty="0">
                <a:solidFill>
                  <a:srgbClr val="E0E7EF"/>
                </a:solidFill>
                <a:latin typeface="Calibri" pitchFamily="34" charset="0"/>
                <a:ea typeface="Calibri" pitchFamily="34" charset="-122"/>
                <a:cs typeface="Calibri" pitchFamily="34" charset="-120"/>
              </a:rPr>
              <a:t>Confirm Frames</a:t>
            </a:r>
            <a:endParaRPr lang="en-US" sz="900" dirty="0"/>
          </a:p>
        </p:txBody>
      </p:sp>
      <p:sp>
        <p:nvSpPr>
          <p:cNvPr id="33" name="Text 31"/>
          <p:cNvSpPr/>
          <p:nvPr/>
        </p:nvSpPr>
        <p:spPr>
          <a:xfrm>
            <a:off x="2103120" y="4059936"/>
            <a:ext cx="640080" cy="274320"/>
          </a:xfrm>
          <a:prstGeom prst="rect">
            <a:avLst/>
          </a:prstGeom>
          <a:noFill/>
          <a:ln/>
        </p:spPr>
        <p:txBody>
          <a:bodyPr wrap="square" lIns="0" tIns="0" rIns="0" bIns="0" rtlCol="0" anchor="ctr"/>
          <a:lstStyle/>
          <a:p>
            <a:pPr algn="r" indent="0" marL="0">
              <a:buNone/>
            </a:pPr>
            <a:r>
              <a:rPr lang="en-US" sz="900" b="1" dirty="0">
                <a:solidFill>
                  <a:srgbClr val="00B4D8"/>
                </a:solidFill>
                <a:latin typeface="Calibri" pitchFamily="34" charset="0"/>
                <a:ea typeface="Calibri" pitchFamily="34" charset="-122"/>
                <a:cs typeface="Calibri" pitchFamily="34" charset="-120"/>
              </a:rPr>
              <a:t>4</a:t>
            </a:r>
            <a:endParaRPr lang="en-US" sz="900" dirty="0"/>
          </a:p>
        </p:txBody>
      </p:sp>
      <p:sp>
        <p:nvSpPr>
          <p:cNvPr id="34" name="Text 32"/>
          <p:cNvSpPr/>
          <p:nvPr/>
        </p:nvSpPr>
        <p:spPr>
          <a:xfrm>
            <a:off x="2834640" y="4059936"/>
            <a:ext cx="1463040" cy="274320"/>
          </a:xfrm>
          <a:prstGeom prst="rect">
            <a:avLst/>
          </a:prstGeom>
          <a:noFill/>
          <a:ln/>
        </p:spPr>
        <p:txBody>
          <a:bodyPr wrap="square" lIns="0" tIns="0" rIns="0" bIns="0" rtlCol="0" anchor="ctr"/>
          <a:lstStyle/>
          <a:p>
            <a:pPr indent="0" marL="0">
              <a:buNone/>
            </a:pPr>
            <a:r>
              <a:rPr lang="en-US" sz="800" i="1" dirty="0">
                <a:solidFill>
                  <a:srgbClr val="8899AA"/>
                </a:solidFill>
                <a:latin typeface="Calibri" pitchFamily="34" charset="0"/>
                <a:ea typeface="Calibri" pitchFamily="34" charset="-122"/>
                <a:cs typeface="Calibri" pitchFamily="34" charset="-120"/>
              </a:rPr>
              <a:t>확정 프레임 수</a:t>
            </a:r>
            <a:endParaRPr lang="en-US" sz="800" dirty="0"/>
          </a:p>
        </p:txBody>
      </p:sp>
      <p:sp>
        <p:nvSpPr>
          <p:cNvPr id="35" name="Shape 33"/>
          <p:cNvSpPr/>
          <p:nvPr/>
        </p:nvSpPr>
        <p:spPr>
          <a:xfrm>
            <a:off x="4663440" y="1508760"/>
            <a:ext cx="4023360" cy="146304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36" name="Text 34"/>
          <p:cNvSpPr/>
          <p:nvPr/>
        </p:nvSpPr>
        <p:spPr>
          <a:xfrm>
            <a:off x="4846320" y="1600200"/>
            <a:ext cx="3657600" cy="320040"/>
          </a:xfrm>
          <a:prstGeom prst="rect">
            <a:avLst/>
          </a:prstGeom>
          <a:noFill/>
          <a:ln/>
        </p:spPr>
        <p:txBody>
          <a:bodyPr wrap="square" lIns="0" tIns="0" rIns="0" bIns="0"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일반 검출 (Threshold)</a:t>
            </a:r>
            <a:endParaRPr lang="en-US" sz="1400" dirty="0"/>
          </a:p>
        </p:txBody>
      </p:sp>
      <p:sp>
        <p:nvSpPr>
          <p:cNvPr id="37" name="Text 35"/>
          <p:cNvSpPr/>
          <p:nvPr/>
        </p:nvSpPr>
        <p:spPr>
          <a:xfrm>
            <a:off x="4846320" y="1965960"/>
            <a:ext cx="3657600" cy="86868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Threshold:  220</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Min Area:  4</a:t>
            </a:r>
            <a:endParaRPr lang="en-US" sz="1100" dirty="0"/>
          </a:p>
          <a:p>
            <a:pPr indent="0" marL="0">
              <a:buNone/>
            </a:pPr>
            <a:r>
              <a:rPr lang="en-US" sz="900" i="1" dirty="0">
                <a:solidFill>
                  <a:srgbClr val="8899AA"/>
                </a:solidFill>
                <a:latin typeface="Calibri" pitchFamily="34" charset="0"/>
                <a:ea typeface="Calibri" pitchFamily="34" charset="-122"/>
                <a:cs typeface="Calibri" pitchFamily="34" charset="-120"/>
              </a:rPr>
              <a:t>→ 밝기 기반 이진화 후 최소 면적 이상의 객체만 검출</a:t>
            </a:r>
            <a:endParaRPr lang="en-US" sz="1100" dirty="0"/>
          </a:p>
        </p:txBody>
      </p:sp>
      <p:sp>
        <p:nvSpPr>
          <p:cNvPr id="38" name="Shape 36"/>
          <p:cNvSpPr/>
          <p:nvPr/>
        </p:nvSpPr>
        <p:spPr>
          <a:xfrm>
            <a:off x="4663440" y="3154680"/>
            <a:ext cx="4023360" cy="137160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39" name="Text 37"/>
          <p:cNvSpPr/>
          <p:nvPr/>
        </p:nvSpPr>
        <p:spPr>
          <a:xfrm>
            <a:off x="4846320" y="3246120"/>
            <a:ext cx="3657600" cy="320040"/>
          </a:xfrm>
          <a:prstGeom prst="rect">
            <a:avLst/>
          </a:prstGeom>
          <a:noFill/>
          <a:ln/>
        </p:spPr>
        <p:txBody>
          <a:bodyPr wrap="square" lIns="0" tIns="0" rIns="0" bIns="0" rtlCol="0" anchor="ctr"/>
          <a:lstStyle/>
          <a:p>
            <a:pPr indent="0" marL="0">
              <a:buNone/>
            </a:pPr>
            <a:r>
              <a:rPr lang="en-US" sz="1400" b="1" dirty="0">
                <a:solidFill>
                  <a:srgbClr val="00B4D8"/>
                </a:solidFill>
                <a:latin typeface="Calibri" pitchFamily="34" charset="0"/>
                <a:ea typeface="Calibri" pitchFamily="34" charset="-122"/>
                <a:cs typeface="Calibri" pitchFamily="34" charset="-120"/>
              </a:rPr>
              <a:t>분류 조건</a:t>
            </a:r>
            <a:endParaRPr lang="en-US" sz="1400" dirty="0"/>
          </a:p>
        </p:txBody>
      </p:sp>
      <p:sp>
        <p:nvSpPr>
          <p:cNvPr id="40" name="Text 38"/>
          <p:cNvSpPr/>
          <p:nvPr/>
        </p:nvSpPr>
        <p:spPr>
          <a:xfrm>
            <a:off x="4846320" y="3611880"/>
            <a:ext cx="3657600" cy="77724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Noise/Particle 대비 임계값:  10</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디버그 뷰: VIEW ALL / NOISE / PARTICLE</a:t>
            </a:r>
            <a:endParaRPr lang="en-US" sz="1100" dirty="0"/>
          </a:p>
          <a:p>
            <a:pPr indent="0" marL="0">
              <a:buNone/>
            </a:pPr>
            <a:r>
              <a:rPr lang="en-US" sz="900" i="1" dirty="0">
                <a:solidFill>
                  <a:srgbClr val="8899AA"/>
                </a:solidFill>
                <a:latin typeface="Calibri" pitchFamily="34" charset="0"/>
                <a:ea typeface="Calibri" pitchFamily="34" charset="-122"/>
                <a:cs typeface="Calibri" pitchFamily="34" charset="-120"/>
              </a:rPr>
              <a:t>→ 대비값 기준으로 Noise와 Particle을 자동 분류</a:t>
            </a:r>
            <a:endParaRPr lang="en-US" sz="1100" dirty="0"/>
          </a:p>
        </p:txBody>
      </p:sp>
      <p:sp>
        <p:nvSpPr>
          <p:cNvPr id="41" name="Text 39"/>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8899AA"/>
                </a:solidFill>
              </a:rPr>
              <a:t>7 / 11</a:t>
            </a:r>
            <a:endParaRPr lang="en-US" sz="900" dirty="0"/>
          </a:p>
        </p:txBody>
      </p:sp>
      <p:sp>
        <p:nvSpPr>
          <p:cNvPr id="42" name="Text 40"/>
          <p:cNvSpPr/>
          <p:nvPr/>
        </p:nvSpPr>
        <p:spPr>
          <a:xfrm>
            <a:off x="457200" y="4754880"/>
            <a:ext cx="1828800" cy="274320"/>
          </a:xfrm>
          <a:prstGeom prst="rect">
            <a:avLst/>
          </a:prstGeom>
          <a:noFill/>
          <a:ln/>
        </p:spPr>
        <p:txBody>
          <a:bodyPr wrap="square" rtlCol="0" anchor="ctr"/>
          <a:lstStyle/>
          <a:p>
            <a:pPr algn="l" indent="0" marL="0">
              <a:buNone/>
            </a:pPr>
            <a:r>
              <a:rPr lang="en-US" sz="900" dirty="0">
                <a:solidFill>
                  <a:srgbClr val="8899AA"/>
                </a:solidFill>
              </a:rPr>
              <a:t>NOVAnix-DVI</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E3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검사 파라미터 — Bubble 검출</a:t>
            </a:r>
            <a:endParaRPr lang="en-US" sz="2600" dirty="0"/>
          </a:p>
        </p:txBody>
      </p:sp>
      <p:sp>
        <p:nvSpPr>
          <p:cNvPr id="3" name="Shape 1"/>
          <p:cNvSpPr/>
          <p:nvPr/>
        </p:nvSpPr>
        <p:spPr>
          <a:xfrm>
            <a:off x="457200" y="960120"/>
            <a:ext cx="2011680" cy="320040"/>
          </a:xfrm>
          <a:prstGeom prst="rect">
            <a:avLst/>
          </a:prstGeom>
          <a:solidFill>
            <a:srgbClr val="1C2940"/>
          </a:solidFill>
          <a:ln/>
        </p:spPr>
      </p:sp>
      <p:sp>
        <p:nvSpPr>
          <p:cNvPr id="4" name="Text 2"/>
          <p:cNvSpPr/>
          <p:nvPr/>
        </p:nvSpPr>
        <p:spPr>
          <a:xfrm>
            <a:off x="457200" y="960120"/>
            <a:ext cx="2011680" cy="320040"/>
          </a:xfrm>
          <a:prstGeom prst="rect">
            <a:avLst/>
          </a:prstGeom>
          <a:noFill/>
          <a:ln/>
        </p:spPr>
        <p:txBody>
          <a:bodyPr wrap="square" lIns="0" tIns="0" rIns="0" bIns="0"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분류/검출 조건</a:t>
            </a:r>
            <a:endParaRPr lang="en-US" sz="1000" dirty="0"/>
          </a:p>
        </p:txBody>
      </p:sp>
      <p:sp>
        <p:nvSpPr>
          <p:cNvPr id="5" name="Shape 3"/>
          <p:cNvSpPr/>
          <p:nvPr/>
        </p:nvSpPr>
        <p:spPr>
          <a:xfrm>
            <a:off x="2743200" y="960120"/>
            <a:ext cx="2011680" cy="320040"/>
          </a:xfrm>
          <a:prstGeom prst="rect">
            <a:avLst/>
          </a:prstGeom>
          <a:solidFill>
            <a:srgbClr val="00B4D8"/>
          </a:solidFill>
          <a:ln/>
        </p:spPr>
      </p:sp>
      <p:sp>
        <p:nvSpPr>
          <p:cNvPr id="6" name="Text 4"/>
          <p:cNvSpPr/>
          <p:nvPr/>
        </p:nvSpPr>
        <p:spPr>
          <a:xfrm>
            <a:off x="2743200" y="960120"/>
            <a:ext cx="2011680" cy="320040"/>
          </a:xfrm>
          <a:prstGeom prst="rect">
            <a:avLst/>
          </a:prstGeom>
          <a:noFill/>
          <a:ln/>
        </p:spPr>
        <p:txBody>
          <a:bodyPr wrap="square" lIns="0" tIns="0" rIns="0" bIns="0" rtlCol="0" anchor="ctr"/>
          <a:lstStyle/>
          <a:p>
            <a:pPr algn="ctr" indent="0" marL="0">
              <a:buNone/>
            </a:pPr>
            <a:r>
              <a:rPr lang="en-US" sz="1000" b="1" dirty="0">
                <a:solidFill>
                  <a:srgbClr val="0F1B2D"/>
                </a:solidFill>
                <a:latin typeface="Calibri" pitchFamily="34" charset="0"/>
                <a:ea typeface="Calibri" pitchFamily="34" charset="-122"/>
                <a:cs typeface="Calibri" pitchFamily="34" charset="-120"/>
              </a:rPr>
              <a:t>Bubble 검출</a:t>
            </a:r>
            <a:endParaRPr lang="en-US" sz="1000" dirty="0"/>
          </a:p>
        </p:txBody>
      </p:sp>
      <p:sp>
        <p:nvSpPr>
          <p:cNvPr id="7" name="Shape 5"/>
          <p:cNvSpPr/>
          <p:nvPr/>
        </p:nvSpPr>
        <p:spPr>
          <a:xfrm>
            <a:off x="5029200" y="960120"/>
            <a:ext cx="2011680" cy="320040"/>
          </a:xfrm>
          <a:prstGeom prst="rect">
            <a:avLst/>
          </a:prstGeom>
          <a:solidFill>
            <a:srgbClr val="1C2940"/>
          </a:solidFill>
          <a:ln/>
        </p:spPr>
      </p:sp>
      <p:sp>
        <p:nvSpPr>
          <p:cNvPr id="8" name="Text 6"/>
          <p:cNvSpPr/>
          <p:nvPr/>
        </p:nvSpPr>
        <p:spPr>
          <a:xfrm>
            <a:off x="5029200" y="960120"/>
            <a:ext cx="2011680" cy="320040"/>
          </a:xfrm>
          <a:prstGeom prst="rect">
            <a:avLst/>
          </a:prstGeom>
          <a:noFill/>
          <a:ln/>
        </p:spPr>
        <p:txBody>
          <a:bodyPr wrap="square" lIns="0" tIns="0" rIns="0" bIns="0"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DL 최적화</a:t>
            </a:r>
            <a:endParaRPr lang="en-US" sz="1000" dirty="0"/>
          </a:p>
        </p:txBody>
      </p:sp>
      <p:sp>
        <p:nvSpPr>
          <p:cNvPr id="9" name="Shape 7"/>
          <p:cNvSpPr/>
          <p:nvPr/>
        </p:nvSpPr>
        <p:spPr>
          <a:xfrm>
            <a:off x="457200" y="1508760"/>
            <a:ext cx="2606040" cy="14173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0" name="Shape 8"/>
          <p:cNvSpPr/>
          <p:nvPr/>
        </p:nvSpPr>
        <p:spPr>
          <a:xfrm>
            <a:off x="594360" y="1645920"/>
            <a:ext cx="365760" cy="365760"/>
          </a:xfrm>
          <a:prstGeom prst="ellipse">
            <a:avLst/>
          </a:prstGeom>
          <a:solidFill>
            <a:srgbClr val="0077B6"/>
          </a:solidFill>
          <a:ln/>
        </p:spPr>
      </p:sp>
      <p:sp>
        <p:nvSpPr>
          <p:cNvPr id="11" name="Text 9"/>
          <p:cNvSpPr/>
          <p:nvPr/>
        </p:nvSpPr>
        <p:spPr>
          <a:xfrm>
            <a:off x="594360" y="1645920"/>
            <a:ext cx="365760" cy="365760"/>
          </a:xfrm>
          <a:prstGeom prst="rect">
            <a:avLst/>
          </a:prstGeom>
          <a:noFill/>
          <a:ln/>
        </p:spPr>
        <p:txBody>
          <a:bodyPr wrap="square" lIns="0" tIns="0" rIns="0" bIns="0" rtlCol="0" anchor="ctr"/>
          <a:lstStyle/>
          <a:p>
            <a:pPr algn="ctr" indent="0" marL="0">
              <a:buNone/>
            </a:pPr>
            <a:r>
              <a:rPr lang="en-US" sz="720" b="1" dirty="0">
                <a:solidFill>
                  <a:srgbClr val="FFFFFF"/>
                </a:solidFill>
                <a:latin typeface="Calibri" pitchFamily="34" charset="0"/>
                <a:ea typeface="Calibri" pitchFamily="34" charset="-122"/>
                <a:cs typeface="Calibri" pitchFamily="34" charset="-120"/>
              </a:rPr>
              <a:t>1</a:t>
            </a:r>
            <a:endParaRPr lang="en-US" sz="720" dirty="0"/>
          </a:p>
        </p:txBody>
      </p:sp>
      <p:sp>
        <p:nvSpPr>
          <p:cNvPr id="12" name="Text 10"/>
          <p:cNvSpPr/>
          <p:nvPr/>
        </p:nvSpPr>
        <p:spPr>
          <a:xfrm>
            <a:off x="1051560" y="1645920"/>
            <a:ext cx="18288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배경 평탄화</a:t>
            </a:r>
            <a:endParaRPr lang="en-US" sz="1400" dirty="0"/>
          </a:p>
        </p:txBody>
      </p:sp>
      <p:sp>
        <p:nvSpPr>
          <p:cNvPr id="13" name="Text 11"/>
          <p:cNvSpPr/>
          <p:nvPr/>
        </p:nvSpPr>
        <p:spPr>
          <a:xfrm>
            <a:off x="640080" y="2057400"/>
            <a:ext cx="2286000" cy="73152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Morph Opening</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커널: 20, σ: 2.0</a:t>
            </a:r>
            <a:endParaRPr lang="en-US" sz="1100" dirty="0"/>
          </a:p>
        </p:txBody>
      </p:sp>
      <p:sp>
        <p:nvSpPr>
          <p:cNvPr id="14" name="Shape 12"/>
          <p:cNvSpPr/>
          <p:nvPr/>
        </p:nvSpPr>
        <p:spPr>
          <a:xfrm>
            <a:off x="3337560" y="1508760"/>
            <a:ext cx="2606040" cy="14173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5" name="Shape 13"/>
          <p:cNvSpPr/>
          <p:nvPr/>
        </p:nvSpPr>
        <p:spPr>
          <a:xfrm>
            <a:off x="3474720" y="1645920"/>
            <a:ext cx="365760" cy="365760"/>
          </a:xfrm>
          <a:prstGeom prst="ellipse">
            <a:avLst/>
          </a:prstGeom>
          <a:solidFill>
            <a:srgbClr val="0D9488"/>
          </a:solidFill>
          <a:ln/>
        </p:spPr>
      </p:sp>
      <p:sp>
        <p:nvSpPr>
          <p:cNvPr id="16" name="Text 14"/>
          <p:cNvSpPr/>
          <p:nvPr/>
        </p:nvSpPr>
        <p:spPr>
          <a:xfrm>
            <a:off x="3474720" y="1645920"/>
            <a:ext cx="365760" cy="365760"/>
          </a:xfrm>
          <a:prstGeom prst="rect">
            <a:avLst/>
          </a:prstGeom>
          <a:noFill/>
          <a:ln/>
        </p:spPr>
        <p:txBody>
          <a:bodyPr wrap="square" lIns="0" tIns="0" rIns="0" bIns="0" rtlCol="0" anchor="ctr"/>
          <a:lstStyle/>
          <a:p>
            <a:pPr algn="ctr" indent="0" marL="0">
              <a:buNone/>
            </a:pPr>
            <a:r>
              <a:rPr lang="en-US" sz="720" b="1" dirty="0">
                <a:solidFill>
                  <a:srgbClr val="FFFFFF"/>
                </a:solidFill>
                <a:latin typeface="Calibri" pitchFamily="34" charset="0"/>
                <a:ea typeface="Calibri" pitchFamily="34" charset="-122"/>
                <a:cs typeface="Calibri" pitchFamily="34" charset="-120"/>
              </a:rPr>
              <a:t>2</a:t>
            </a:r>
            <a:endParaRPr lang="en-US" sz="720" dirty="0"/>
          </a:p>
        </p:txBody>
      </p:sp>
      <p:sp>
        <p:nvSpPr>
          <p:cNvPr id="17" name="Text 15"/>
          <p:cNvSpPr/>
          <p:nvPr/>
        </p:nvSpPr>
        <p:spPr>
          <a:xfrm>
            <a:off x="3931920" y="1645920"/>
            <a:ext cx="18288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CLAHE</a:t>
            </a:r>
            <a:endParaRPr lang="en-US" sz="1400" dirty="0"/>
          </a:p>
        </p:txBody>
      </p:sp>
      <p:sp>
        <p:nvSpPr>
          <p:cNvPr id="18" name="Text 16"/>
          <p:cNvSpPr/>
          <p:nvPr/>
        </p:nvSpPr>
        <p:spPr>
          <a:xfrm>
            <a:off x="3520440" y="2057400"/>
            <a:ext cx="2286000" cy="73152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대비 보정</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clipLimit: 20</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tileGrid: 64</a:t>
            </a:r>
            <a:endParaRPr lang="en-US" sz="1100" dirty="0"/>
          </a:p>
        </p:txBody>
      </p:sp>
      <p:sp>
        <p:nvSpPr>
          <p:cNvPr id="19" name="Shape 17"/>
          <p:cNvSpPr/>
          <p:nvPr/>
        </p:nvSpPr>
        <p:spPr>
          <a:xfrm>
            <a:off x="6217920" y="1508760"/>
            <a:ext cx="2606040" cy="14173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20" name="Shape 18"/>
          <p:cNvSpPr/>
          <p:nvPr/>
        </p:nvSpPr>
        <p:spPr>
          <a:xfrm>
            <a:off x="6355080" y="1645920"/>
            <a:ext cx="365760" cy="365760"/>
          </a:xfrm>
          <a:prstGeom prst="ellipse">
            <a:avLst/>
          </a:prstGeom>
          <a:solidFill>
            <a:srgbClr val="00B4D8"/>
          </a:solidFill>
          <a:ln/>
        </p:spPr>
      </p:sp>
      <p:sp>
        <p:nvSpPr>
          <p:cNvPr id="21" name="Text 19"/>
          <p:cNvSpPr/>
          <p:nvPr/>
        </p:nvSpPr>
        <p:spPr>
          <a:xfrm>
            <a:off x="6355080" y="1645920"/>
            <a:ext cx="365760" cy="365760"/>
          </a:xfrm>
          <a:prstGeom prst="rect">
            <a:avLst/>
          </a:prstGeom>
          <a:noFill/>
          <a:ln/>
        </p:spPr>
        <p:txBody>
          <a:bodyPr wrap="square" lIns="0" tIns="0" rIns="0" bIns="0" rtlCol="0" anchor="ctr"/>
          <a:lstStyle/>
          <a:p>
            <a:pPr algn="ctr" indent="0" marL="0">
              <a:buNone/>
            </a:pPr>
            <a:r>
              <a:rPr lang="en-US" sz="720" b="1" dirty="0">
                <a:solidFill>
                  <a:srgbClr val="FFFFFF"/>
                </a:solidFill>
                <a:latin typeface="Calibri" pitchFamily="34" charset="0"/>
                <a:ea typeface="Calibri" pitchFamily="34" charset="-122"/>
                <a:cs typeface="Calibri" pitchFamily="34" charset="-120"/>
              </a:rPr>
              <a:t>3</a:t>
            </a:r>
            <a:endParaRPr lang="en-US" sz="720" dirty="0"/>
          </a:p>
        </p:txBody>
      </p:sp>
      <p:sp>
        <p:nvSpPr>
          <p:cNvPr id="22" name="Text 20"/>
          <p:cNvSpPr/>
          <p:nvPr/>
        </p:nvSpPr>
        <p:spPr>
          <a:xfrm>
            <a:off x="6812280" y="1645920"/>
            <a:ext cx="18288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노이즈 제거</a:t>
            </a:r>
            <a:endParaRPr lang="en-US" sz="1400" dirty="0"/>
          </a:p>
        </p:txBody>
      </p:sp>
      <p:sp>
        <p:nvSpPr>
          <p:cNvPr id="23" name="Text 21"/>
          <p:cNvSpPr/>
          <p:nvPr/>
        </p:nvSpPr>
        <p:spPr>
          <a:xfrm>
            <a:off x="6400800" y="2057400"/>
            <a:ext cx="2286000" cy="73152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Median Filter</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커널: 3</a:t>
            </a:r>
            <a:endParaRPr lang="en-US" sz="1100" dirty="0"/>
          </a:p>
        </p:txBody>
      </p:sp>
      <p:sp>
        <p:nvSpPr>
          <p:cNvPr id="24" name="Shape 22"/>
          <p:cNvSpPr/>
          <p:nvPr/>
        </p:nvSpPr>
        <p:spPr>
          <a:xfrm>
            <a:off x="457200" y="3200400"/>
            <a:ext cx="2606040" cy="14173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25" name="Shape 23"/>
          <p:cNvSpPr/>
          <p:nvPr/>
        </p:nvSpPr>
        <p:spPr>
          <a:xfrm>
            <a:off x="594360" y="3337560"/>
            <a:ext cx="365760" cy="365760"/>
          </a:xfrm>
          <a:prstGeom prst="ellipse">
            <a:avLst/>
          </a:prstGeom>
          <a:solidFill>
            <a:srgbClr val="00C9A7"/>
          </a:solidFill>
          <a:ln/>
        </p:spPr>
      </p:sp>
      <p:sp>
        <p:nvSpPr>
          <p:cNvPr id="26" name="Text 24"/>
          <p:cNvSpPr/>
          <p:nvPr/>
        </p:nvSpPr>
        <p:spPr>
          <a:xfrm>
            <a:off x="594360" y="3337560"/>
            <a:ext cx="365760" cy="365760"/>
          </a:xfrm>
          <a:prstGeom prst="rect">
            <a:avLst/>
          </a:prstGeom>
          <a:noFill/>
          <a:ln/>
        </p:spPr>
        <p:txBody>
          <a:bodyPr wrap="square" lIns="0" tIns="0" rIns="0" bIns="0" rtlCol="0" anchor="ctr"/>
          <a:lstStyle/>
          <a:p>
            <a:pPr algn="ctr" indent="0" marL="0">
              <a:buNone/>
            </a:pPr>
            <a:r>
              <a:rPr lang="en-US" sz="720" b="1" dirty="0">
                <a:solidFill>
                  <a:srgbClr val="FFFFFF"/>
                </a:solidFill>
                <a:latin typeface="Calibri" pitchFamily="34" charset="0"/>
                <a:ea typeface="Calibri" pitchFamily="34" charset="-122"/>
                <a:cs typeface="Calibri" pitchFamily="34" charset="-120"/>
              </a:rPr>
              <a:t>4</a:t>
            </a:r>
            <a:endParaRPr lang="en-US" sz="720" dirty="0"/>
          </a:p>
        </p:txBody>
      </p:sp>
      <p:sp>
        <p:nvSpPr>
          <p:cNvPr id="27" name="Text 25"/>
          <p:cNvSpPr/>
          <p:nvPr/>
        </p:nvSpPr>
        <p:spPr>
          <a:xfrm>
            <a:off x="1051560" y="3337560"/>
            <a:ext cx="18288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DoG 밴드패스</a:t>
            </a:r>
            <a:endParaRPr lang="en-US" sz="1400" dirty="0"/>
          </a:p>
        </p:txBody>
      </p:sp>
      <p:sp>
        <p:nvSpPr>
          <p:cNvPr id="28" name="Text 26"/>
          <p:cNvSpPr/>
          <p:nvPr/>
        </p:nvSpPr>
        <p:spPr>
          <a:xfrm>
            <a:off x="640080" y="3749040"/>
            <a:ext cx="2286000" cy="73152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σ small: 5.0</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σ large: 20.0</a:t>
            </a:r>
            <a:endParaRPr lang="en-US" sz="1100" dirty="0"/>
          </a:p>
        </p:txBody>
      </p:sp>
      <p:sp>
        <p:nvSpPr>
          <p:cNvPr id="29" name="Shape 27"/>
          <p:cNvSpPr/>
          <p:nvPr/>
        </p:nvSpPr>
        <p:spPr>
          <a:xfrm>
            <a:off x="3337560" y="3200400"/>
            <a:ext cx="2606040" cy="14173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30" name="Shape 28"/>
          <p:cNvSpPr/>
          <p:nvPr/>
        </p:nvSpPr>
        <p:spPr>
          <a:xfrm>
            <a:off x="3474720" y="3337560"/>
            <a:ext cx="365760" cy="365760"/>
          </a:xfrm>
          <a:prstGeom prst="ellipse">
            <a:avLst/>
          </a:prstGeom>
          <a:solidFill>
            <a:srgbClr val="FFB347"/>
          </a:solidFill>
          <a:ln/>
        </p:spPr>
      </p:sp>
      <p:sp>
        <p:nvSpPr>
          <p:cNvPr id="31" name="Text 29"/>
          <p:cNvSpPr/>
          <p:nvPr/>
        </p:nvSpPr>
        <p:spPr>
          <a:xfrm>
            <a:off x="3474720" y="3337560"/>
            <a:ext cx="365760" cy="365760"/>
          </a:xfrm>
          <a:prstGeom prst="rect">
            <a:avLst/>
          </a:prstGeom>
          <a:noFill/>
          <a:ln/>
        </p:spPr>
        <p:txBody>
          <a:bodyPr wrap="square" lIns="0" tIns="0" rIns="0" bIns="0" rtlCol="0" anchor="ctr"/>
          <a:lstStyle/>
          <a:p>
            <a:pPr algn="ctr" indent="0" marL="0">
              <a:buNone/>
            </a:pPr>
            <a:r>
              <a:rPr lang="en-US" sz="720" b="1" dirty="0">
                <a:solidFill>
                  <a:srgbClr val="FFFFFF"/>
                </a:solidFill>
                <a:latin typeface="Calibri" pitchFamily="34" charset="0"/>
                <a:ea typeface="Calibri" pitchFamily="34" charset="-122"/>
                <a:cs typeface="Calibri" pitchFamily="34" charset="-120"/>
              </a:rPr>
              <a:t>5</a:t>
            </a:r>
            <a:endParaRPr lang="en-US" sz="720" dirty="0"/>
          </a:p>
        </p:txBody>
      </p:sp>
      <p:sp>
        <p:nvSpPr>
          <p:cNvPr id="32" name="Text 30"/>
          <p:cNvSpPr/>
          <p:nvPr/>
        </p:nvSpPr>
        <p:spPr>
          <a:xfrm>
            <a:off x="3931920" y="3337560"/>
            <a:ext cx="18288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MAD 임계</a:t>
            </a:r>
            <a:endParaRPr lang="en-US" sz="1400" dirty="0"/>
          </a:p>
        </p:txBody>
      </p:sp>
      <p:sp>
        <p:nvSpPr>
          <p:cNvPr id="33" name="Text 31"/>
          <p:cNvSpPr/>
          <p:nvPr/>
        </p:nvSpPr>
        <p:spPr>
          <a:xfrm>
            <a:off x="3520440" y="3749040"/>
            <a:ext cx="2286000" cy="73152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민감도 k: 17.5</a:t>
            </a:r>
            <a:endParaRPr lang="en-US" sz="1100" dirty="0"/>
          </a:p>
        </p:txBody>
      </p:sp>
      <p:sp>
        <p:nvSpPr>
          <p:cNvPr id="34" name="Shape 32"/>
          <p:cNvSpPr/>
          <p:nvPr/>
        </p:nvSpPr>
        <p:spPr>
          <a:xfrm>
            <a:off x="6217920" y="3200400"/>
            <a:ext cx="2606040" cy="141732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35" name="Shape 33"/>
          <p:cNvSpPr/>
          <p:nvPr/>
        </p:nvSpPr>
        <p:spPr>
          <a:xfrm>
            <a:off x="6355080" y="3337560"/>
            <a:ext cx="365760" cy="365760"/>
          </a:xfrm>
          <a:prstGeom prst="ellipse">
            <a:avLst/>
          </a:prstGeom>
          <a:solidFill>
            <a:srgbClr val="FF6B6B"/>
          </a:solidFill>
          <a:ln/>
        </p:spPr>
      </p:sp>
      <p:sp>
        <p:nvSpPr>
          <p:cNvPr id="36" name="Text 34"/>
          <p:cNvSpPr/>
          <p:nvPr/>
        </p:nvSpPr>
        <p:spPr>
          <a:xfrm>
            <a:off x="6355080" y="3337560"/>
            <a:ext cx="365760" cy="365760"/>
          </a:xfrm>
          <a:prstGeom prst="rect">
            <a:avLst/>
          </a:prstGeom>
          <a:noFill/>
          <a:ln/>
        </p:spPr>
        <p:txBody>
          <a:bodyPr wrap="square" lIns="0" tIns="0" rIns="0" bIns="0" rtlCol="0" anchor="ctr"/>
          <a:lstStyle/>
          <a:p>
            <a:pPr algn="ctr" indent="0" marL="0">
              <a:buNone/>
            </a:pPr>
            <a:r>
              <a:rPr lang="en-US" sz="720" b="1" dirty="0">
                <a:solidFill>
                  <a:srgbClr val="FFFFFF"/>
                </a:solidFill>
                <a:latin typeface="Calibri" pitchFamily="34" charset="0"/>
                <a:ea typeface="Calibri" pitchFamily="34" charset="-122"/>
                <a:cs typeface="Calibri" pitchFamily="34" charset="-120"/>
              </a:rPr>
              <a:t>6</a:t>
            </a:r>
            <a:endParaRPr lang="en-US" sz="720" dirty="0"/>
          </a:p>
        </p:txBody>
      </p:sp>
      <p:sp>
        <p:nvSpPr>
          <p:cNvPr id="37" name="Text 35"/>
          <p:cNvSpPr/>
          <p:nvPr/>
        </p:nvSpPr>
        <p:spPr>
          <a:xfrm>
            <a:off x="6812280" y="3337560"/>
            <a:ext cx="182880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형태학 정리</a:t>
            </a:r>
            <a:endParaRPr lang="en-US" sz="1400" dirty="0"/>
          </a:p>
        </p:txBody>
      </p:sp>
      <p:sp>
        <p:nvSpPr>
          <p:cNvPr id="38" name="Text 36"/>
          <p:cNvSpPr/>
          <p:nvPr/>
        </p:nvSpPr>
        <p:spPr>
          <a:xfrm>
            <a:off x="6400800" y="3749040"/>
            <a:ext cx="2286000" cy="73152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Close: 5</a:t>
            </a:r>
            <a:endParaRPr lang="en-US" sz="1100" dirty="0"/>
          </a:p>
          <a:p>
            <a:pPr indent="0" marL="0">
              <a:buNone/>
            </a:pPr>
            <a:r>
              <a:rPr lang="en-US" sz="1100" dirty="0">
                <a:solidFill>
                  <a:srgbClr val="E0E7EF"/>
                </a:solidFill>
                <a:latin typeface="Calibri" pitchFamily="34" charset="0"/>
                <a:ea typeface="Calibri" pitchFamily="34" charset="-122"/>
                <a:cs typeface="Calibri" pitchFamily="34" charset="-120"/>
              </a:rPr>
              <a:t>Open: 5</a:t>
            </a:r>
            <a:endParaRPr lang="en-US" sz="1100" dirty="0"/>
          </a:p>
        </p:txBody>
      </p:sp>
      <p:sp>
        <p:nvSpPr>
          <p:cNvPr id="39" name="Text 37"/>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8899AA"/>
                </a:solidFill>
              </a:rPr>
              <a:t>8 / 11</a:t>
            </a:r>
            <a:endParaRPr lang="en-US" sz="900" dirty="0"/>
          </a:p>
        </p:txBody>
      </p:sp>
      <p:sp>
        <p:nvSpPr>
          <p:cNvPr id="40" name="Text 38"/>
          <p:cNvSpPr/>
          <p:nvPr/>
        </p:nvSpPr>
        <p:spPr>
          <a:xfrm>
            <a:off x="457200" y="4754880"/>
            <a:ext cx="1828800" cy="274320"/>
          </a:xfrm>
          <a:prstGeom prst="rect">
            <a:avLst/>
          </a:prstGeom>
          <a:noFill/>
          <a:ln/>
        </p:spPr>
        <p:txBody>
          <a:bodyPr wrap="square" rtlCol="0" anchor="ctr"/>
          <a:lstStyle/>
          <a:p>
            <a:pPr algn="l" indent="0" marL="0">
              <a:buNone/>
            </a:pPr>
            <a:r>
              <a:rPr lang="en-US" sz="900" dirty="0">
                <a:solidFill>
                  <a:srgbClr val="8899AA"/>
                </a:solidFill>
              </a:rPr>
              <a:t>NOVAnix-DVI</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E3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검사 파라미터 — DL 추론 최적화</a:t>
            </a:r>
            <a:endParaRPr lang="en-US" sz="2600" dirty="0"/>
          </a:p>
        </p:txBody>
      </p:sp>
      <p:sp>
        <p:nvSpPr>
          <p:cNvPr id="3" name="Shape 1"/>
          <p:cNvSpPr/>
          <p:nvPr/>
        </p:nvSpPr>
        <p:spPr>
          <a:xfrm>
            <a:off x="457200" y="960120"/>
            <a:ext cx="2011680" cy="320040"/>
          </a:xfrm>
          <a:prstGeom prst="rect">
            <a:avLst/>
          </a:prstGeom>
          <a:solidFill>
            <a:srgbClr val="1C2940"/>
          </a:solidFill>
          <a:ln/>
        </p:spPr>
      </p:sp>
      <p:sp>
        <p:nvSpPr>
          <p:cNvPr id="4" name="Text 2"/>
          <p:cNvSpPr/>
          <p:nvPr/>
        </p:nvSpPr>
        <p:spPr>
          <a:xfrm>
            <a:off x="457200" y="960120"/>
            <a:ext cx="2011680" cy="320040"/>
          </a:xfrm>
          <a:prstGeom prst="rect">
            <a:avLst/>
          </a:prstGeom>
          <a:noFill/>
          <a:ln/>
        </p:spPr>
        <p:txBody>
          <a:bodyPr wrap="square" lIns="0" tIns="0" rIns="0" bIns="0"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분류/검출 조건</a:t>
            </a:r>
            <a:endParaRPr lang="en-US" sz="1000" dirty="0"/>
          </a:p>
        </p:txBody>
      </p:sp>
      <p:sp>
        <p:nvSpPr>
          <p:cNvPr id="5" name="Shape 3"/>
          <p:cNvSpPr/>
          <p:nvPr/>
        </p:nvSpPr>
        <p:spPr>
          <a:xfrm>
            <a:off x="2743200" y="960120"/>
            <a:ext cx="2011680" cy="320040"/>
          </a:xfrm>
          <a:prstGeom prst="rect">
            <a:avLst/>
          </a:prstGeom>
          <a:solidFill>
            <a:srgbClr val="1C2940"/>
          </a:solidFill>
          <a:ln/>
        </p:spPr>
      </p:sp>
      <p:sp>
        <p:nvSpPr>
          <p:cNvPr id="6" name="Text 4"/>
          <p:cNvSpPr/>
          <p:nvPr/>
        </p:nvSpPr>
        <p:spPr>
          <a:xfrm>
            <a:off x="2743200" y="960120"/>
            <a:ext cx="2011680" cy="320040"/>
          </a:xfrm>
          <a:prstGeom prst="rect">
            <a:avLst/>
          </a:prstGeom>
          <a:noFill/>
          <a:ln/>
        </p:spPr>
        <p:txBody>
          <a:bodyPr wrap="square" lIns="0" tIns="0" rIns="0" bIns="0" rtlCol="0" anchor="ctr"/>
          <a:lstStyle/>
          <a:p>
            <a:pPr algn="ctr" indent="0" marL="0">
              <a:buNone/>
            </a:pPr>
            <a:r>
              <a:rPr lang="en-US" sz="1000" dirty="0">
                <a:solidFill>
                  <a:srgbClr val="8899AA"/>
                </a:solidFill>
                <a:latin typeface="Calibri" pitchFamily="34" charset="0"/>
                <a:ea typeface="Calibri" pitchFamily="34" charset="-122"/>
                <a:cs typeface="Calibri" pitchFamily="34" charset="-120"/>
              </a:rPr>
              <a:t>Bubble 검출</a:t>
            </a:r>
            <a:endParaRPr lang="en-US" sz="1000" dirty="0"/>
          </a:p>
        </p:txBody>
      </p:sp>
      <p:sp>
        <p:nvSpPr>
          <p:cNvPr id="7" name="Shape 5"/>
          <p:cNvSpPr/>
          <p:nvPr/>
        </p:nvSpPr>
        <p:spPr>
          <a:xfrm>
            <a:off x="5029200" y="960120"/>
            <a:ext cx="2011680" cy="320040"/>
          </a:xfrm>
          <a:prstGeom prst="rect">
            <a:avLst/>
          </a:prstGeom>
          <a:solidFill>
            <a:srgbClr val="00B4D8"/>
          </a:solidFill>
          <a:ln/>
        </p:spPr>
      </p:sp>
      <p:sp>
        <p:nvSpPr>
          <p:cNvPr id="8" name="Text 6"/>
          <p:cNvSpPr/>
          <p:nvPr/>
        </p:nvSpPr>
        <p:spPr>
          <a:xfrm>
            <a:off x="5029200" y="960120"/>
            <a:ext cx="2011680" cy="320040"/>
          </a:xfrm>
          <a:prstGeom prst="rect">
            <a:avLst/>
          </a:prstGeom>
          <a:noFill/>
          <a:ln/>
        </p:spPr>
        <p:txBody>
          <a:bodyPr wrap="square" lIns="0" tIns="0" rIns="0" bIns="0" rtlCol="0" anchor="ctr"/>
          <a:lstStyle/>
          <a:p>
            <a:pPr algn="ctr" indent="0" marL="0">
              <a:buNone/>
            </a:pPr>
            <a:r>
              <a:rPr lang="en-US" sz="1000" b="1" dirty="0">
                <a:solidFill>
                  <a:srgbClr val="0F1B2D"/>
                </a:solidFill>
                <a:latin typeface="Calibri" pitchFamily="34" charset="0"/>
                <a:ea typeface="Calibri" pitchFamily="34" charset="-122"/>
                <a:cs typeface="Calibri" pitchFamily="34" charset="-120"/>
              </a:rPr>
              <a:t>DL 최적화</a:t>
            </a:r>
            <a:endParaRPr lang="en-US" sz="1000" dirty="0"/>
          </a:p>
        </p:txBody>
      </p:sp>
      <p:sp>
        <p:nvSpPr>
          <p:cNvPr id="9" name="Shape 7"/>
          <p:cNvSpPr/>
          <p:nvPr/>
        </p:nvSpPr>
        <p:spPr>
          <a:xfrm>
            <a:off x="457200" y="1508760"/>
            <a:ext cx="8229600" cy="45720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0" name="Shape 8"/>
          <p:cNvSpPr/>
          <p:nvPr/>
        </p:nvSpPr>
        <p:spPr>
          <a:xfrm>
            <a:off x="640080" y="1581912"/>
            <a:ext cx="777240" cy="310896"/>
          </a:xfrm>
          <a:prstGeom prst="rect">
            <a:avLst/>
          </a:prstGeom>
          <a:solidFill>
            <a:srgbClr val="8899AA"/>
          </a:solidFill>
          <a:ln/>
        </p:spPr>
      </p:sp>
      <p:sp>
        <p:nvSpPr>
          <p:cNvPr id="11" name="Text 9"/>
          <p:cNvSpPr/>
          <p:nvPr/>
        </p:nvSpPr>
        <p:spPr>
          <a:xfrm>
            <a:off x="640080" y="1581912"/>
            <a:ext cx="7772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Level 0</a:t>
            </a:r>
            <a:endParaRPr lang="en-US" sz="900" dirty="0"/>
          </a:p>
        </p:txBody>
      </p:sp>
      <p:sp>
        <p:nvSpPr>
          <p:cNvPr id="12" name="Text 10"/>
          <p:cNvSpPr/>
          <p:nvPr/>
        </p:nvSpPr>
        <p:spPr>
          <a:xfrm>
            <a:off x="1554480" y="1554480"/>
            <a:ext cx="20116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CPU Pipeline</a:t>
            </a:r>
            <a:endParaRPr lang="en-US" sz="1300" dirty="0"/>
          </a:p>
        </p:txBody>
      </p:sp>
      <p:sp>
        <p:nvSpPr>
          <p:cNvPr id="13" name="Text 11"/>
          <p:cNvSpPr/>
          <p:nvPr/>
        </p:nvSpPr>
        <p:spPr>
          <a:xfrm>
            <a:off x="3657600" y="1554480"/>
            <a:ext cx="3200400" cy="365760"/>
          </a:xfrm>
          <a:prstGeom prst="rect">
            <a:avLst/>
          </a:prstGeom>
          <a:noFill/>
          <a:ln/>
        </p:spPr>
        <p:txBody>
          <a:bodyPr wrap="square" lIns="0" tIns="0" rIns="0" bIns="0" rtlCol="0" anchor="ctr"/>
          <a:lstStyle/>
          <a:p>
            <a:pPr indent="0" marL="0">
              <a:buNone/>
            </a:pPr>
            <a:r>
              <a:rPr lang="en-US" sz="1000" dirty="0">
                <a:solidFill>
                  <a:srgbClr val="E0E7EF"/>
                </a:solidFill>
                <a:latin typeface="Calibri" pitchFamily="34" charset="0"/>
                <a:ea typeface="Calibri" pitchFamily="34" charset="-122"/>
                <a:cs typeface="Calibri" pitchFamily="34" charset="-120"/>
              </a:rPr>
              <a:t>기본 방식: CPU에서 crop → GPU 전송</a:t>
            </a:r>
            <a:endParaRPr lang="en-US" sz="1000" dirty="0"/>
          </a:p>
        </p:txBody>
      </p:sp>
      <p:sp>
        <p:nvSpPr>
          <p:cNvPr id="14" name="Text 12"/>
          <p:cNvSpPr/>
          <p:nvPr/>
        </p:nvSpPr>
        <p:spPr>
          <a:xfrm>
            <a:off x="7132320" y="1554480"/>
            <a:ext cx="1371600" cy="365760"/>
          </a:xfrm>
          <a:prstGeom prst="rect">
            <a:avLst/>
          </a:prstGeom>
          <a:noFill/>
          <a:ln/>
        </p:spPr>
        <p:txBody>
          <a:bodyPr wrap="square" lIns="0" tIns="0" rIns="0" bIns="0" rtlCol="0" anchor="ctr"/>
          <a:lstStyle/>
          <a:p>
            <a:pPr algn="r" indent="0" marL="0">
              <a:buNone/>
            </a:pPr>
            <a:r>
              <a:rPr lang="en-US" sz="1100" b="1" dirty="0">
                <a:solidFill>
                  <a:srgbClr val="8899AA"/>
                </a:solidFill>
                <a:latin typeface="Calibri" pitchFamily="34" charset="0"/>
                <a:ea typeface="Calibri" pitchFamily="34" charset="-122"/>
                <a:cs typeface="Calibri" pitchFamily="34" charset="-120"/>
              </a:rPr>
              <a:t>기준</a:t>
            </a:r>
            <a:endParaRPr lang="en-US" sz="1100" dirty="0"/>
          </a:p>
        </p:txBody>
      </p:sp>
      <p:sp>
        <p:nvSpPr>
          <p:cNvPr id="15" name="Shape 13"/>
          <p:cNvSpPr/>
          <p:nvPr/>
        </p:nvSpPr>
        <p:spPr>
          <a:xfrm>
            <a:off x="457200" y="2039112"/>
            <a:ext cx="8229600" cy="45720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6" name="Shape 14"/>
          <p:cNvSpPr/>
          <p:nvPr/>
        </p:nvSpPr>
        <p:spPr>
          <a:xfrm>
            <a:off x="640080" y="2112264"/>
            <a:ext cx="777240" cy="310896"/>
          </a:xfrm>
          <a:prstGeom prst="rect">
            <a:avLst/>
          </a:prstGeom>
          <a:solidFill>
            <a:srgbClr val="0077B6"/>
          </a:solidFill>
          <a:ln/>
        </p:spPr>
      </p:sp>
      <p:sp>
        <p:nvSpPr>
          <p:cNvPr id="17" name="Text 15"/>
          <p:cNvSpPr/>
          <p:nvPr/>
        </p:nvSpPr>
        <p:spPr>
          <a:xfrm>
            <a:off x="640080" y="2112264"/>
            <a:ext cx="7772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Level 1</a:t>
            </a:r>
            <a:endParaRPr lang="en-US" sz="900" dirty="0"/>
          </a:p>
        </p:txBody>
      </p:sp>
      <p:sp>
        <p:nvSpPr>
          <p:cNvPr id="18" name="Text 16"/>
          <p:cNvSpPr/>
          <p:nvPr/>
        </p:nvSpPr>
        <p:spPr>
          <a:xfrm>
            <a:off x="1554480" y="2084832"/>
            <a:ext cx="20116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GPU Crop</a:t>
            </a:r>
            <a:endParaRPr lang="en-US" sz="1300" dirty="0"/>
          </a:p>
        </p:txBody>
      </p:sp>
      <p:sp>
        <p:nvSpPr>
          <p:cNvPr id="19" name="Text 17"/>
          <p:cNvSpPr/>
          <p:nvPr/>
        </p:nvSpPr>
        <p:spPr>
          <a:xfrm>
            <a:off x="3657600" y="2084832"/>
            <a:ext cx="3200400" cy="365760"/>
          </a:xfrm>
          <a:prstGeom prst="rect">
            <a:avLst/>
          </a:prstGeom>
          <a:noFill/>
          <a:ln/>
        </p:spPr>
        <p:txBody>
          <a:bodyPr wrap="square" lIns="0" tIns="0" rIns="0" bIns="0" rtlCol="0" anchor="ctr"/>
          <a:lstStyle/>
          <a:p>
            <a:pPr indent="0" marL="0">
              <a:buNone/>
            </a:pPr>
            <a:r>
              <a:rPr lang="en-US" sz="1000" dirty="0">
                <a:solidFill>
                  <a:srgbClr val="E0E7EF"/>
                </a:solidFill>
                <a:latin typeface="Calibri" pitchFamily="34" charset="0"/>
                <a:ea typeface="Calibri" pitchFamily="34" charset="-122"/>
                <a:cs typeface="Calibri" pitchFamily="34" charset="-120"/>
              </a:rPr>
              <a:t>프레임 1장만 GPU 전송, GPU에서 crop/resize</a:t>
            </a:r>
            <a:endParaRPr lang="en-US" sz="1000" dirty="0"/>
          </a:p>
        </p:txBody>
      </p:sp>
      <p:sp>
        <p:nvSpPr>
          <p:cNvPr id="20" name="Text 18"/>
          <p:cNvSpPr/>
          <p:nvPr/>
        </p:nvSpPr>
        <p:spPr>
          <a:xfrm>
            <a:off x="7132320" y="2084832"/>
            <a:ext cx="1371600" cy="365760"/>
          </a:xfrm>
          <a:prstGeom prst="rect">
            <a:avLst/>
          </a:prstGeom>
          <a:noFill/>
          <a:ln/>
        </p:spPr>
        <p:txBody>
          <a:bodyPr wrap="square" lIns="0" tIns="0" rIns="0" bIns="0" rtlCol="0" anchor="ctr"/>
          <a:lstStyle/>
          <a:p>
            <a:pPr algn="r" indent="0" marL="0">
              <a:buNone/>
            </a:pPr>
            <a:r>
              <a:rPr lang="en-US" sz="1100" b="1" dirty="0">
                <a:solidFill>
                  <a:srgbClr val="0077B6"/>
                </a:solidFill>
                <a:latin typeface="Calibri" pitchFamily="34" charset="0"/>
                <a:ea typeface="Calibri" pitchFamily="34" charset="-122"/>
                <a:cs typeface="Calibri" pitchFamily="34" charset="-120"/>
              </a:rPr>
              <a:t>+10~20%</a:t>
            </a:r>
            <a:endParaRPr lang="en-US" sz="1100" dirty="0"/>
          </a:p>
        </p:txBody>
      </p:sp>
      <p:sp>
        <p:nvSpPr>
          <p:cNvPr id="21" name="Shape 19"/>
          <p:cNvSpPr/>
          <p:nvPr/>
        </p:nvSpPr>
        <p:spPr>
          <a:xfrm>
            <a:off x="457200" y="2569464"/>
            <a:ext cx="8229600" cy="45720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22" name="Shape 20"/>
          <p:cNvSpPr/>
          <p:nvPr/>
        </p:nvSpPr>
        <p:spPr>
          <a:xfrm>
            <a:off x="640080" y="2642616"/>
            <a:ext cx="777240" cy="310896"/>
          </a:xfrm>
          <a:prstGeom prst="rect">
            <a:avLst/>
          </a:prstGeom>
          <a:solidFill>
            <a:srgbClr val="0D9488"/>
          </a:solidFill>
          <a:ln/>
        </p:spPr>
      </p:sp>
      <p:sp>
        <p:nvSpPr>
          <p:cNvPr id="23" name="Text 21"/>
          <p:cNvSpPr/>
          <p:nvPr/>
        </p:nvSpPr>
        <p:spPr>
          <a:xfrm>
            <a:off x="640080" y="2642616"/>
            <a:ext cx="7772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Level 2</a:t>
            </a:r>
            <a:endParaRPr lang="en-US" sz="900" dirty="0"/>
          </a:p>
        </p:txBody>
      </p:sp>
      <p:sp>
        <p:nvSpPr>
          <p:cNvPr id="24" name="Text 22"/>
          <p:cNvSpPr/>
          <p:nvPr/>
        </p:nvSpPr>
        <p:spPr>
          <a:xfrm>
            <a:off x="1554480" y="2615184"/>
            <a:ext cx="20116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torch.compile</a:t>
            </a:r>
            <a:endParaRPr lang="en-US" sz="1300" dirty="0"/>
          </a:p>
        </p:txBody>
      </p:sp>
      <p:sp>
        <p:nvSpPr>
          <p:cNvPr id="25" name="Text 23"/>
          <p:cNvSpPr/>
          <p:nvPr/>
        </p:nvSpPr>
        <p:spPr>
          <a:xfrm>
            <a:off x="3657600" y="2615184"/>
            <a:ext cx="3200400" cy="365760"/>
          </a:xfrm>
          <a:prstGeom prst="rect">
            <a:avLst/>
          </a:prstGeom>
          <a:noFill/>
          <a:ln/>
        </p:spPr>
        <p:txBody>
          <a:bodyPr wrap="square" lIns="0" tIns="0" rIns="0" bIns="0" rtlCol="0" anchor="ctr"/>
          <a:lstStyle/>
          <a:p>
            <a:pPr indent="0" marL="0">
              <a:buNone/>
            </a:pPr>
            <a:r>
              <a:rPr lang="en-US" sz="1000" dirty="0">
                <a:solidFill>
                  <a:srgbClr val="E0E7EF"/>
                </a:solidFill>
                <a:latin typeface="Calibri" pitchFamily="34" charset="0"/>
                <a:ea typeface="Calibri" pitchFamily="34" charset="-122"/>
                <a:cs typeface="Calibri" pitchFamily="34" charset="-120"/>
              </a:rPr>
              <a:t>커널 퓨전으로 추론 최적화</a:t>
            </a:r>
            <a:endParaRPr lang="en-US" sz="1000" dirty="0"/>
          </a:p>
        </p:txBody>
      </p:sp>
      <p:sp>
        <p:nvSpPr>
          <p:cNvPr id="26" name="Text 24"/>
          <p:cNvSpPr/>
          <p:nvPr/>
        </p:nvSpPr>
        <p:spPr>
          <a:xfrm>
            <a:off x="7132320" y="2615184"/>
            <a:ext cx="1371600" cy="365760"/>
          </a:xfrm>
          <a:prstGeom prst="rect">
            <a:avLst/>
          </a:prstGeom>
          <a:noFill/>
          <a:ln/>
        </p:spPr>
        <p:txBody>
          <a:bodyPr wrap="square" lIns="0" tIns="0" rIns="0" bIns="0" rtlCol="0" anchor="ctr"/>
          <a:lstStyle/>
          <a:p>
            <a:pPr algn="r" indent="0" marL="0">
              <a:buNone/>
            </a:pPr>
            <a:r>
              <a:rPr lang="en-US" sz="1100" b="1" dirty="0">
                <a:solidFill>
                  <a:srgbClr val="0D9488"/>
                </a:solidFill>
                <a:latin typeface="Calibri" pitchFamily="34" charset="0"/>
                <a:ea typeface="Calibri" pitchFamily="34" charset="-122"/>
                <a:cs typeface="Calibri" pitchFamily="34" charset="-120"/>
              </a:rPr>
              <a:t>+20~40%</a:t>
            </a:r>
            <a:endParaRPr lang="en-US" sz="1100" dirty="0"/>
          </a:p>
        </p:txBody>
      </p:sp>
      <p:sp>
        <p:nvSpPr>
          <p:cNvPr id="27" name="Shape 25"/>
          <p:cNvSpPr/>
          <p:nvPr/>
        </p:nvSpPr>
        <p:spPr>
          <a:xfrm>
            <a:off x="457200" y="3099816"/>
            <a:ext cx="8229600" cy="45720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28" name="Shape 26"/>
          <p:cNvSpPr/>
          <p:nvPr/>
        </p:nvSpPr>
        <p:spPr>
          <a:xfrm>
            <a:off x="640080" y="3172968"/>
            <a:ext cx="777240" cy="310896"/>
          </a:xfrm>
          <a:prstGeom prst="rect">
            <a:avLst/>
          </a:prstGeom>
          <a:solidFill>
            <a:srgbClr val="00B4D8"/>
          </a:solidFill>
          <a:ln/>
        </p:spPr>
      </p:sp>
      <p:sp>
        <p:nvSpPr>
          <p:cNvPr id="29" name="Text 27"/>
          <p:cNvSpPr/>
          <p:nvPr/>
        </p:nvSpPr>
        <p:spPr>
          <a:xfrm>
            <a:off x="640080" y="3172968"/>
            <a:ext cx="7772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Level 3</a:t>
            </a:r>
            <a:endParaRPr lang="en-US" sz="900" dirty="0"/>
          </a:p>
        </p:txBody>
      </p:sp>
      <p:sp>
        <p:nvSpPr>
          <p:cNvPr id="30" name="Text 28"/>
          <p:cNvSpPr/>
          <p:nvPr/>
        </p:nvSpPr>
        <p:spPr>
          <a:xfrm>
            <a:off x="1554480" y="3145536"/>
            <a:ext cx="20116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배치 사전할당</a:t>
            </a:r>
            <a:endParaRPr lang="en-US" sz="1300" dirty="0"/>
          </a:p>
        </p:txBody>
      </p:sp>
      <p:sp>
        <p:nvSpPr>
          <p:cNvPr id="31" name="Text 29"/>
          <p:cNvSpPr/>
          <p:nvPr/>
        </p:nvSpPr>
        <p:spPr>
          <a:xfrm>
            <a:off x="3657600" y="3145536"/>
            <a:ext cx="3200400" cy="365760"/>
          </a:xfrm>
          <a:prstGeom prst="rect">
            <a:avLst/>
          </a:prstGeom>
          <a:noFill/>
          <a:ln/>
        </p:spPr>
        <p:txBody>
          <a:bodyPr wrap="square" lIns="0" tIns="0" rIns="0" bIns="0" rtlCol="0" anchor="ctr"/>
          <a:lstStyle/>
          <a:p>
            <a:pPr indent="0" marL="0">
              <a:buNone/>
            </a:pPr>
            <a:r>
              <a:rPr lang="en-US" sz="1000" dirty="0">
                <a:solidFill>
                  <a:srgbClr val="E0E7EF"/>
                </a:solidFill>
                <a:latin typeface="Calibri" pitchFamily="34" charset="0"/>
                <a:ea typeface="Calibri" pitchFamily="34" charset="-122"/>
                <a:cs typeface="Calibri" pitchFamily="34" charset="-120"/>
              </a:rPr>
              <a:t>torch.cat 오버헤드 제거</a:t>
            </a:r>
            <a:endParaRPr lang="en-US" sz="1000" dirty="0"/>
          </a:p>
        </p:txBody>
      </p:sp>
      <p:sp>
        <p:nvSpPr>
          <p:cNvPr id="32" name="Text 30"/>
          <p:cNvSpPr/>
          <p:nvPr/>
        </p:nvSpPr>
        <p:spPr>
          <a:xfrm>
            <a:off x="7132320" y="3145536"/>
            <a:ext cx="1371600" cy="365760"/>
          </a:xfrm>
          <a:prstGeom prst="rect">
            <a:avLst/>
          </a:prstGeom>
          <a:noFill/>
          <a:ln/>
        </p:spPr>
        <p:txBody>
          <a:bodyPr wrap="square" lIns="0" tIns="0" rIns="0" bIns="0" rtlCol="0" anchor="ctr"/>
          <a:lstStyle/>
          <a:p>
            <a:pPr algn="r" indent="0" marL="0">
              <a:buNone/>
            </a:pPr>
            <a:r>
              <a:rPr lang="en-US" sz="1100" b="1" dirty="0">
                <a:solidFill>
                  <a:srgbClr val="00B4D8"/>
                </a:solidFill>
                <a:latin typeface="Calibri" pitchFamily="34" charset="0"/>
                <a:ea typeface="Calibri" pitchFamily="34" charset="-122"/>
                <a:cs typeface="Calibri" pitchFamily="34" charset="-120"/>
              </a:rPr>
              <a:t>+30~50%</a:t>
            </a:r>
            <a:endParaRPr lang="en-US" sz="1100" dirty="0"/>
          </a:p>
        </p:txBody>
      </p:sp>
      <p:sp>
        <p:nvSpPr>
          <p:cNvPr id="33" name="Shape 31"/>
          <p:cNvSpPr/>
          <p:nvPr/>
        </p:nvSpPr>
        <p:spPr>
          <a:xfrm>
            <a:off x="457200" y="3630168"/>
            <a:ext cx="8229600" cy="457200"/>
          </a:xfrm>
          <a:prstGeom prst="rect">
            <a:avLst/>
          </a:prstGeom>
          <a:solidFill>
            <a:srgbClr val="1C3A3A"/>
          </a:solidFill>
          <a:ln/>
          <a:effectLst>
            <a:outerShdw sx="100000" sy="100000" kx="0" ky="0" algn="bl" rotWithShape="0" blurRad="76200" dist="25400" dir="8100000">
              <a:srgbClr val="000000">
                <a:alpha val="20000"/>
              </a:srgbClr>
            </a:outerShdw>
          </a:effectLst>
        </p:spPr>
      </p:sp>
      <p:sp>
        <p:nvSpPr>
          <p:cNvPr id="34" name="Shape 32"/>
          <p:cNvSpPr/>
          <p:nvPr/>
        </p:nvSpPr>
        <p:spPr>
          <a:xfrm>
            <a:off x="457200" y="3630168"/>
            <a:ext cx="54864" cy="457200"/>
          </a:xfrm>
          <a:prstGeom prst="rect">
            <a:avLst/>
          </a:prstGeom>
          <a:solidFill>
            <a:srgbClr val="00C9A7"/>
          </a:solidFill>
          <a:ln/>
        </p:spPr>
      </p:sp>
      <p:sp>
        <p:nvSpPr>
          <p:cNvPr id="35" name="Shape 33"/>
          <p:cNvSpPr/>
          <p:nvPr/>
        </p:nvSpPr>
        <p:spPr>
          <a:xfrm>
            <a:off x="640080" y="3703320"/>
            <a:ext cx="777240" cy="310896"/>
          </a:xfrm>
          <a:prstGeom prst="rect">
            <a:avLst/>
          </a:prstGeom>
          <a:solidFill>
            <a:srgbClr val="00C9A7"/>
          </a:solidFill>
          <a:ln/>
        </p:spPr>
      </p:sp>
      <p:sp>
        <p:nvSpPr>
          <p:cNvPr id="36" name="Text 34"/>
          <p:cNvSpPr/>
          <p:nvPr/>
        </p:nvSpPr>
        <p:spPr>
          <a:xfrm>
            <a:off x="640080" y="3703320"/>
            <a:ext cx="7772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Level 4</a:t>
            </a:r>
            <a:endParaRPr lang="en-US" sz="900" dirty="0"/>
          </a:p>
        </p:txBody>
      </p:sp>
      <p:sp>
        <p:nvSpPr>
          <p:cNvPr id="37" name="Text 35"/>
          <p:cNvSpPr/>
          <p:nvPr/>
        </p:nvSpPr>
        <p:spPr>
          <a:xfrm>
            <a:off x="1554480" y="3675888"/>
            <a:ext cx="20116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 grid_sample</a:t>
            </a:r>
            <a:endParaRPr lang="en-US" sz="1300" dirty="0"/>
          </a:p>
        </p:txBody>
      </p:sp>
      <p:sp>
        <p:nvSpPr>
          <p:cNvPr id="38" name="Text 36"/>
          <p:cNvSpPr/>
          <p:nvPr/>
        </p:nvSpPr>
        <p:spPr>
          <a:xfrm>
            <a:off x="3657600" y="3675888"/>
            <a:ext cx="3200400" cy="365760"/>
          </a:xfrm>
          <a:prstGeom prst="rect">
            <a:avLst/>
          </a:prstGeom>
          <a:noFill/>
          <a:ln/>
        </p:spPr>
        <p:txBody>
          <a:bodyPr wrap="square" lIns="0" tIns="0" rIns="0" bIns="0" rtlCol="0" anchor="ctr"/>
          <a:lstStyle/>
          <a:p>
            <a:pPr indent="0" marL="0">
              <a:buNone/>
            </a:pPr>
            <a:r>
              <a:rPr lang="en-US" sz="1000" dirty="0">
                <a:solidFill>
                  <a:srgbClr val="E0E7EF"/>
                </a:solidFill>
                <a:latin typeface="Calibri" pitchFamily="34" charset="0"/>
                <a:ea typeface="Calibri" pitchFamily="34" charset="-122"/>
                <a:cs typeface="Calibri" pitchFamily="34" charset="-120"/>
              </a:rPr>
              <a:t>F.grid_sample로 crop 루프 완전 제거</a:t>
            </a:r>
            <a:endParaRPr lang="en-US" sz="1000" dirty="0"/>
          </a:p>
        </p:txBody>
      </p:sp>
      <p:sp>
        <p:nvSpPr>
          <p:cNvPr id="39" name="Text 37"/>
          <p:cNvSpPr/>
          <p:nvPr/>
        </p:nvSpPr>
        <p:spPr>
          <a:xfrm>
            <a:off x="7132320" y="3675888"/>
            <a:ext cx="1371600" cy="365760"/>
          </a:xfrm>
          <a:prstGeom prst="rect">
            <a:avLst/>
          </a:prstGeom>
          <a:noFill/>
          <a:ln/>
        </p:spPr>
        <p:txBody>
          <a:bodyPr wrap="square" lIns="0" tIns="0" rIns="0" bIns="0" rtlCol="0" anchor="ctr"/>
          <a:lstStyle/>
          <a:p>
            <a:pPr algn="r" indent="0" marL="0">
              <a:buNone/>
            </a:pPr>
            <a:r>
              <a:rPr lang="en-US" sz="1100" b="1" dirty="0">
                <a:solidFill>
                  <a:srgbClr val="00C9A7"/>
                </a:solidFill>
                <a:latin typeface="Calibri" pitchFamily="34" charset="0"/>
                <a:ea typeface="Calibri" pitchFamily="34" charset="-122"/>
                <a:cs typeface="Calibri" pitchFamily="34" charset="-120"/>
              </a:rPr>
              <a:t>+40~60%</a:t>
            </a:r>
            <a:endParaRPr lang="en-US" sz="1100" dirty="0"/>
          </a:p>
        </p:txBody>
      </p:sp>
      <p:sp>
        <p:nvSpPr>
          <p:cNvPr id="40" name="Shape 38"/>
          <p:cNvSpPr/>
          <p:nvPr/>
        </p:nvSpPr>
        <p:spPr>
          <a:xfrm>
            <a:off x="457200" y="4160520"/>
            <a:ext cx="8229600" cy="45720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41" name="Shape 39"/>
          <p:cNvSpPr/>
          <p:nvPr/>
        </p:nvSpPr>
        <p:spPr>
          <a:xfrm>
            <a:off x="640080" y="4233672"/>
            <a:ext cx="777240" cy="310896"/>
          </a:xfrm>
          <a:prstGeom prst="rect">
            <a:avLst/>
          </a:prstGeom>
          <a:solidFill>
            <a:srgbClr val="FFB347"/>
          </a:solidFill>
          <a:ln/>
        </p:spPr>
      </p:sp>
      <p:sp>
        <p:nvSpPr>
          <p:cNvPr id="42" name="Text 40"/>
          <p:cNvSpPr/>
          <p:nvPr/>
        </p:nvSpPr>
        <p:spPr>
          <a:xfrm>
            <a:off x="640080" y="4233672"/>
            <a:ext cx="777240" cy="31089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Level 5</a:t>
            </a:r>
            <a:endParaRPr lang="en-US" sz="900" dirty="0"/>
          </a:p>
        </p:txBody>
      </p:sp>
      <p:sp>
        <p:nvSpPr>
          <p:cNvPr id="43" name="Text 41"/>
          <p:cNvSpPr/>
          <p:nvPr/>
        </p:nvSpPr>
        <p:spPr>
          <a:xfrm>
            <a:off x="1554480" y="4206240"/>
            <a:ext cx="201168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OpenVINO</a:t>
            </a:r>
            <a:endParaRPr lang="en-US" sz="1300" dirty="0"/>
          </a:p>
        </p:txBody>
      </p:sp>
      <p:sp>
        <p:nvSpPr>
          <p:cNvPr id="44" name="Text 42"/>
          <p:cNvSpPr/>
          <p:nvPr/>
        </p:nvSpPr>
        <p:spPr>
          <a:xfrm>
            <a:off x="3657600" y="4206240"/>
            <a:ext cx="3200400" cy="365760"/>
          </a:xfrm>
          <a:prstGeom prst="rect">
            <a:avLst/>
          </a:prstGeom>
          <a:noFill/>
          <a:ln/>
        </p:spPr>
        <p:txBody>
          <a:bodyPr wrap="square" lIns="0" tIns="0" rIns="0" bIns="0" rtlCol="0" anchor="ctr"/>
          <a:lstStyle/>
          <a:p>
            <a:pPr indent="0" marL="0">
              <a:buNone/>
            </a:pPr>
            <a:r>
              <a:rPr lang="en-US" sz="1000" dirty="0">
                <a:solidFill>
                  <a:srgbClr val="E0E7EF"/>
                </a:solidFill>
                <a:latin typeface="Calibri" pitchFamily="34" charset="0"/>
                <a:ea typeface="Calibri" pitchFamily="34" charset="-122"/>
                <a:cs typeface="Calibri" pitchFamily="34" charset="-120"/>
              </a:rPr>
              <a:t>ONNX + OpenVINO EP</a:t>
            </a:r>
            <a:endParaRPr lang="en-US" sz="1000" dirty="0"/>
          </a:p>
          <a:p>
            <a:pPr indent="0" marL="0">
              <a:buNone/>
            </a:pPr>
            <a:r>
              <a:rPr lang="en-US" sz="1000" dirty="0">
                <a:solidFill>
                  <a:srgbClr val="E0E7EF"/>
                </a:solidFill>
                <a:latin typeface="Calibri" pitchFamily="34" charset="0"/>
                <a:ea typeface="Calibri" pitchFamily="34" charset="-122"/>
                <a:cs typeface="Calibri" pitchFamily="34" charset="-120"/>
              </a:rPr>
              <a:t>CPU/GPU/NPU/AUTO 선택</a:t>
            </a:r>
            <a:endParaRPr lang="en-US" sz="1000" dirty="0"/>
          </a:p>
        </p:txBody>
      </p:sp>
      <p:sp>
        <p:nvSpPr>
          <p:cNvPr id="45" name="Text 43"/>
          <p:cNvSpPr/>
          <p:nvPr/>
        </p:nvSpPr>
        <p:spPr>
          <a:xfrm>
            <a:off x="7132320" y="4206240"/>
            <a:ext cx="1371600" cy="365760"/>
          </a:xfrm>
          <a:prstGeom prst="rect">
            <a:avLst/>
          </a:prstGeom>
          <a:noFill/>
          <a:ln/>
        </p:spPr>
        <p:txBody>
          <a:bodyPr wrap="square" lIns="0" tIns="0" rIns="0" bIns="0" rtlCol="0" anchor="ctr"/>
          <a:lstStyle/>
          <a:p>
            <a:pPr algn="r" indent="0" marL="0">
              <a:buNone/>
            </a:pPr>
            <a:r>
              <a:rPr lang="en-US" sz="1100" b="1" dirty="0">
                <a:solidFill>
                  <a:srgbClr val="FFB347"/>
                </a:solidFill>
                <a:latin typeface="Calibri" pitchFamily="34" charset="0"/>
                <a:ea typeface="Calibri" pitchFamily="34" charset="-122"/>
                <a:cs typeface="Calibri" pitchFamily="34" charset="-120"/>
              </a:rPr>
              <a:t>Intel 최적</a:t>
            </a:r>
            <a:endParaRPr lang="en-US" sz="1100" dirty="0"/>
          </a:p>
        </p:txBody>
      </p:sp>
      <p:sp>
        <p:nvSpPr>
          <p:cNvPr id="46" name="Text 44"/>
          <p:cNvSpPr/>
          <p:nvPr/>
        </p:nvSpPr>
        <p:spPr>
          <a:xfrm>
            <a:off x="457200" y="4572000"/>
            <a:ext cx="8229600" cy="274320"/>
          </a:xfrm>
          <a:prstGeom prst="rect">
            <a:avLst/>
          </a:prstGeom>
          <a:noFill/>
          <a:ln/>
        </p:spPr>
        <p:txBody>
          <a:bodyPr wrap="square" lIns="0" tIns="0" rIns="0" bIns="0" rtlCol="0" anchor="ctr"/>
          <a:lstStyle/>
          <a:p>
            <a:pPr indent="0" marL="0">
              <a:buNone/>
            </a:pPr>
            <a:r>
              <a:rPr lang="en-US" sz="900" i="1" dirty="0">
                <a:solidFill>
                  <a:srgbClr val="8899AA"/>
                </a:solidFill>
                <a:latin typeface="Calibri" pitchFamily="34" charset="0"/>
                <a:ea typeface="Calibri" pitchFamily="34" charset="-122"/>
                <a:cs typeface="Calibri" pitchFamily="34" charset="-120"/>
              </a:rPr>
              <a:t>참고: Level 1~4는 PyTorch + CUDA 모델에서만 적용됩니다. Level 5는 OpenVINO EP (CPU/GPU/NPU/AUTO)를 사용합니다.</a:t>
            </a:r>
            <a:endParaRPr lang="en-US" sz="900" dirty="0"/>
          </a:p>
        </p:txBody>
      </p:sp>
      <p:sp>
        <p:nvSpPr>
          <p:cNvPr id="47" name="Text 45"/>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8899AA"/>
                </a:solidFill>
              </a:rPr>
              <a:t>9 / 11</a:t>
            </a:r>
            <a:endParaRPr lang="en-US" sz="900" dirty="0"/>
          </a:p>
        </p:txBody>
      </p:sp>
      <p:sp>
        <p:nvSpPr>
          <p:cNvPr id="48" name="Text 46"/>
          <p:cNvSpPr/>
          <p:nvPr/>
        </p:nvSpPr>
        <p:spPr>
          <a:xfrm>
            <a:off x="457200" y="4754880"/>
            <a:ext cx="1828800" cy="274320"/>
          </a:xfrm>
          <a:prstGeom prst="rect">
            <a:avLst/>
          </a:prstGeom>
          <a:noFill/>
          <a:ln/>
        </p:spPr>
        <p:txBody>
          <a:bodyPr wrap="square" rtlCol="0" anchor="ctr"/>
          <a:lstStyle/>
          <a:p>
            <a:pPr algn="l" indent="0" marL="0">
              <a:buNone/>
            </a:pPr>
            <a:r>
              <a:rPr lang="en-US" sz="900" dirty="0">
                <a:solidFill>
                  <a:srgbClr val="8899AA"/>
                </a:solidFill>
              </a:rPr>
              <a:t>NOVAnix-DVI</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E30"/>
        </a:solidFill>
      </p:bgPr>
    </p:bg>
    <p:spTree>
      <p:nvGrpSpPr>
        <p:cNvPr id="1" name=""/>
        <p:cNvGrpSpPr/>
        <p:nvPr/>
      </p:nvGrpSpPr>
      <p:grpSpPr>
        <a:xfrm>
          <a:off x="0" y="0"/>
          <a:ext cx="0" cy="0"/>
          <a:chOff x="0" y="0"/>
          <a:chExt cx="0" cy="0"/>
        </a:xfrm>
      </p:grpSpPr>
      <p:sp>
        <p:nvSpPr>
          <p:cNvPr id="2" name="Text 0"/>
          <p:cNvSpPr/>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검사 흐름</a:t>
            </a:r>
            <a:endParaRPr lang="en-US" sz="2800" dirty="0"/>
          </a:p>
        </p:txBody>
      </p:sp>
      <p:sp>
        <p:nvSpPr>
          <p:cNvPr id="3" name="Text 1"/>
          <p:cNvSpPr/>
          <p:nvPr/>
        </p:nvSpPr>
        <p:spPr>
          <a:xfrm>
            <a:off x="457200" y="777240"/>
            <a:ext cx="8229600" cy="274320"/>
          </a:xfrm>
          <a:prstGeom prst="rect">
            <a:avLst/>
          </a:prstGeom>
          <a:noFill/>
          <a:ln/>
        </p:spPr>
        <p:txBody>
          <a:bodyPr wrap="square" lIns="0" tIns="0" rIns="0" bIns="0" rtlCol="0" anchor="ctr"/>
          <a:lstStyle/>
          <a:p>
            <a:pPr indent="0" marL="0">
              <a:buNone/>
            </a:pPr>
            <a:r>
              <a:rPr lang="en-US" sz="1200" i="1" dirty="0">
                <a:solidFill>
                  <a:srgbClr val="8899AA"/>
                </a:solidFill>
                <a:latin typeface="Calibri" pitchFamily="34" charset="0"/>
                <a:ea typeface="Calibri" pitchFamily="34" charset="-122"/>
                <a:cs typeface="Calibri" pitchFamily="34" charset="-120"/>
              </a:rPr>
              <a:t>Inspection Flow</a:t>
            </a:r>
            <a:endParaRPr lang="en-US" sz="1200" dirty="0"/>
          </a:p>
        </p:txBody>
      </p:sp>
      <p:sp>
        <p:nvSpPr>
          <p:cNvPr id="4" name="Shape 2"/>
          <p:cNvSpPr/>
          <p:nvPr/>
        </p:nvSpPr>
        <p:spPr>
          <a:xfrm>
            <a:off x="1188720" y="1234440"/>
            <a:ext cx="6858000" cy="64008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5" name="Shape 3"/>
          <p:cNvSpPr/>
          <p:nvPr/>
        </p:nvSpPr>
        <p:spPr>
          <a:xfrm>
            <a:off x="502920" y="1325880"/>
            <a:ext cx="457200" cy="457200"/>
          </a:xfrm>
          <a:prstGeom prst="ellipse">
            <a:avLst/>
          </a:prstGeom>
          <a:solidFill>
            <a:srgbClr val="0077B6"/>
          </a:solidFill>
          <a:ln/>
        </p:spPr>
      </p:sp>
      <p:sp>
        <p:nvSpPr>
          <p:cNvPr id="6" name="Text 4"/>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 name="Shape 5"/>
          <p:cNvSpPr/>
          <p:nvPr/>
        </p:nvSpPr>
        <p:spPr>
          <a:xfrm>
            <a:off x="713232" y="1783080"/>
            <a:ext cx="36576" cy="201168"/>
          </a:xfrm>
          <a:prstGeom prst="rect">
            <a:avLst/>
          </a:prstGeom>
          <a:solidFill>
            <a:srgbClr val="0077B6">
              <a:alpha val="50000"/>
            </a:srgbClr>
          </a:solidFill>
          <a:ln/>
        </p:spPr>
      </p:sp>
      <p:sp>
        <p:nvSpPr>
          <p:cNvPr id="8" name="Text 6"/>
          <p:cNvSpPr/>
          <p:nvPr/>
        </p:nvSpPr>
        <p:spPr>
          <a:xfrm>
            <a:off x="1371600" y="1280160"/>
            <a:ext cx="182880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영상 입력</a:t>
            </a:r>
            <a:endParaRPr lang="en-US" sz="1400" dirty="0"/>
          </a:p>
        </p:txBody>
      </p:sp>
      <p:sp>
        <p:nvSpPr>
          <p:cNvPr id="9" name="Text 7"/>
          <p:cNvSpPr/>
          <p:nvPr/>
        </p:nvSpPr>
        <p:spPr>
          <a:xfrm>
            <a:off x="3200400" y="1280160"/>
            <a:ext cx="4663440" cy="54864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Basler 카메라 실시간 촬영 또는 이미지/비디오 파일 로드</a:t>
            </a:r>
            <a:endParaRPr lang="en-US" sz="1100" dirty="0"/>
          </a:p>
        </p:txBody>
      </p:sp>
      <p:sp>
        <p:nvSpPr>
          <p:cNvPr id="10" name="Shape 8"/>
          <p:cNvSpPr/>
          <p:nvPr/>
        </p:nvSpPr>
        <p:spPr>
          <a:xfrm>
            <a:off x="1188720" y="1984248"/>
            <a:ext cx="6858000" cy="64008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1" name="Shape 9"/>
          <p:cNvSpPr/>
          <p:nvPr/>
        </p:nvSpPr>
        <p:spPr>
          <a:xfrm>
            <a:off x="502920" y="2075688"/>
            <a:ext cx="457200" cy="457200"/>
          </a:xfrm>
          <a:prstGeom prst="ellipse">
            <a:avLst/>
          </a:prstGeom>
          <a:solidFill>
            <a:srgbClr val="0D9488"/>
          </a:solidFill>
          <a:ln/>
        </p:spPr>
      </p:sp>
      <p:sp>
        <p:nvSpPr>
          <p:cNvPr id="12" name="Text 10"/>
          <p:cNvSpPr/>
          <p:nvPr/>
        </p:nvSpPr>
        <p:spPr>
          <a:xfrm>
            <a:off x="502920" y="2075688"/>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3" name="Shape 11"/>
          <p:cNvSpPr/>
          <p:nvPr/>
        </p:nvSpPr>
        <p:spPr>
          <a:xfrm>
            <a:off x="713232" y="2532888"/>
            <a:ext cx="36576" cy="201168"/>
          </a:xfrm>
          <a:prstGeom prst="rect">
            <a:avLst/>
          </a:prstGeom>
          <a:solidFill>
            <a:srgbClr val="0D9488">
              <a:alpha val="50000"/>
            </a:srgbClr>
          </a:solidFill>
          <a:ln/>
        </p:spPr>
      </p:sp>
      <p:sp>
        <p:nvSpPr>
          <p:cNvPr id="14" name="Text 12"/>
          <p:cNvSpPr/>
          <p:nvPr/>
        </p:nvSpPr>
        <p:spPr>
          <a:xfrm>
            <a:off x="1371600" y="2029968"/>
            <a:ext cx="182880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정지 상태 판단</a:t>
            </a:r>
            <a:endParaRPr lang="en-US" sz="1400" dirty="0"/>
          </a:p>
        </p:txBody>
      </p:sp>
      <p:sp>
        <p:nvSpPr>
          <p:cNvPr id="15" name="Text 13"/>
          <p:cNvSpPr/>
          <p:nvPr/>
        </p:nvSpPr>
        <p:spPr>
          <a:xfrm>
            <a:off x="3200400" y="2029968"/>
            <a:ext cx="4663440" cy="54864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Motion/Edge/Dark 파라미터로 바이알 정지 확인 → Candidate/Confirm 프레임 확정</a:t>
            </a:r>
            <a:endParaRPr lang="en-US" sz="1100" dirty="0"/>
          </a:p>
        </p:txBody>
      </p:sp>
      <p:sp>
        <p:nvSpPr>
          <p:cNvPr id="16" name="Shape 14"/>
          <p:cNvSpPr/>
          <p:nvPr/>
        </p:nvSpPr>
        <p:spPr>
          <a:xfrm>
            <a:off x="1188720" y="2734056"/>
            <a:ext cx="6858000" cy="64008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17" name="Shape 15"/>
          <p:cNvSpPr/>
          <p:nvPr/>
        </p:nvSpPr>
        <p:spPr>
          <a:xfrm>
            <a:off x="502920" y="2825496"/>
            <a:ext cx="457200" cy="457200"/>
          </a:xfrm>
          <a:prstGeom prst="ellipse">
            <a:avLst/>
          </a:prstGeom>
          <a:solidFill>
            <a:srgbClr val="00B4D8"/>
          </a:solidFill>
          <a:ln/>
        </p:spPr>
      </p:sp>
      <p:sp>
        <p:nvSpPr>
          <p:cNvPr id="18" name="Text 16"/>
          <p:cNvSpPr/>
          <p:nvPr/>
        </p:nvSpPr>
        <p:spPr>
          <a:xfrm>
            <a:off x="502920" y="2825496"/>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9" name="Shape 17"/>
          <p:cNvSpPr/>
          <p:nvPr/>
        </p:nvSpPr>
        <p:spPr>
          <a:xfrm>
            <a:off x="713232" y="3282696"/>
            <a:ext cx="36576" cy="201168"/>
          </a:xfrm>
          <a:prstGeom prst="rect">
            <a:avLst/>
          </a:prstGeom>
          <a:solidFill>
            <a:srgbClr val="00B4D8">
              <a:alpha val="50000"/>
            </a:srgbClr>
          </a:solidFill>
          <a:ln/>
        </p:spPr>
      </p:sp>
      <p:sp>
        <p:nvSpPr>
          <p:cNvPr id="20" name="Text 18"/>
          <p:cNvSpPr/>
          <p:nvPr/>
        </p:nvSpPr>
        <p:spPr>
          <a:xfrm>
            <a:off x="1371600" y="2779776"/>
            <a:ext cx="182880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이물질 검출</a:t>
            </a:r>
            <a:endParaRPr lang="en-US" sz="1400" dirty="0"/>
          </a:p>
        </p:txBody>
      </p:sp>
      <p:sp>
        <p:nvSpPr>
          <p:cNvPr id="21" name="Text 19"/>
          <p:cNvSpPr/>
          <p:nvPr/>
        </p:nvSpPr>
        <p:spPr>
          <a:xfrm>
            <a:off x="3200400" y="2779776"/>
            <a:ext cx="4663440" cy="54864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일반 검출 (Threshold + Morphology) + 버블 검출 (DoG + MAD) + ECC 보정</a:t>
            </a:r>
            <a:endParaRPr lang="en-US" sz="1100" dirty="0"/>
          </a:p>
        </p:txBody>
      </p:sp>
      <p:sp>
        <p:nvSpPr>
          <p:cNvPr id="22" name="Shape 20"/>
          <p:cNvSpPr/>
          <p:nvPr/>
        </p:nvSpPr>
        <p:spPr>
          <a:xfrm>
            <a:off x="1188720" y="3483864"/>
            <a:ext cx="6858000" cy="64008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23" name="Shape 21"/>
          <p:cNvSpPr/>
          <p:nvPr/>
        </p:nvSpPr>
        <p:spPr>
          <a:xfrm>
            <a:off x="502920" y="3575304"/>
            <a:ext cx="457200" cy="457200"/>
          </a:xfrm>
          <a:prstGeom prst="ellipse">
            <a:avLst/>
          </a:prstGeom>
          <a:solidFill>
            <a:srgbClr val="00C9A7"/>
          </a:solidFill>
          <a:ln/>
        </p:spPr>
      </p:sp>
      <p:sp>
        <p:nvSpPr>
          <p:cNvPr id="24" name="Text 22"/>
          <p:cNvSpPr/>
          <p:nvPr/>
        </p:nvSpPr>
        <p:spPr>
          <a:xfrm>
            <a:off x="502920" y="3575304"/>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5" name="Shape 23"/>
          <p:cNvSpPr/>
          <p:nvPr/>
        </p:nvSpPr>
        <p:spPr>
          <a:xfrm>
            <a:off x="713232" y="4032504"/>
            <a:ext cx="36576" cy="201168"/>
          </a:xfrm>
          <a:prstGeom prst="rect">
            <a:avLst/>
          </a:prstGeom>
          <a:solidFill>
            <a:srgbClr val="00C9A7">
              <a:alpha val="50000"/>
            </a:srgbClr>
          </a:solidFill>
          <a:ln/>
        </p:spPr>
      </p:sp>
      <p:sp>
        <p:nvSpPr>
          <p:cNvPr id="26" name="Text 24"/>
          <p:cNvSpPr/>
          <p:nvPr/>
        </p:nvSpPr>
        <p:spPr>
          <a:xfrm>
            <a:off x="1371600" y="3529584"/>
            <a:ext cx="182880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DL 분류</a:t>
            </a:r>
            <a:endParaRPr lang="en-US" sz="1400" dirty="0"/>
          </a:p>
        </p:txBody>
      </p:sp>
      <p:sp>
        <p:nvSpPr>
          <p:cNvPr id="27" name="Text 25"/>
          <p:cNvSpPr/>
          <p:nvPr/>
        </p:nvSpPr>
        <p:spPr>
          <a:xfrm>
            <a:off x="3200400" y="3529584"/>
            <a:ext cx="4663440" cy="54864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검출된 후보를 딥러닝 모델로 Particle / Noise / Bubble 자동 분류</a:t>
            </a:r>
            <a:endParaRPr lang="en-US" sz="1100" dirty="0"/>
          </a:p>
        </p:txBody>
      </p:sp>
      <p:sp>
        <p:nvSpPr>
          <p:cNvPr id="28" name="Shape 26"/>
          <p:cNvSpPr/>
          <p:nvPr/>
        </p:nvSpPr>
        <p:spPr>
          <a:xfrm>
            <a:off x="1188720" y="4233672"/>
            <a:ext cx="6858000" cy="640080"/>
          </a:xfrm>
          <a:prstGeom prst="rect">
            <a:avLst/>
          </a:prstGeom>
          <a:solidFill>
            <a:srgbClr val="1C2940"/>
          </a:solidFill>
          <a:ln/>
          <a:effectLst>
            <a:outerShdw sx="100000" sy="100000" kx="0" ky="0" algn="bl" rotWithShape="0" blurRad="76200" dist="25400" dir="8100000">
              <a:srgbClr val="000000">
                <a:alpha val="20000"/>
              </a:srgbClr>
            </a:outerShdw>
          </a:effectLst>
        </p:spPr>
      </p:sp>
      <p:sp>
        <p:nvSpPr>
          <p:cNvPr id="29" name="Shape 27"/>
          <p:cNvSpPr/>
          <p:nvPr/>
        </p:nvSpPr>
        <p:spPr>
          <a:xfrm>
            <a:off x="502920" y="4325112"/>
            <a:ext cx="457200" cy="457200"/>
          </a:xfrm>
          <a:prstGeom prst="ellipse">
            <a:avLst/>
          </a:prstGeom>
          <a:solidFill>
            <a:srgbClr val="FFB347"/>
          </a:solidFill>
          <a:ln/>
        </p:spPr>
      </p:sp>
      <p:sp>
        <p:nvSpPr>
          <p:cNvPr id="30" name="Text 28"/>
          <p:cNvSpPr/>
          <p:nvPr/>
        </p:nvSpPr>
        <p:spPr>
          <a:xfrm>
            <a:off x="502920" y="4325112"/>
            <a:ext cx="457200" cy="45720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1" name="Text 29"/>
          <p:cNvSpPr/>
          <p:nvPr/>
        </p:nvSpPr>
        <p:spPr>
          <a:xfrm>
            <a:off x="1371600" y="4279392"/>
            <a:ext cx="1828800" cy="5486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결과 표시 및 저장</a:t>
            </a:r>
            <a:endParaRPr lang="en-US" sz="1400" dirty="0"/>
          </a:p>
        </p:txBody>
      </p:sp>
      <p:sp>
        <p:nvSpPr>
          <p:cNvPr id="32" name="Text 30"/>
          <p:cNvSpPr/>
          <p:nvPr/>
        </p:nvSpPr>
        <p:spPr>
          <a:xfrm>
            <a:off x="3200400" y="4279392"/>
            <a:ext cx="4663440" cy="548640"/>
          </a:xfrm>
          <a:prstGeom prst="rect">
            <a:avLst/>
          </a:prstGeom>
          <a:noFill/>
          <a:ln/>
        </p:spPr>
        <p:txBody>
          <a:bodyPr wrap="square" lIns="0" tIns="0" rIns="0" bIns="0" rtlCol="0" anchor="ctr"/>
          <a:lstStyle/>
          <a:p>
            <a:pPr indent="0" marL="0">
              <a:buNone/>
            </a:pPr>
            <a:r>
              <a:rPr lang="en-US" sz="1100" dirty="0">
                <a:solidFill>
                  <a:srgbClr val="E0E7EF"/>
                </a:solidFill>
                <a:latin typeface="Calibri" pitchFamily="34" charset="0"/>
                <a:ea typeface="Calibri" pitchFamily="34" charset="-122"/>
                <a:cs typeface="Calibri" pitchFamily="34" charset="-120"/>
              </a:rPr>
              <a:t>메인 뷰에 결과 오버레이 · Defect 이미지 저장 · 결과 필터 (ALL/Parti/Noise/Bubt)</a:t>
            </a:r>
            <a:endParaRPr lang="en-US" sz="1100" dirty="0"/>
          </a:p>
        </p:txBody>
      </p:sp>
      <p:sp>
        <p:nvSpPr>
          <p:cNvPr id="33" name="Text 31"/>
          <p:cNvSpPr/>
          <p:nvPr/>
        </p:nvSpPr>
        <p:spPr>
          <a:xfrm>
            <a:off x="8046720" y="4754880"/>
            <a:ext cx="914400" cy="274320"/>
          </a:xfrm>
          <a:prstGeom prst="rect">
            <a:avLst/>
          </a:prstGeom>
          <a:noFill/>
          <a:ln/>
        </p:spPr>
        <p:txBody>
          <a:bodyPr wrap="square" rtlCol="0" anchor="ctr"/>
          <a:lstStyle/>
          <a:p>
            <a:pPr algn="r" indent="0" marL="0">
              <a:buNone/>
            </a:pPr>
            <a:r>
              <a:rPr lang="en-US" sz="900" dirty="0">
                <a:solidFill>
                  <a:srgbClr val="8899AA"/>
                </a:solidFill>
              </a:rPr>
              <a:t>10 / 11</a:t>
            </a:r>
            <a:endParaRPr lang="en-US" sz="900" dirty="0"/>
          </a:p>
        </p:txBody>
      </p:sp>
      <p:sp>
        <p:nvSpPr>
          <p:cNvPr id="34" name="Text 32"/>
          <p:cNvSpPr/>
          <p:nvPr/>
        </p:nvSpPr>
        <p:spPr>
          <a:xfrm>
            <a:off x="457200" y="4754880"/>
            <a:ext cx="1828800" cy="274320"/>
          </a:xfrm>
          <a:prstGeom prst="rect">
            <a:avLst/>
          </a:prstGeom>
          <a:noFill/>
          <a:ln/>
        </p:spPr>
        <p:txBody>
          <a:bodyPr wrap="square" rtlCol="0" anchor="ctr"/>
          <a:lstStyle/>
          <a:p>
            <a:pPr algn="l" indent="0" marL="0">
              <a:buNone/>
            </a:pPr>
            <a:r>
              <a:rPr lang="en-US" sz="900" dirty="0">
                <a:solidFill>
                  <a:srgbClr val="8899AA"/>
                </a:solidFill>
              </a:rPr>
              <a:t>NOVAnix-DVI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D"/>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sp>
      <p:sp>
        <p:nvSpPr>
          <p:cNvPr id="3" name="Text 1"/>
          <p:cNvSpPr/>
          <p:nvPr/>
        </p:nvSpPr>
        <p:spPr>
          <a:xfrm>
            <a:off x="731520" y="1371600"/>
            <a:ext cx="7680960" cy="822960"/>
          </a:xfrm>
          <a:prstGeom prst="rect">
            <a:avLst/>
          </a:prstGeom>
          <a:noFill/>
          <a:ln/>
        </p:spPr>
        <p:txBody>
          <a:bodyPr wrap="square" lIns="0" tIns="0" rIns="0" bIns="0" rtlCol="0" anchor="ctr"/>
          <a:lstStyle/>
          <a:p>
            <a:pPr algn="ctr" indent="0" marL="0">
              <a:buNone/>
            </a:pPr>
            <a:r>
              <a:rPr lang="en-US" sz="4400" b="1" dirty="0">
                <a:solidFill>
                  <a:srgbClr val="FFFFFF"/>
                </a:solidFill>
                <a:latin typeface="Trebuchet MS" pitchFamily="34" charset="0"/>
                <a:ea typeface="Trebuchet MS" pitchFamily="34" charset="-122"/>
                <a:cs typeface="Trebuchet MS" pitchFamily="34" charset="-120"/>
              </a:rPr>
              <a:t>감사합니다</a:t>
            </a:r>
            <a:endParaRPr lang="en-US" sz="4400" dirty="0"/>
          </a:p>
        </p:txBody>
      </p:sp>
      <p:sp>
        <p:nvSpPr>
          <p:cNvPr id="4" name="Text 2"/>
          <p:cNvSpPr/>
          <p:nvPr/>
        </p:nvSpPr>
        <p:spPr>
          <a:xfrm>
            <a:off x="731520" y="2103120"/>
            <a:ext cx="7680960" cy="457200"/>
          </a:xfrm>
          <a:prstGeom prst="rect">
            <a:avLst/>
          </a:prstGeom>
          <a:noFill/>
          <a:ln/>
        </p:spPr>
        <p:txBody>
          <a:bodyPr wrap="square" lIns="0" tIns="0" rIns="0" bIns="0" rtlCol="0" anchor="ctr"/>
          <a:lstStyle/>
          <a:p>
            <a:pPr algn="ctr" indent="0" marL="0">
              <a:buNone/>
            </a:pPr>
            <a:r>
              <a:rPr lang="en-US" sz="2000" i="1" dirty="0">
                <a:solidFill>
                  <a:srgbClr val="8899AA"/>
                </a:solidFill>
                <a:latin typeface="Calibri" pitchFamily="34" charset="0"/>
                <a:ea typeface="Calibri" pitchFamily="34" charset="-122"/>
                <a:cs typeface="Calibri" pitchFamily="34" charset="-120"/>
              </a:rPr>
              <a:t>Thank You</a:t>
            </a:r>
            <a:endParaRPr lang="en-US" sz="2000" dirty="0"/>
          </a:p>
        </p:txBody>
      </p:sp>
      <p:sp>
        <p:nvSpPr>
          <p:cNvPr id="5" name="Shape 3"/>
          <p:cNvSpPr/>
          <p:nvPr/>
        </p:nvSpPr>
        <p:spPr>
          <a:xfrm>
            <a:off x="3931920" y="2834640"/>
            <a:ext cx="1280160" cy="36576"/>
          </a:xfrm>
          <a:prstGeom prst="rect">
            <a:avLst/>
          </a:prstGeom>
          <a:solidFill>
            <a:srgbClr val="00B4D8"/>
          </a:solidFill>
          <a:ln/>
        </p:spPr>
      </p:sp>
      <p:sp>
        <p:nvSpPr>
          <p:cNvPr id="6" name="Text 4"/>
          <p:cNvSpPr/>
          <p:nvPr/>
        </p:nvSpPr>
        <p:spPr>
          <a:xfrm>
            <a:off x="731520" y="3108960"/>
            <a:ext cx="7680960" cy="548640"/>
          </a:xfrm>
          <a:prstGeom prst="rect">
            <a:avLst/>
          </a:prstGeom>
          <a:noFill/>
          <a:ln/>
        </p:spPr>
        <p:txBody>
          <a:bodyPr wrap="square" lIns="0" tIns="0" rIns="0" bIns="0" rtlCol="0" anchor="ctr"/>
          <a:lstStyle/>
          <a:p>
            <a:pPr algn="ctr" indent="0" marL="0">
              <a:buNone/>
            </a:pPr>
            <a:r>
              <a:rPr lang="en-US" sz="2400" dirty="0">
                <a:solidFill>
                  <a:srgbClr val="00B4D8"/>
                </a:solidFill>
                <a:latin typeface="Calibri" pitchFamily="34" charset="0"/>
                <a:ea typeface="Calibri" pitchFamily="34" charset="-122"/>
                <a:cs typeface="Calibri" pitchFamily="34" charset="-120"/>
              </a:rPr>
              <a:t>Q &amp; A</a:t>
            </a:r>
            <a:endParaRPr lang="en-US" sz="2400" dirty="0"/>
          </a:p>
        </p:txBody>
      </p:sp>
      <p:sp>
        <p:nvSpPr>
          <p:cNvPr id="7" name="Text 5"/>
          <p:cNvSpPr/>
          <p:nvPr/>
        </p:nvSpPr>
        <p:spPr>
          <a:xfrm>
            <a:off x="731520" y="4114800"/>
            <a:ext cx="7680960" cy="365760"/>
          </a:xfrm>
          <a:prstGeom prst="rect">
            <a:avLst/>
          </a:prstGeom>
          <a:noFill/>
          <a:ln/>
        </p:spPr>
        <p:txBody>
          <a:bodyPr wrap="square" lIns="0" tIns="0" rIns="0" bIns="0" rtlCol="0" anchor="ctr"/>
          <a:lstStyle/>
          <a:p>
            <a:pPr algn="ctr" indent="0" marL="0">
              <a:buNone/>
            </a:pPr>
            <a:r>
              <a:rPr lang="en-US" sz="1200" dirty="0">
                <a:solidFill>
                  <a:srgbClr val="8899AA"/>
                </a:solidFill>
                <a:latin typeface="Calibri" pitchFamily="34" charset="0"/>
                <a:ea typeface="Calibri" pitchFamily="34" charset="-122"/>
                <a:cs typeface="Calibri" pitchFamily="34" charset="-120"/>
              </a:rPr>
              <a:t>NOVAnix-DVI  |  바이알 이물질 검사 시스템</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NOVAnix-DVI 바이알 이물질 검사 시스템</dc:title>
  <dc:subject>PptxGenJS Presentation</dc:subject>
  <dc:creator>NOVAnix</dc:creator>
  <cp:lastModifiedBy>NOVAnix</cp:lastModifiedBy>
  <cp:revision>1</cp:revision>
  <dcterms:created xsi:type="dcterms:W3CDTF">2026-03-28T09:19:44Z</dcterms:created>
  <dcterms:modified xsi:type="dcterms:W3CDTF">2026-03-28T09:19:44Z</dcterms:modified>
</cp:coreProperties>
</file>