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Time (ms)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E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Lv.0
PyTorch</c:v>
                  </c:pt>
                  <c:pt idx="1">
                    <c:v>Lv.1
ONNX</c:v>
                  </c:pt>
                  <c:pt idx="2">
                    <c:v>Lv.2
ORT-GPU</c:v>
                  </c:pt>
                  <c:pt idx="3">
                    <c:v>Lv.3
FP16</c:v>
                  </c:pt>
                  <c:pt idx="4">
                    <c:v>Lv.4
TensorRT</c:v>
                  </c:pt>
                  <c:pt idx="5">
                    <c:v>Lv.5
INT8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120</c:v>
                </c:pt>
                <c:pt idx="2">
                  <c:v>80</c:v>
                </c:pt>
                <c:pt idx="3">
                  <c:v>50</c:v>
                </c:pt>
                <c:pt idx="4">
                  <c:v>25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E5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3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1: 타이틀]
NOVAnix-DVI는 "NOVAnix Deep Vision Inspection"의 약자로, 제약/바이오 산업에서 사용되는 바이알(Vial) 내부의 이물질을 자동으로 검출하는 딥러닝 기반 검사 시스템입니다.
■ 프로젝트 핵심 키워드:
- Deep Learning: PyTorch 기반 객체 검출 모델 (YOLOv8 아키텍처 커스텀)
- Computer Vision: OpenCV 기반 영상 전처리, 형태학적 분석, Optical Flow
- Real-time Inspection: GPU 가속(CUDA/TensorRT)을 활용한 실시간 처리 (목표 30+ FPS)
■ 발표 대상: 내부 개발팀
- 이 발표는 기술적 세부 사항에 초점을 맞추고 있습니다
- 모든 파라미터의 정의, 타입, 기본값, 허용 범위를 포함합니다
- 시스템 아키텍처, 모듈 구조, 데이터 플로우를 상세히 다룹니다
■ 발표 시간 가이드: 약 40~50분 (Q&amp;A 포함)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2: 목차]
총 7개 섹션, 27장의 슬라이드로 구성되어 있습니다.
■ 섹션별 발표 시간 배분 가이드:
- 01 프로젝트 개요 (p.3-4): ~5분 — 배경, 기존 문제점, 솔루션 방향, 핵심 가치 3가지 소개
- 02 시스템 아키텍처 (p.5-8): ~8분 — 5단계 파이프라인, 기술 스택 6개 카테고리, 10개 모듈 구조, 데이터 플로우 상세 (해상도, 텐서 크기, 처리 시간 등)
- 03 UI/UX 설계 (p.9-13): ~8분 — User/Viewer 모드 차이, 3영역 레이아웃, 6대 핵심 기능, Debug Panel 10개 모니터링 항목, 3단계 권한 체계 상세
- 04 검사 파라미터 상세 (p.14-19): ~10분 — 6개 파라미터 그룹(총 31개 파라미터)의 타입/기본값/범위/설명 전부 포함. 정지 판단, Threshold, 분류 조건, Bubble 파이프라인, ROI, 카메라
- 05 DL 추론 최적화 (p.20-22): ~5분 — Level 0(PyTorch)~Level 5(INT8) 6단계 최적화, 10개 추론 파라미터, 성능 비교 차트
- 06 검사 흐름 &amp; 성능 (p.23-25): ~7분 — E2E 6단계 흐름, KPI 4개, 로깅/모니터링 시스템, 에러 핸들링 7개 코드
- 07 향후 로드맵 &amp; Q&amp;A (p.26-27): ~5분 — Phase 1~4 로드맵, 질의응답
■ 이 발표의 핵심 메시지:
"NOVAnix-DVI는 수동 육안 검사를 대체하는 AI 기반 자동 검사 시스템으로, 정량적이고 재현 가능한 품질 관리를 실현합니다."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3: 프로젝트 배경 및 필요성]
■ 기존 문제점 (좌측 카드) — 왜 자동화가 필요한가:
1) 수동 육안 검사의 한계:
   - 현재 제약 라인에서는 숙련된 검사원이 바이알을 빛에 비추어 이물질을 육안으로 확인
   - 검사원의 피로도, 집중력에 따라 검출률이 60%~90%까지 변동
   - 특히 야간 교대, 장시간 근무 시 검출률이 급격히 하락
   - 50μm 이하의 미세 이물질은 육안으로 거의 검출 불가
2) 일관성 없는 품질 기준:
   - 검사원 A와 B의 판정 기준이 다름 (주관적 판단)
   - 동일 바이알을 다시 검사해도 결과가 달라질 수 있음 (재현성 부족)
   - 교육/경력에 따른 편차가 크고, 표준화가 어려움
3) 생산성 병목:
   - 라인 속도가 분당 300~600개인데, 육안 검사 처리량은 이에 미치지 못함
   - 검사 공정이 전체 생산라인의 병목 구간이 되는 경우가 빈번
4) 규제 대응 어려움:
   - GMP(Good Manufacturing Practice) 기준 충족을 위한 정량적 검사 데이터 필요
   - FDA, EMA 등 규제 기관에서 요구하는 검사 이력 추적(Audit Trail) 기능 부족
   - 수기 기록 기반으로는 감사 대응이 어려움
■ NOVAnix-DVI 솔루션 (우측 카드) — 어떻게 해결하는가:
1) AI 기반 자동 검사: 딥러닝 모델이 이물질 위치, 크기, 종류를 자동 판별. 목표 검출률 99%+
2) 정량적 판정 기준: 수치화된 Threshold(신뢰도, 면적, 밝기 등)로 일관된 판정. 검사원 의존도 제거
3) 실시간 처리: NVIDIA GPU(CUDA/TensorRT) 가속으로 30FPS+ 처리. 라인 속도를 초과하는 검사 처리량 확보
4) 추적 가능한 기록: SQLite DB에 모든 검사 결과 자동 저장, NG 이미지 아카이빙, CSV/Excel Export 지원으로 감사 추적 완전 대응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4: 프로젝트 목표 및 핵심 가치]
3가지 핵심 가치를 중심으로 프로젝트 목표를 설명합니다.
■ 핵심 가치 1: 정밀 검출
- 이물질 크기 50μm 이상 검출: 사람 머리카락 두께(약 70μm)보다 작은 이물질까지 검출 가능
- 버블/섬유/입자 구분 분류: 단순 이물질 유무가 아닌, 종류별 분류 수행. 버블은 제품 품질에 영향 없으므로 이물질과 구분 필수
- False Positive Rate &lt; 2%: 정상 바이알을 NG로 판정하는 비율을 2% 미만으로 유지. FPR이 높으면 생산 수율 하락
- False Negative Rate &lt; 0.5%: 이물질이 있는 바이알을 OK로 판정하는 비율을 0.5% 미만으로 유지. FNR이 높으면 품질 사고 발생
■ 핵심 가치 2: 실시간 처리
- 추론 시간 &lt; 100ms/frame: 단일 프레임 처리에 100ms 이내. TensorRT 최적화 시 15~25ms 달성 가능
- 30+ FPS 실시간 영상 처리: 카메라 프레임 레이트와 동일하게 처리하여 프레임 드롭 없는 실시간 검사
- GPU 병렬 처리 (CUDA): NVIDIA CUDA 코어를 활용한 텐서 연산 병렬화. RTX 3060 이상 권장
- 멀티 카메라 동시 지원: 향후 확장으로 2~4대 카메라 동시 처리 지원 계획 (Phase 1 로드맵)
■ 핵심 가치 3: 신뢰성 &amp; 확장성
- 24/7 무중단 운영 설계: 메모리 누수 방지, 예외 처리, 자동 복구 메커니즘 내장. 제조 라인의 연속 운전 요구사항 충족
- 다단계 권한 관리 체계: Viewer(Level 0), Operator(Level 1), Admin(Level 2) 3단계. 비밀번호 기반 모드 전환
- 파라미터 Hot-Reload 지원: JSON/YAML 설정 파일 변경 시 watchdog으로 감지하여 검사 중단 없이 파라미터 갱신
- 모듈화된 파이프라인 구조: 카메라, 전처리, 추론, 후처리, UI가 독립 모듈로 분리. 개별 교체/업그레이드 용이
■ 수치 목표 요약:
| 지표 | 목표값 |
| 검출률 (Recall) | &gt; 99% |
| 정밀도 (Precision) | &gt; 95% |
| FPR | &lt; 2% |
| FNR | &lt; 0.5% |
| 추론 시간 | &lt; 100ms |
| 처리 속도 | &gt; 30 FPS 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5: 시스템 아키텍처 개요]
상단: 5단계 검사 파이프라인의 전체 흐름을 보여줍니다.
■ 5단계 파이프라인 상세:
1) 영상 획득 (Camera Interface):
   - GigE Vision 또는 USB3 인터페이스로 산업용 카메라와 연결
   - Basler Pylon SDK를 통해 카메라 제어 (노출, 게인, 트리거 등)
   - Ring Buffer 방식으로 최근 5프레임 유지, 프레임 드롭 최소화
   - 해상도: 2448×2048 (5MP), 프레임 레이트: 30fps
2) 전처리 (Image Preprocess):
   - ROI(관심영역) 크롭으로 바이알 영역만 추출
   - Grayscale 변환 또는 RGB 정규화
   - Gaussian Blur(σ=1.5)로 센서 노이즈 제거
   - Histogram Equalization으로 조명 불균일 보정
   - float32 정규화 (0~1 범위) 후 텐서 변환
3) 검출/분석 (DL Inference):
   - YOLOv8 기반 커스텀 모델로 이물질 위치 검출
   - 입력 텐서: [1, 3, 640, 640] (배치, 채널, H, W)
   - 백엔드: ONNX Runtime (GPU Provider) 또는 TensorRT
   - 출력: Bounding Box 좌표 + 신뢰도 점수 + 클래스 ID
4) 분류/판정 (Rule Engine):
   - NMS(Non-Maximum Suppression)로 중복 BBox 제거 (IoU 0.45)
   - Confidence Threshold로 저신뢰 검출 필터링
   - 원형도, 면적, 밝기 차이 등으로 버블 vs 이물질 분류
   - 최종 OK/NG 판정
5) 결과 출력 (Result &amp; Logging):
   - UI에 BBox Overlay + OK/NG 상태 표시
   - SQLite DB에 결과 자동 저장
   - NG 판정 시 원본+Overlay 이미지 자동 아카이빙
   - 선택적으로 PLC/IO 신호 출력 (제조 라인 연동)
■ 하단: 6개 모듈 구성
Core Modules (핵심 모듈):
- CameraManager: 카메라 하드웨어 추상화 계층. GigE/USB3 프로토콜 처리, 프레임 버퍼 관리
- InspectionEngine: 전체 검사 파이프라인의 오케스트레이터. 상태 머신(Idle→Capturing→Inspecting→Done) 관리
- ModelInference: DL 모델 로딩, 추론 실행, NMS/Softmax 후처리. ONNX Runtime과 TensorRT 백엔드 추상화
Support Modules (지원 모듈):
- UIController: PyQt6 기반 GUI 프레임워크. QThread로 UI/검사 스레드 분리. User/Viewer 모드 전환 로직
- ParameterManager: JSON/YAML 설정 파일 로드/저장. 파라미터 유효성 검증(Validation). watchdog 기반 Hot-Reload
- ResultLogger: 검사 결과 SQLite 저장, CSV/Excel Export, 이미지 아카이빙. 날짜별 폴더 자동 생성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6: 기술 스택 상세]
6개 카테고리로 나뉜 기술 스택을 설명합니다.
■ Language &amp; Runtime:
- Python 3.10+: 타입 힌트(match문, ParamSpec 등) 활용, 개발 생산성 극대화
- NumPy: 배열 연산 가속. 이미지 데이터를 ndarray로 처리하여 벡터화 연산 수행
- OpenCV (cv2): 영상 전처리(Blur, Threshold, Morphology), 카메라 인터페이스, 드로잉(BBox Overlay)
■ Deep Learning:
- PyTorch: 모델 학습 및 프로토타이핑. torchvision으로 데이터 증강(augmentation) 수행
- ONNX Runtime: PyTorch 모델을 ONNX 포맷으로 변환 후 추론. CUDAExecutionProvider로 GPU 가속
- TensorRT: NVIDIA 전용 고성능 추론 엔진. FP16/INT8 양자화, 레이어 퓨전(fusion)으로 최대 13배 속도 향상
■ GUI Framework:
- PyQt6: 크로스 플랫폼 GUI. QMainWindow, QWidget, QLabel, QSlider 등 위젯 활용
- QThread: UI 스레드와 검사 스레드를 분리하여 UI 프리징 방지. Signal/Slot 메커니즘으로 스레드 간 안전한 통신
- Custom Widgets: 실시간 영상 뷰어(ZoomableImageLabel), 파라미터 조정 슬라이더(RangeSlider), 상태 표시 LED 등 자체 위젯
■ Camera SDK:
- GigE Vision (Basler Pylon): 산업용 카메라 표준 프로토콜. 점보 프레임(9000 MTU) 설정으로 대역폭 확보
- USB3 Vision: USB3.0 인터페이스 카메라 지원. GigE 대비 설치 간편, 케이블 길이 제한(5m) 있음
- 카메라 설정: 노출 시간(μs), 아날로그 게인(dB), 화이트밸런스, 트리거 모드(Continuous/External)
■ Database &amp; Log:
- SQLite3: 서버 없는 경량 DB. 단일 파일로 운영되어 별도 DB 서버 불필요. 검사 결과, 통계 저장
- CSV Logger: 검사 결과를 CSV 파일로 실시간 기록. 일별 파일 자동 생성. Excel에서 직접 열기 가능
- JSON Config: 모든 파라미터를 JSON 파일로 관리. 사람이 읽기 쉽고, 버전 관리(Git) 용이
■ DevOps &amp; Tools:
- Git: 소스 코드 버전 관리. feature branch 전략 사용
- Docker: 배포 환경 컨테이너화. NVIDIA Container Toolkit으로 GPU 접근
- pytest: 단위 테스트/통합 테스트. 파라미터 검증, 모델 추론 결과 검증 등
- CI/CD: GitHub Actions로 자동 빌드/테스트 (계획)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7: 모듈 구조 상세]
10개 핵심 모듈을 4개 레이어로 분류하여 설명합니다. 각 모듈의 파일 경로, 역할, 주요 클래스/함수를 상세히 다룹니다.
■ Entry Layer (1개):
- main.py: 어플리케이션의 진입점. 다음 순서로 초기화를 수행:
  1) 로깅 설정 (logging.basicConfig)
  2) ParameterManager 로드 (config 파일 읽기)
  3) CameraManager 초기화 (카메라 연결)
  4) ModelInference 초기화 (모델 로딩 + 워밍업)
  5) InspectionEngine 초기화 (파이프라인 구성)
  6) QApplication 생성 → MainWindow 표시
  - 주요 함수: main(), setup_logging(), parse_args()
■ Core Layer (4개):
- core/camera_manager.py:
  - 클래스: CameraManager
  - 메서드: connect(), disconnect(), grab_frame(), set_exposure(), set_gain(), set_roi()
  - 내부적으로 pypylon.pylon.InstantCamera 래핑
  - Ring Buffer(deque, maxlen=5)로 최근 프레임 유지
- core/inspection_engine.py:
  - 클래스: InspectionEngine
  - 상태 머신: IDLE → WAITING_STABLE → INSPECTING → RESULT → IDLE
  - 메서드: start(), stop(), run_inspection(), check_motion(), process_frame()
  - QThread를 상속하여 별도 스레드에서 검사 루프 실행
- core/model_inference.py:
  - 클래스: ModelInference
  - 메서드: load_model(), predict(), postprocess(), warmup()
  - 백엔드 추상화: OnnxBackend, TensorRTBackend 서브클래스
  - 후처리: NMS (torchvision.ops.nms 또는 커스텀), Softmax, BBox 스케일링
- core/parameter_manager.py:
  - 클래스: ParameterManager
  - 메서드: load_config(), save_config(), get(), set(), validate(), watch_changes()
  - watchdog.observers.Observer로 파일 변경 감지 → Hot-Reload
  - 파라미터 스키마 검증: 타입, 범위, 필수값 체크
■ UI Layer (3개):
- ui/main_window.py:
  - 클래스: MainWindow(QMainWindow)
  - 레이아웃: QHBoxLayout으로 3영역(Debug/Main/Control) 구성
  - 메서드: switch_mode(), update_status(), handle_result()
  - 모드 전환: User/Viewer 모드에 따라 위젯 표시/숨김
- ui/viewer_panel.py:
  - 클래스: ViewerPanel(QWidget), ZoomableImageLabel(QLabel)
  - 기능: 실시간 프레임 표시, BBox/라벨 Overlay, 마우스 Zoom/Pan
  - paintEvent() 오버라이드로 OpenCV Mat → QPixmap 변환 후 그리기
- ui/control_panel.py:
  - 클래스: ControlPanel(QWidget)
  - 위젯: QPushButton(Start/Stop), QSlider(Threshold), QComboBox(모드), QSpinBox(파라미터)
  - Signal 연결: 파라미터 변경 시 ParameterManager.set() 호출 → 실시간 반영
■ Util Layer (2개):
- utils/result_logger.py: SQLite3 연결 관리, INSERT 쿼리, CSV Export, 이미지 저장 경로 생성
- utils/image_processor.py: 전처리 함수 모음 — apply_roi(), to_grayscale(), gaussian_blur(), normalize(), resize_for_model()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8: 데이터 플로우 아키텍처]
각 단계에서 데이터가 어떤 형태로 변환되는지, 구체적인 해상도/텐서 크기/처리 시간을 포함하여 설명합니다.
■ Stage 1: Frame Capture (카메라 → Raw Frame)
- 입력: 카메라 센서의 Bayer 패턴 RAW 데이터
- 출력: BGR 또는 Mono8 포맷의 NumPy ndarray
- 해상도: 2448 × 2048 픽셀 (약 5MP)
- 프레임 레이트: 30fps (33.3ms/frame)
- 버퍼: Ring Buffer 방식으로 최근 5프레임 유지 (deque, maxlen=5)
- 메모리: 프레임당 약 15MB (2448×2048×3 bytes, BGR 기준)
- GigE Vision 대역폭: ~450MB/s 필요 → 점보 프레임(MTU 9000) 필수
■ Stage 2: Pre-processing (Raw Frame → 정규화된 텐서)
- ROI Crop: 2448×2048 → roi_w×roi_h (기본 2048×1748)로 크롭. 바이알 영역만 추출
- Grayscale Convert: BGR → Gray (3채널 → 1채널). 버블 검출 파이프라인에서 사용
- Gaussian Blur: cv2.GaussianBlur(img, (5,5), 1.5). 센서 노이즈 + 미세 진동 잡음 제거
- Histogram Equalization: cv2.equalizeHist() 또는 CLAHE. 조명 불균일 보정
- Normalization: uint8(0~255) → float32(0.0~1.0). mean/std 정규화 선택 가능
- Resize: ROI 크롭 이미지를 모델 입력 크기(640×640)로 리사이즈. letterbox 패딩 적용
- 처리 시간: ~3-5ms (CPU), ~1ms (GPU CUDA 활용 시)
■ Stage 3: DL Inference (텐서 → 검출 결과)
- 입력 텐서: shape [1, 3, 640, 640], dtype float32 (또는 float16)
- 모델 아키텍처: YOLOv8n/s 기반 커스텀. Backbone(CSPDarknet) + Neck(FPN+PAN) + Head(Detect)
- 클래스: foreign_body(이물질), bubble(버블), fiber(섬유), particle(입자)
- 출력: Raw detections [N, 6] = [x1, y1, x2, y2, confidence, class_id]
- 백엔드별 처리 시간:
  - PyTorch (FP32): ~200ms
  - ONNX Runtime GPU (FP32): ~80ms
  - ONNX Runtime GPU (FP16): ~50ms
  - TensorRT (FP16): ~25ms
  - TensorRT (INT8): ~15ms
■ Stage 4: Post-processing (Raw detections → 분류된 결과)
- NMS: IoU threshold 0.45로 중복 BBox 제거. 같은 이물질에 대한 다중 검출 통합
- Confidence Filter: Global threshold(0.5) → 클래스별 threshold(Foreign:0.3, Bubble:0.6)
- 분류 규칙 적용:
  - 원형도(circularity) &gt; 0.7 → Bubble로 재분류
  - 면적(area) &lt; min_area_px(50) → 노이즈로 필터링
  - 면적 &gt; max_area_px(50000) → 오탐으로 필터링
- BBox 좌표를 640×640 → 원본 해상도로 역변환
- 크기 추정: 픽셀 → μm 변환 (calibration factor 사용)
- 처리 시간: ~2ms
■ Stage 5: Result &amp; Action (분류 결과 → UI/DB/IO)
- OK/NG 판정: 이물질(foreign_body) 1개 이상 검출 시 NG, 그 외 OK
- UI 표시: QPixmap에 BBox + 클래스 라벨 + 신뢰도 Overlay → ViewerPanel 업데이트
- DB 저장: SQLite INSERT — timestamp, vial_id, result, detections(JSON), inference_time, image_path
- NG 이미지 저장: /archive/{YYYY-MM-DD}/{vial_id}_original.png + {vial_id}_overlay.png
- PLC/IO 출력 (옵션): GPIO 또는 Modbus TCP로 OK/NG 신호 전송 → 리젝터(Rejector) 작동
- 처리 시간: ~3ms (DB 저장 포함)
■ 전체 사이클 시간: ~25ms(최적화) ~ ~90ms(기본) per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9: 메인 화면 구성 — User 모드]
User 모드의 3영역 레이아웃을 상세히 설명합니다. QHBoxLayout으로 좌(Debug):중(Viewer):우(Control) = 약 2:4:2 비율로 배치됩니다.
■ 좌측: Debug Panel (약 20% 너비)
시스템 상태를 실시간으로 모니터링하는 패널입니다. 개발/운영자가 시스템 건강 상태를 한눈에 파악할 수 있습니다.
표시 항목:
1) FPS Counter: 현재 프레임 처리 속도. QTimer(100ms 주기)로 갱신. 정상: 28~32 FPS (녹색), 경고: 20~28 FPS (주황), 위험: &lt;20 FPS (빨강)
2) Inference Time (ms): DL 모델 1회 추론 소요 시간. time.perf_counter()로 측정. 정상: &lt;50ms, 경고: 50~100ms, 위험: &gt;100ms
3) GPU Memory Usage: nvidia-smi 또는 pynvml 라이브러리로 조회. 사용량/전체 용량 (예: 2.1GB / 6.0GB)
4) GPU Utilization (%): GPU 코어 활용률. 추론 중 60~80% 정상. 100% 지속 시 병목 의심
5) CPU Utilization (%): psutil.cpu_percent()로 조회. 전처리/후처리가 CPU 바운드이므로 모니터링 필요
6) Detection Count: 현재 프레임에서 검출된 객체 수. 이물질 + 버블 각각 표시
7) Camera Status: Connected(녹색 LED) / Disconnected(빨강 LED) / Error(주황 점멸)
8) Model Info: 로딩된 모델 파일명, 백엔드 종류, precision(FP32/FP16/INT8)
9) Processing Queue: 처리 대기 중인 프레임 수. Ring Buffer의 현재 사이즈. 큐가 계속 쌓이면 처리 속도 부족
10) Total Inspected: 현재 세션 시작 이후 누적 검사 수량. OK/NG 각각 카운트
■ 중앙: Main Viewer (약 45% 너비)
실시간 영상을 표시하는 핵심 영역입니다.
기능 상세:
1) 실시간 영상 스트리밍: QThread에서 grab_frame() → QPixmap 변환 → QLabel.setPixmap(). paintEvent()에서 BBox Overlay를 QPainter로 렌더링
2) BBox Overlay: 검출된 이물질/버블 위치에 색상별 사각형 표시. 이물질=빨강, 버블=파랑, 섬유=주황
3) 클래스 라벨 + 신뢰도: BBox 상단에 "foreign_body 0.87" 형태로 표시. 폰트 크기 자동 조절
4) OK/NG 상태: 화면 상단에 대형 텍스트로 표시. OK=녹색 배경, NG=빨강 배경 + 경고음(옵션)
5) Zoom/Pan: 마우스 휠로 확대/축소 (1x~10x), 드래그로 이동. ZoomableImageLabel 커스텀 위젯
6) ROI 시각화: 반투명 파란색 사각형으로 ROI 영역 경계 표시. ROI 외부는 어둡게 처리
■ 우측: Control Panel (약 20% 너비)
검사 제어 및 파라미터 조정 인터페이스입니다.
위젯 구성:
1) Start/Stop 버튼: QPushButton. 검사 루프 시작/정지. 아이콘 + 색상 변경 (시작=녹색, 정지=빨강)
2) 모드 전환 스위치: QComboBox 또는 커스텀 토글. User/Viewer 모드 전환. 비밀번호 입력 다이얼로그
3) 파라미터 조정 패널: QGroupBox 안에 각 파라미터별 QSlider + QSpinBox 조합
4) Threshold Slider: QSlider(0.0~1.0, step 0.01) + QDoubleSpinBox. 실시간 반영 (valueChanged 시그널)
5) 카메라 설정: 노출/게인/WB 조정. QSlider + 즉시 적용 버튼
6) 로그 Export: QPushButton → QFileDialog로 저장 경로 선택 → CSV/Excel Export
7) 시스템 상태 표시: LED 아이콘 + 텍스트로 카메라/모델/디스크 상태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10: 메인 화면 주요 기능]
6가지 핵심 기능을 2×3 그리드 카드로 설명합니다. 각 기능의 구현 방식과 기술적 세부사항을 포함합니다.
■ 1. 실시간 영상 표시
- QThread 기반 비동기 프레임 업데이트. UI 스레드와 영상 처리 스레드 분리
- grab_frame() → cv2.cvtColor(BGR2RGB) → QImage → QPixmap 변환 파이프라인
- QTimer(33ms 주기, ~30fps)로 QLabel.setPixmap() 호출
- 프레임 드롭 방지: 최신 프레임만 표시 (큐에 쌓이면 오래된 것 버림)
- 해상도 자동 맞춤: QLabel 크기에 맞게 Qt.KeepAspectRatio로 스케일링
■ 2. 검출 결과 Overlay
- QPainter를 사용한 실시간 오버레이 렌더링
- BBox 색상 코딩: foreign_body=빨강(#F44336), bubble=파랑(#2196F3), fiber=주황(#FF9800), particle=보라(#9C27B0)
- 라벨 표시: 클래스명 + 신뢰도 (예: "foreign 0.87"). 배경에 반투명 사각형으로 가독성 확보
- BBox 두께: 2px (기본) ~ 4px (선택/하이라이트 시)
- 클릭 시 해당 검출 객체의 상세 정보 팝업 (면적, 밝기, 원형도 등)
■ 3. 파라미터 실시간 조정
- ParameterManager.set(key, value) 호출 → Hot-Reload 없이 메모리에서 즉시 반영
- QSlider의 valueChanged 시그널 → 0.1초 디바운스 → 파라미터 적용
- 변경 사항은 "적용" 버튼 클릭 시에만 JSON 파일에 저장 (실수 방지)
- 파라미터 범위 제한: QValidator로 입력값 검증. 범위 초과 시 경고 표시
- 실시간 프리뷰: Threshold 변경 시 현재 프레임에 즉시 재적용하여 결과 미리보기
■ 4. 통계 대시보드
- pyqtgraph 또는 matplotlib 임베딩으로 실시간 차트 표시
- OK/NG 비율: 파이 차트 (세션 누적, 1시간 단위, 일간)
- 검출 분포: 클래스별 히스토그램 (foreign/bubble/fiber/particle 비율)
- 시간대별 추이: 시간-NG율 라인 차트. 이상 패턴(NG 급증) 시각적 감지
- 크기 분포: 검출 객체 면적 히스토그램. Small/Medium/Large/Critical 분류
■ 5. 결과 로깅 &amp; Export
- SQLite DB 스키마:
  - inspection_results 테이블: id, timestamp, vial_id, result(OK/NG), detections(JSON), inference_time_ms, image_path
  - session_stats 테이블: session_id, start_time, end_time, total_count, ok_count, ng_count
- CSV Export: pandas DataFrame → to_csv(). 날짜 범위/결과 필터 적용 가능
- Excel Export: openpyxl로 서식 지정된 엑셀 파일 생성. 헤더 강조, 자동 열 너비
- 자동 백업: 일별 DB 파일 자동 백업. retention 정책(기본 90일) 설정 가능
■ 6. 시스템 모니터링
- pynvml 라이브러리로 GPU 상태 조회 (온도, 메모리, 활용률, 팬 속도)
- psutil로 CPU/RAM 사용률 조회
- 디스크 여유 공간 모니터링. 1GB 미만 시 알림
- 카메라 연결 상태: 1초 주기 heartbeat 체크. 끊김 시 자동 재연결 시도(3회)
- 로그 레벨: DEBUG/INFO/WARNING/ERROR. 파일 + 콘솔 동시 출력. rotating file handler(10MB, 5개 파일)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11: Debug Panel 상세 정의]
Debug Panel에 표시되는 10개 모니터링 파라미터의 타입, 설명, 범위를 상세히 정의합니다.
■ 1. fps_display (float, 0.0~120.0)
- 정의: 최근 1초간 처리된 프레임 수의 이동 평균
- 계산: deque(maxlen=30)에 프레임 처리 시간 저장 → 1/mean(times) 으로 FPS 계산
- 정상 범위: 28~32 FPS (30fps 카메라 기준)
- 경고 기준: &lt;25 FPS (주황), &lt;15 FPS (빨강)
- 갱신 주기: 100ms (QTimer)
■ 2. inference_time_ms (float, 0.0~1000.0ms)
- 정의: DL 모델의 단일 추론(forward pass) 소요 시간
- 측정: time.perf_counter() 사용 (time.time()보다 정밀)
- 포함 범위: 텐서 변환 + 추론 + NMS (전처리/후처리 제외)
- 정상 범위: &lt;50ms (TensorRT), &lt;100ms (ONNX Runtime)
- 표시: 최근 10회 이동 평균 + 최근 1회 값 병기
■ 3. gpu_memory_mb (int, 0~24576MB)
- 정의: 현재 GPU VRAM 사용량 (MB)
- 조회: pynvml.nvmlDeviceGetMemoryInfo(handle).used // (1024*1024)
- 모델별 예상 사용량: YOLOv8n ~500MB, YOLOv8s ~800MB, YOLOv8m ~1.5GB
- 경고 기준: 전체 VRAM의 90% 초과 시 경고
■ 4. gpu_util_percent (float, 0.0~100.0%)
- 정의: GPU 연산 코어 활용률
- 조회: pynvml.nvmlDeviceGetUtilizationRates(handle).gpu
- 추론 중 정상: 40~70%. 100% 지속 = 추론 병목
■ 5. cpu_util_percent (float, 0.0~100.0%)
- 정의: 전체 CPU 사용률
- 조회: psutil.cpu_percent(interval=None)
- 전처리(OpenCV), UI 렌더링이 CPU 바운드. 정상: 20~50%
■ 6. detection_count (int, 0~N)
- 정의: 현재 프레임에서 NMS 후 최종 검출된 객체 수
- 세부: total=N, foreign=X, bubble=Y, other=Z 형태로 표시
- 비정상: 갑자기 &gt;50개 검출 = 조명 이상 또는 카메라 오류 의심
■ 7. camera_status (enum: Connected/Disconnected/Error)
- Connected: 카메라 연결 정상, 프레임 수신 중 (녹색 LED)
- Disconnected: 카메라 연결 끊김 (빨강 LED). 자동 재연결 시도
- Error: 카메라 연결은 되었으나 프레임 수신 오류 (주황 점멸 LED)
- 체크 주기: 1초마다 heartbeat 확인
■ 8. model_name (str)
- 정의: 현재 로딩된 모델 파일명 (확장자 포함)
- 예시: "yolov8n_vial_v3.onnx", "yolov8s_vial_v3.engine"
- 추가 표시: 백엔드(ONNX/TRT), precision(FP32/FP16/INT8)
■ 9. queue_size (int, 0~buffer_size)
- 정의: 처리 대기 중인 프레임 큐의 현재 크기
- 정상: 0~1 (실시간 처리 중). 지속적으로 &gt;3이면 처리 속도 부족
- 최대: Ring Buffer maxlen (기본 5). 초과 시 가장 오래된 프레임 자동 드롭
■ 10. total_inspected (int, 0~∞)
- 정의: 현재 세션 시작 이후 누적 검사 수량
- 세부 표시: Total: 1,234 (OK: 1,210 / NG: 24 / NG률: 1.9%)
- 세션 단위: Start 버튼 클릭 시 리셋. DB에는 전체 이력 유지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12: User 모드 vs Viewer 모드 비교]
User 모드와 Viewer 모드의 10가지 기능 차이를 비교합니다.
■ 모드 전환 메커니즘:
- 기본 시작 모드: Viewer (안전한 읽기 전용)
- User 모드 진입: 메뉴 또는 단축키(Ctrl+U) → 비밀번호 입력 다이얼로그 → Level 1/2 인증
- 자동 잠금: User 모드에서 5분간 조작 없으면 자동으로 Viewer 모드로 전환 (보안)
- 구현: QStackedWidget으로 모드별 위젯 세트를 교체. 불필요한 패널은 hide()
■ 기능별 상세 비교:
1) 실시간 영상 보기: 양쪽 모두 O
   - 동일한 ViewerPanel 사용. Zoom/Pan도 양쪽 모두 가능
2) 검출 결과 Overlay: 양쪽 모두 O
   - BBox, 라벨, 신뢰도 표시. Viewer에서도 이물질 위치 확인 가능
3) 통계 대시보드: User O / Viewer O(읽기 전용)
   - Viewer: 차트 보기만 가능. 날짜 범위 변경은 제한적
   - User: 통계 기간 설정, 차트 유형 변경, 상세 필터링 가능
4) 파라미터 조정: User O / Viewer X
   - Viewer 모드에서는 파라미터 조정 슬라이더/입력이 비활성화(grayed out)
   - Threshold, 분류 조건 등 모든 검사 파라미터 잠김
5) 카메라 설정 변경: User O / Viewer X
   - 노출, 게인, WB 등 카메라 하드웨어 설정은 User 모드에서만 가능
   - 잘못된 카메라 설정은 영상 품질에 직접적 영향 → 권한 제한 필요
6) 검사 시작/정지: User O / Viewer X
   - Start/Stop 버튼이 Viewer 모드에서 숨김 또는 비활성화
   - 의도치 않은 검사 중단 방지
7) Debug Panel: User O(상세) / Viewer X(숨김)
   - Viewer 모드에서는 Debug Panel 자체가 숨겨짐 → 영상 뷰어가 더 넓어짐
   - 운영자가 아닌 모니터링 인원에게 불필요한 기술 정보 노출 방지
8) 로그 Export: User O / Viewer 제한적
   - Viewer: 오늘 날짜의 요약 통계만 CSV Export 가능
   - User: 전체 날짜 범위, 상세 필터, Excel Export 등 모든 Export 기능
9) 모델 전환: User O / Viewer X
   - 다른 ONNX/TRT 모델 파일로 교체하는 기능. 잘못된 모델 로드 시 검사 불가 → 제한
   - User 모드에서 QFileDialog로 모델 파일 선택 → 로드 → 워밍업 → 전환
10) 시스템 설정: User O / Viewer X
   - 로그 저장 경로, DB 경로, 아카이브 정책, 알림 설정 등 시스템 레벨 설정
   - 설정 변경은 QSettings 또는 별도 settings.json에 저장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13: 3단계 권한 관리 체계]
보안과 운영 안정성을 위한 3단계 권한 시스템을 설명합니다.
■ Level 0: Viewer (기본 모드)
- 대상: 모니터링 인원, 방문자, QA 담당자
- 비밀번호: 불필요 (기본 진입 모드)
- 허용 기능:
  · 실시간 영상 모니터링 — 카메라 스트림 실시간 확인
  · 검출 결과 Overlay 확인 — BBox, 라벨, 신뢰도 시각적 확인
  · 기본 통계 조회 — 오늘의 OK/NG 비율, 총 검사 수량 확인
- 제한 사항:
  · 파라미터 변경 불가 — 모든 슬라이더/입력 비활성화
  · 설정 접근 불가 — 시스템 설정 메뉴 숨김
  · 검사 제어 불가 — Start/Stop 버튼 숨김
■ Level 1: Operator (운영자 모드)
- 대상: 라인 운영자, 교대 담당자
- 비밀번호: 4자리 PIN (기본: 1234, 변경 가능)
- 허용 기능:
  · Level 0 모든 권한 포함
  · 검사 시작/정지 제어 — Start/Stop 버튼 활성화
  · 사전 정의 파라미터 프리셋 선택 — "표준", "고감도", "저감도" 등 미리 정의된 프리셋 목록에서 선택. 프리셋은 Admin이 생성/관리
  · 로그 Export — 날짜 범위 지정하여 CSV/Excel Export
  · 기본 통계 필터링 — 날짜, 시간대, 결과(OK/NG) 필터
- 제한 사항:
  · Threshold 직접 변경 불가 — 숫자 직접 입력/슬라이더 조작 불가. 프리셋으로만 변경 가능
  · 모델/카메라 설정 불가 — 모델 전환, 노출/게인 변경은 Admin만 가능
  · 프리셋 생성/수정 불가 — 기존 프리셋 선택만 가능
■ Level 2: Admin (관리자 모드)
- 대상: 시스템 엔지니어, 개발자, 공정 관리자
- 비밀번호: 8자리 이상 영숫자 혼합 (기본: 변경 필수)
- 허용 기능:
  · 모든 권한 사용 가능 — 제한 없음
  · 파라미터 직접 수정/저장 — 모든 Threshold, 분류 조건, 버블 파라미터를 슬라이더/숫자 입력으로 직접 조정. JSON 파일에 저장
  · 모델 전환 및 최적화 설정 — ONNX/TRT 모델 파일 교체, backend/precision 변경, batch_size 조정
  · 카메라 설정 — 노출 시간, 게인, 화이트밸런스, 트리거 모드, ROI 설정
  · 시스템 구성 — 로그 경로, DB 경로, 아카이브 정책, 알림 설정, 네트워크 설정
  · 프리셋 관리 — 새 프리셋 생성, 기존 프리셋 수정/삭제
  · 사용자 관리 — Level 1/2 비밀번호 변경, 자동 잠금 시간 설정
■ 구현 상세:
- 비밀번호 저장: bcrypt 해시로 암호화하여 config/auth.json에 저장
- 세션 타임아웃: Level 1은 10분, Level 2는 5분 미조작 시 자동 Viewer 전환
- 감사 로그: 권한 변경, 파라미터 수정 등 모든 관리 작업을 audit.log에 기록 (who, when, what)
- 물리 키 지원 (옵션): USB 키 스위치로 모드 전환 지원 계획 (Phase 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14: 검사 파라미터 개요]
검사의 정확도와 성능을 결정하는 6개 파라미터 그룹, 총 31개 파라미터의 전체 맵을 보여줍니다.
■ 파라미터 그룹 요약:
1) 정지 판단 파라미터 (5개):
   - 바이알 내 액체가 흔들리는 동안은 검사를 수행하면 안 됩니다
   - Optical Flow 기반으로 프레임 간 움직임을 측정하여 "정지" 상태를 판단
   - 정지 판단이 너무 민감하면 검사 시작이 지연되고, 너무 느슨하면 흔들리는 상태에서 검사하여 오탐 증가
   - 파라미터: motion_threshold, stable_frame_count, motion_roi_ratio, flow_algorithm, cooldown_ms
2) Confidence Threshold (3개):
   - DL 모델이 출력하는 신뢰도 점수를 기준으로 검출 결과를 필터링
   - Global threshold + 클래스별 개별 threshold 2단계 구조
   - 이물질은 낮은 threshold(0.3)로 민감하게, 버블은 높은 threshold(0.6)로 엄격하게 설정
   - 파라미터: conf_threshold_global, conf_threshold_foreign, conf_threshold_bubble
3) 분류 조건 파라미터 (6개):
   - 이물질의 종류를 구분하고, 노이즈를 필터링하는 규칙 기반 분류 기준
   - 면적, 종횡비, 원형도, 밝기 차이, 크기 등급 등 형태학적 특징 활용
   - 파라미터: min_area_px, max_area_px, aspect_ratio_range, circularity_threshold, brightness_diff_threshold, size_class_boundaries
4) Bubble 검출 파라미터 (8개):
   - 버블은 DL 모델만으로는 오탐이 많아, 별도의 영상처리 파이프라인을 병행
   - 6단계 처리: Grayscale → Blur → AdaptiveThreshold → Morphology → Contour → 분류
   - 파라미터: blur_kernel_size, blur_sigma, adaptive_block_size, adaptive_C, morph_kernel_size, morph_iterations, min_bubble_area, bubble_circularity_th
5) ROI 설정 파라미터 (4개):
   - 카메라 전체 영상에서 바이알이 위치하는 영역만 크롭
   - 불필요한 배경(프레임, 조명기구 등)을 제거하여 처리 속도 향상 및 오탐 감소
   - 파라미터: roi_x, roi_y, roi_w, roi_h
6) 카메라 파라미터 (5개):
   - 카메라 하드웨어 설정. 영상 품질에 직접적 영향
   - 노출 시간이 너무 짧으면 어두워지고, 너무 길면 모션 블러 발생
   - 파라미터: exposure_us, gain_db, white_balance, trigger_mode, frame_rate
■ 파라미터 관리 방식:
- 저장 포맷: JSON (inspection_config.json) + YAML (camera_config.yaml)
- Hot-Reload: watchdog 라이브러리로 파일 변경 감지 → 자동 재로드 (검사 중단 없음)
- 버전 관리: Git으로 설정 파일 이력 관리. 변경 시 자동 백업(backup/ 폴더)
- 유효성 검증: ParameterManager.validate()에서 타입, 범위, 의존성 검사. 잘못된 값 거부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15: 정지 판단 파라미터 정의]
바이알 내 액체가 충분히 정지된 상태에서만 검사를 수행하기 위한 5개 파라미터입니다.
■ 왜 정지 판단이 필요한가?
- 바이알이 컨베이어에서 이동한 후 검사 위치에 도달하면, 내부 액체가 관성으로 흔들림
- 액체가 흔들리는 상태에서 검사하면: 버블이 이물질로 오탐, 이물질 위치가 불정확, 영상이 블러되어 검출률 하락
- 따라서 "액체가 충분히 정지했는지"를 판단한 후에만 검사를 시작해야 함
■ 파라미터 상세:
1) motion_threshold (float, default: 5.0, unit: px)
   - 프레임 간 Optical Flow 벡터 크기의 ROI 내 평균값
   - 이 값 이하일 때 "해당 프레임은 정지 상태"로 판단
   - 값을 낮추면 더 엄격한 정지 판단 (검사 시작 지연 ↑, 정확도 ↑)
   - 값을 높이면 더 느슨한 정지 판단 (검사 시작 빠름, 오탐 가능성 ↑)
   - 튜닝 가이드: 조명 밝기와 카메라 노이즈에 따라 조정. 노이즈가 많으면 약간 높게 설정
2) stable_frame_count (int, default: 10, unit: frames)
   - 연속으로 motion_threshold를 만족해야 하는 프레임 수
   - 10 frames × 33ms/frame = 약 330ms 동안 연속 정지해야 검사 시작
   - 일시적 진동(기계 진동, 에어 버블 등)을 필터링하는 역할
   - 값이 크면 안정적이지만 검사 대기 시간 증가
   - 값이 작으면 빠르지만 불안정한 상태에서 검사 가능성
3) motion_roi_ratio (float, default: 0.8, unit: ratio 0~1)
   - 전체 프레임 대비 움직임 판단에 사용할 중앙 영역 비율
   - 0.8 = 전체 프레임의 중앙 80% 영역만 사용
   - 프레임 가장자리는 조명 반사, 프레임 경계 노이즈가 있을 수 있어 제외
   - 바이알 크기에 맞게 조정. 바이알이 작으면 낮게 설정
4) flow_algorithm (enum, default: farneback)
   - Optical Flow 계산 알고리즘 선택
   - farneback: cv2.calcOpticalFlowFarneback(). Dense flow. 정확하지만 느림 (~5ms)
   - lucas_kanade: cv2.calcOpticalFlowPyrLK(). Sparse flow. 빠르지만 특징점 의존 (~2ms)
   - simple_diff: cv2.absdiff(). 단순 프레임 차분. 가장 빠르지만 조명 변화에 민감 (~1ms)
   - 권장: farneback (정확도 우선) 또는 simple_diff (속도 우선)
5) cooldown_ms (int, default: 500, unit: ms)
   - 검사 완료 후 다음 정지 판단까지 대기 시간
   - 검사 직후 결과 표시/저장 중에 바로 다음 검사 트리거 되는 것을 방지
   - 연속 검사 시 이전 검사의 결과 처리 시간을 보장
   - 컨베이어 속도에 맞게 조정. 빠른 라인에서는 300ms, 느린 라인에서는 1000ms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16: Confidence Threshold 파라미터]
DL 모델의 추론 결과를 필터링하는 3개 Threshold 파라미터와 적용 로직을 설명합니다.
■ Threshold의 역할:
- DL 모델은 모든 검출에 대해 0.0~1.0의 신뢰도(confidence) 점수를 출력
- 신뢰도가 낮은 검출은 오탐(False Positive)일 가능성이 높음
- Threshold를 설정하여 일정 수준 이상의 신뢰도를 가진 검출만 유효하다고 판정
■ 파라미터 상세:
1) conf_threshold_global (float, default: 0.5, range: 0.0~1.0)
   - 모든 클래스에 공통으로 적용되는 최소 신뢰도
   - 이 값 미만의 모든 검출은 무조건 제거됨 (1차 필터)
   - 0.5는 "모델이 50% 이상 확신하는 것만 유효"라는 의미
   - 값 조정 효과:
     · 올리면(0.7): 오탐 감소, 미검출 증가 (보수적)
     · 내리면(0.3): 오탐 증가, 미검출 감소 (민감)
2) conf_threshold_foreign (float, default: 0.3, range: 0.0~1.0)
   - 이물질(foreign_body) 전용 Threshold
   - Global(0.5)보다 낮게 설정하여 이물질 검출 민감도를 높임
   - 이유: 이물질 미검출(False Negative)은 품질 사고로 직결되므로, 오탐을 감수하더라도 민감하게 검출
   - 적용 순서: Global 통과 후, foreign_body 클래스에 대해 추가로 이 threshold 적용
   - 실제 동작: Global=0.5이고 Foreign=0.3이면, foreign_body는 0.3 이상이면 유효 (Global보다 우선)
3) conf_threshold_bubble (float, default: 0.6, range: 0.0~1.0)
   - 버블(bubble) 전용 Threshold
   - Global(0.5)보다 높게 설정하여 버블 오탐을 줄임
   - 이유: 버블은 광원 반사, 렌즈 먼지 등과 혼동되기 쉬워 오탐 빈도가 높음
   - 버블은 제품 품질에 큰 영향을 미치지 않으므로, 오탐 감소가 더 중요
■ 적용 로직 (우측 카드 설명):
Step 1: 모델 추론 실행
→ Raw detections 생성 (예: 50개의 BBox + confidence + class)
Step 2: Global Threshold 적용
→ confidence &lt; 0.5인 검출 모두 제거 (예: 50개 → 30개)
Step 3: 클래스별 Threshold 적용
→ foreign_body 중 conf &lt; 0.3인 것 제거 (실제로는 Step 2에서 이미 0.5 미만 제거됨 → foreign은 0.3~0.5 구간 복원 로직 필요. 구현 시 클래스별 threshold가 global보다 낮으면 global 대신 클래스별 값 사용)
→ bubble 중 conf &lt; 0.6인 것 제거 (0.5~0.6 구간의 bubble 추가 제거)
Step 4: NMS (Non-Maximum Suppression) 적용
→ IoU &gt; 0.45인 중복 BBox 중 confidence가 높은 것만 유지
→ 최종 유효 검출 결과 생성 (예: 30개 → 8개)
■ 튜닝 가이드:
- FPR이 높으면: Global threshold를 0.05씩 올려보기
- FNR이 높으면: Foreign threshold를 0.05씩 내려보기
- 버블 오탐이 많으면: Bubble threshold를 0.1씩 올려보기
- 실시간 프리뷰로 변경 효과를 즉시 확인 가능 (User 모드)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17: 분류 조건 파라미터 정의]
DL 모델이 검출한 객체를 종류별로 분류하고, 노이즈를 필터링하는 6개 규칙 기반 파라미터입니다.
■ 파라미터 상세:
1) min_area_px (int, default: 50, unit: px^2)
   - 검출 객체의 최소 면적. BBox 내부 실제 객체 면적 (contour area)
   - 50 px^2 미만은 센서 노이즈, 핫 픽셀, 미세 먼지로 간주하여 필터링
   - 카메라 해상도와 배율에 따라 조정 필요
   - 계산: contour = cv2.findContours() → area = cv2.contourArea(contour)
   - 50 px^2 ≈ 약 7×7 픽셀 영역. calibration factor에 따라 실제 크기(μm) 변환
2) max_area_px (int, default: 50000, unit: px^2)
   - 검출 객체의 최대 면적
   - 50000 px^2 초과는 잘못된 검출(오탐)로 간주. 예: 조명 반사, ROI 경계 오류
   - 바이알 전체 면적의 약 10% 이상이면 비정상
   - 설정 근거: 바이알 내부 가시 영역 ≈ 500,000 px^2 기준, 최대 이물질 = 10%
3) aspect_ratio_range (tuple, default: (0.3, 3.0), unit: ratio)
   - BBox의 너비/높이(w/h) 비율 허용 범위
   - 0.3 ~ 3.0 범위 밖의 극단적 형태는 노이즈 또는 오탐
   - 예: 1px × 200px 같은 라인 형태 검출 제거 (조명 반사 등)
   - 이물질은 보통 0.5~2.0 범위, 섬유는 0.1~0.3 (길쭉한 형태)
   - 섬유 검출을 위해 하한을 0.3 → 0.1로 조정할 수 있음
4) circularity_threshold (float, default: 0.7, unit: 0~1)
   - 원형도(circularity) 기준. 완벽한 원 = 1.0
   - 공식: circularity = 4π × Area / Perimeter²
   - 원형도 &gt; 0.7 → Bubble로 분류 (높은 원형도 = 원형에 가까움)
   - 원형도 ≤ 0.7 → Foreign Body 또는 기타 이물질
   - 버블은 표면장력으로 인해 거의 완벽한 원형. 이물질은 불규칙한 형태
   - 튜닝: 0.7이 일반적. 변형된 버블이 많으면 0.6으로 낮춤
5) brightness_diff_threshold (int, default: 30, unit: gray level 0~255)
   - 검출 객체의 평균 밝기와 주변 배경 밝기의 차이
   - 계산: |mean(object_pixels) - mean(surrounding_pixels)|
   - 30 미만이면 배경과 밝기 차이가 미미하여 실제 이물질이 아닐 가능성 높음
   - 이물질: 배경보다 어둡거나 밝음 (큰 밝기 차이)
   - 노이즈: 배경과 비슷한 밝기 (작은 밝기 차이)
   - 조명 조건에 따라 조정. 밝은 조명 환경에서는 40~50으로 올려야 할 수 있음
6) size_class_boundaries (list, default: [100, 500, 2000], unit: px^2)
   - 검출 객체를 크기별로 4등급으로 분류하는 경계값
   - Small: &lt; 100 px^2 — 미세 이물질, 관찰 필요
   - Medium: 100 ~ 500 px^2 — 소형 이물질, 경미한 불량
   - Large: 500 ~ 2000 px^2 — 대형 이물질, 확실한 불량
   - Critical: &gt; 2000 px^2 — 심각한 이물질, 즉시 라인 점검 필요
   - 크기 등급별로 다른 조치를 취할 수 있음 (Small=경고, Critical=라인 정지)
   - calibration factor를 적용하면 px^2 → μm^2 변환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18: Bubble 검출 파이프라인]
버블은 DL 모델만으로는 오탐이 많기 때문에, 전통적 영상처리 기법을 활용한 별도의 6단계 파이프라인을 병행합니다.
■ 왜 별도 파이프라인이 필요한가?
- 버블의 시각적 특징: 원형, 반투명, 내부에 하이라이트(광원 반사), 경계가 뚜렷
- DL 모델은 버블과 광원 반사/렌즈 먼지/둥근 이물질을 혼동하기 쉬움
- 영상처리 기법으로 "원형도"를 정확히 측정하면 버블을 정밀하게 분리 가능
- DL + 영상처리 앙상블로 최종 분류 정확도 향상
■ 6단계 파이프라인 상세:
Stage 01: Grayscale 변환
- 함수: cv2.cvtColor(frame, cv2.COLOR_BGR2GRAY)
- 입력: BGR 3채널 이미지 → 출력: Gray 1채널 이미지
- 목적: 색상 정보를 제거하고 밝기 정보만 사용. 처리 속도 3배 향상
- 파라미터: color_space = BGR2GRAY (고정)
Stage 02: Gaussian Blur
- 함수: cv2.GaussianBlur(gray, (kernel_size), sigma)
- 입력: Grayscale 이미지 → 출력: 노이즈가 제거된 이미지
- 목적: 센서 노이즈, 미세 진동으로 인한 고주파 잡음 제거
- 파라미터: kernel=(5,5), sigma=1.5
- 커널이 클수록 강한 스무딩 → 미세 디테일 손실. 5×5가 적절한 균형
- sigma가 0이면 커널 크기로부터 자동 계산
Stage 03: Adaptive Threshold
- 함수: cv2.adaptiveThreshold(blurred, 255, ADAPTIVE_THRESH_GAUSSIAN_C, THRESH_BINARY_INV, block_size, C)
- 입력: 블러된 이미지 → 출력: 이진 이미지 (0 or 255)
- 목적: 로컬 영역별 밝기에 적응하여 이진화. 균일하지 않은 조명에서도 안정적
- 왜 Global Threshold가 아닌 Adaptive를 사용하는가: 바이알 내부 조명이 균일하지 않음 (가장자리가 어두움). Adaptive는 각 영역별로 독립적 threshold 계산
- 파라미터: block_size=11 (로컬 영역 크기, 홀수), C=2 (상수. 양수=더 많은 전경)
Stage 04: Morphology 연산
- 함수: cv2.morphologyEx(binary, cv2.MORPH_OPEN, kernel, iterations) → cv2.morphologyEx(..., MORPH_CLOSE, ...)
- Opening (침식→팽창): 작은 노이즈 점 제거
- Closing (팽창→침식): 객체 내부의 작은 구멍 메움
- 순서가 중요: Opening 먼저 (노이즈 제거) → Closing (홀 메움)
- 파라미터: kernel=(3,3), iterations=2. iterations가 클수록 강한 효과
Stage 05: Contour 검출
- 함수: cv2.findContours(morphed, cv2.RETR_EXTERNAL, cv2.CHAIN_APPROX_SIMPLE)
- RETR_EXTERNAL: 최외곽 contour만 검출 (내부 중첩 무시)
- 각 contour에 대해 면적(cv2.contourArea), 둘레(cv2.arcLength) 계산
- 면적 &lt; min_bubble_area(30 px^2)인 contour는 노이즈로 제거
Stage 06: Bubble 분류
- 원형도 계산: circularity = 4π × Area / Perimeter²
- circularity &gt; bubble_circularity_th(0.7) → Bubble로 분류
- circularity ≤ 0.7 → 이물질 또는 기타 (DL 모델 결과와 병합)
- 크기별 등급: size_class_boundaries 적용하여 Small/Medium/Large/Critical 분류
- 최종 결과: DL 검출 결과와 영상처리 버블 검출 결과를 병합하여 최종 판정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19: Bubble 검출 파라미터 상세]
Bubble 검출 파이프라인에서 사용되는 8개 파라미터의 타입, 기본값, 설명을 테이블 형태로 제공합니다.
■ Gaussian Blur 파라미터 (2개):
1) blur_kernel_size (tuple, default: (5,5))
   - Gaussian 커널의 크기. 반드시 홀수여야 함 (3,3), (5,5), (7,7), (9,9)
   - 커널이 클수록 더 넓은 영역의 노이즈를 평활화
   - (3,3): 약한 블러 → 미세 디테일 보존, 노이즈 제거 약함
   - (5,5): 중간 블러 → 대부분의 경우 적절 (기본값)
   - (7,7)~(9,9): 강한 블러 → 노이즈 제거 강함, 작은 버블 검출 어려워질 수 있음
2) blur_sigma (float, default: 1.5)
   - Gaussian 분포의 표준편차(σ). 블러 강도 결정
   - σ=0 이면 커널 크기로부터 자동 계산: σ = 0.3×((ksize-1)×0.5 - 1) + 0.8
   - σ가 클수록 더 넓은 범위의 픽셀에 영향 → 더 강한 스무딩
   - 일반적으로 1.0~2.0 범위에서 설정
■ Adaptive Threshold 파라미터 (2개):
3) adaptive_block_size (int, default: 11)
   - 적응형 이진화에서 로컬 threshold를 계산하는 영역 크기
   - 반드시 홀수. 작은 값(3~7): 로컬 변화에 민감, 노이즈 영향 큼. 큰 값(11~21): 더 넓은 영역 평균, 안정적이지만 경계 흐려짐
   - 11이 대부분의 바이알 검사에서 적절한 크기
   - 바이알 크기, 버블 크기에 따라 조정: 작은 버블이 많으면 block_size를 줄임
4) adaptive_C (int, default: 2)
   - 로컬 평균값에서 빼는 상수
   - 양수(2): 더 많은 영역이 전경(흰색)으로 분류 → 더 많은 객체 검출
   - 값이 크면(5~10): 배경에 가까운 약한 버블도 검출 → 오탐 가능성 증가
   - 값이 작거나 음수: 뚜렷한 버블만 검출 → 약한 버블 놓칠 수 있음
■ Morphology 파라미터 (2개):
5) morph_kernel_size (tuple, default: (3,3))
   - 형태학적 연산(Opening/Closing)에 사용하는 구조 요소(kernel) 크기
   - (3,3): 미세 노이즈 제거, 원본 형태 잘 보존
   - (5,5): 더 큰 노이즈 제거 가능, 작은 객체도 제거될 수 있음
   - 구조 요소: cv2.getStructuringElement(cv2.MORPH_ELLIPSE, kernel_size) — 타원형 사용
6) morph_iterations (int, default: 2)
   - 형태학적 연산 반복 횟수
   - 1회: 약한 효과 — 작은 노이즈만 제거
   - 2회: 적절한 효과 — 대부분의 노이즈 제거, 형태 적절히 보존 (기본값)
   - 3회 이상: 강한 효과 — 객체 축소/변형 발생 가능
■ 분류 파라미터 (2개):
7) min_bubble_area (int, default: 30, unit: px^2)
   - 최소 버블 면적. contour area가 이 값 미만이면 노이즈로 제거
   - 30 px^2 ≈ 약 5.5×5.5 픽셀 영역
   - min_area_px(분류 조건)와 별도로 관리. 버블 파이프라인 전용
   - 값이 너무 낮으면 노이즈가 버블로 오분류, 너무 높으면 작은 버블 놓침
8) bubble_circularity_th (float, default: 0.7, range: 0~1)
   - 버블 판정 원형도 기준
   - 공식: circularity = 4π × Area / Perimeter²
   - 완벽한 원 = 1.0, 정사각형 ≈ 0.785, 직사각형(2:1) ≈ 0.698
   - 0.7 이상 → Bubble, 0.7 미만 → Non-bubble (이물질/노이즈)
   - 버블은 표면장력으로 거의 완벽한 원형(0.85~0.98)이므로 0.7은 여유 있는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20: ROI &amp; 카메라 파라미터]
ROI 설정 4개 + 카메라 하드웨어 5개 파라미터와 Config 파일 관리 방식을 설명합니다.
■ ROI 설정 파라미터 (4개):
1) roi_x (int, default: 200, unit: px)
   - ROI 시작 X 좌표. 원본 이미지의 좌측 상단 기준
   - 카메라 해상도 2448 기준, 200px = 좌측 여백 제거
2) roi_y (int, default: 150, unit: px)
   - ROI 시작 Y 좌표
   - 150px = 상단 여백(카메라 프레임 영역) 제거
3) roi_w (int, default: 2048, unit: px)
   - ROI 너비. roi_x + roi_w ≤ 카메라 해상도 너비(2448)
   - 2048px: 바이알 영역을 충분히 포함하는 너비
4) roi_h (int, default: 1748, unit: px)
   - ROI 높이. roi_y + roi_h ≤ 카메라 해상도 높이(2048)
   - 1748px: 상하 여백을 제외한 바이알 영역
ROI 설정 가이드:
- 바이알 위치가 고정되어 있으면 최초 1회 설정 후 변경 불필요
- User 모드에서 마우스 드래그로 ROI 영역을 직관적으로 설정 가능 (계획)
- ROI가 너무 크면: 불필요한 배경 포함 → 오탐 증가, 처리 시간 증가
- ROI가 너무 작으면: 바이알 가장자리 이물질 놓칠 수 있음
■ 카메라 파라미터 (5개):
1) exposure_us (int, default: 10000, unit: μs = 마이크로초)
   - 센서 노출 시간. 10000μs = 10ms
   - 짧은 노출(5000μs): 어두워지지만 모션 블러 감소 → 이동 중 촬영 시 유리
   - 긴 노출(20000μs): 밝아지지만 모션 블러 증가 → 정지 상태에서 촬영 시 유리
   - 30fps에서 최대 노출: 33333μs (1/30초). 프레임 레이트와 균형 필요
2) gain_db (float, default: 0.0, unit: dB)
   - 아날로그 게인. 센서 신호를 증폭
   - 0dB: 증폭 없음 (최고 화질, 최저 노이즈)
   - 6dB: 2배 밝기 증폭, 노이즈도 2배 증가
   - 12dB: 4배 밝기, 노이즈 4배 → 화질 저하 뚜렷
   - 원칙: 가능하면 게인을 0에 가깝게 유지하고, 조명으로 밝기 확보
3) white_balance (enum, default: auto)
   - 화이트밸런스 모드
   - auto: 카메라가 자동으로 색온도 보정. 조명이 일정하지 않을 때 유용
   - manual: 수동 설정 (R/G/B 비율 직접 지정). 조명이 고정된 산업 환경에서 안정적
   - 산업 검사에서는 manual 권장 (조명이 고정이므로 auto의 변동이 오히려 방해)
4) trigger_mode (enum, default: continuous)
   - 프레임 캡처 트리거 방식
   - continuous: 설정된 frame_rate로 연속 캡처. 소프트웨어 기반
   - external: 외부 트리거 신호(IO/PLC)에 의해 캡처. 바이알이 검사 위치에 도달했을 때만 캡처
   - external 모드 장점: 정확한 타이밍, 불필요한 프레임 없음. 단점: 추가 하드웨어(센서/PLC) 필요
5) frame_rate (int, default: 30, unit: fps)
   - 목표 프레임 레이트
   - 카메라의 최대 fps와 노출 시간에 의해 제한됨
   - 30fps: 대부분의 검사 라인에서 충분. 33ms 간격
   - 60fps: 고속 라인용. 노출 시간을 16ms 이하로 줄여야 함
   - trigger_mode=external일 때는 이 값 무시 (외부 트리거 주기에 따름)
■ Config 파일 관리:
- inspection_config.json: 모든 검사 파라미터 (정지 판단, Threshold, 분류 조건, Bubble, ROI)
- camera_config.yaml: 카메라 하드웨어 설정 (노출, 게인, WB, 트리거, fps)
- Hot-Reload 구현: watchdog.observers.Observer가 파일 변경 이벤트 감시 → on_modified 콜백 → ParameterManager.reload() → 검사 중단 없이 새 파라미터 적용
- 변경 이력: 파일 저장 시 backup/ 폴더에 타임스탬프 붙여 자동 백업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21: DL 추론 최적화 전략]
Level 0(기본)부터 Level 5(최대 최적화)까지 6단계 최적화 전략을 설명합니다.
■ Level 0: Baseline (PyTorch, ~200ms)
- PyTorch model.eval() + torch.no_grad()로 기본 추론. 최적화 없음. 개발/디버깅용. 5 FPS
■ Level 1: ONNX Export (~120ms, 1.67x)
- torch.onnx.export()로 PyTorch → ONNX 변환. 그래프 최적화: 상수 폴딩, 연산자 퓨전. 프레임워크 독립적.
■ Level 2: ONNX Runtime GPU (~80ms, 2.5x)
- CUDAExecutionProvider로 GPU 추론. 자동 커널 선택, 메모리 최적화. graph_optimization_level=ORT_ENABLE_ALL
■ Level 3: FP16 양자화 (~50ms, 4x)
- Float32 → Float16. 메모리 50% 감소, Tensor Core 활용. 정확도 손실 &lt; 0.5% mAP
■ Level 4: TensorRT (~25ms, 8x)
- 레이어 퓨전(Conv+BN+ReLU 통합), 커널 자동 튜닝, 메모리 최적화. GPU 모델별 엔진 빌드 필요
■ Level 5: INT8 + Batch (~15ms, 13.3x)
- INT8 양자화(8비트 정수). 캘리브레이션 필요(500~1000장). 배치 처리(batch=2~4). mAP 1~2% 감소 가능. 최종 66 FPS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22: DL 추론 최적화 파라미터]
DL 추론 엔진을 제어하는 10개 파라미터의 상세 정의입니다.
■ 파라미터 상세:
1) model_path (str, default: "model.onnx")
   - 모델 파일 절대/상대 경로. 지원 포맷: .onnx(ONNX), .engine(TensorRT), .pt(PyTorch)
   - 런타임에 변경 가능 (Admin 모드에서 모델 전환)
2) inference_backend (enum, default: "onnxruntime")
   - 추론 백엔드 선택: pytorch | onnxruntime | tensorrt
   - pytorch: 개발/디버깅용. 가장 느리지만 유연
   - onnxruntime: 범용 GPU 추론. 대부분의 경우 권장
   - tensorrt: 최고 성능. NVIDIA GPU 전용. 엔진 빌드 필요
3) device (enum, default: "cuda:0")
   - 추론 디바이스: cpu | cuda:0 | cuda:1
   - 멀티 GPU 환경에서 특정 GPU 지정. torch.device() 또는 ORT provider_options
4) precision (enum, default: "fp16")
   - 추론 정밀도: fp32 | fp16 | int8
   - fp32: 최고 정확도, 가장 느림. 기준 성능 측정용
   - fp16: 정확도 거의 동일, 2배 빠름. Tensor Core 활용. 일반 권장
   - int8: 캘리브레이션 필요, 가장 빠름. 정확도 1~2% 감소 가능
5) input_size (tuple, default: (640,640))
   - 모델 입력 텐서 크기 (H, W). 모델 학습 시 설정한 크기와 일치해야 함
   - 640×640: YOLOv8 기본. 정확도/속도 균형
   - 320×320: 2배 빠르지만 작은 이물질 검출률 하락
   - 1280×1280: 미세 이물질 검출 향상, 4배 느림
6) batch_size (int, default: 1)
   - 한 번에 추론하는 프레임 수. TensorRT에서 dynamic batch 지원
   - 1: 실시간 단일 프레임 처리 (기본). 레이턴시 최소
   - 2~4: throughput 증가 (프레임 쌓아서 한 번에 추론). 레이턴시 약간 증가
7) nms_iou_threshold (float, default: 0.45)
   - NMS(Non-Maximum Suppression)에서 중복 BBox 판정 기준
   - IoU(Intersection over Union) &gt; 0.45이면 같은 객체로 판단하여 낮은 confidence BBox 제거
   - 0.3: 엄격한 NMS → BBox 많이 제거 → 겹치는 이물질 놓칠 수 있음
   - 0.6: 느슨한 NMS → BBox 많이 유지 → 중복 검출 가능성
8) max_detections (int, default: 100)
   - 프레임당 최대 검출 수. NMS 후 confidence 상위 N개만 유지
   - 메모리 제한 및 후처리 시간 제한 목적. 100개면 충분 (정상적으로 &lt;20개)
   - 100개 초과 검출 = 비정상 (조명 이상 또는 모델 오작동)
9) warmup_iterations (int, default: 5)
   - 실제 검사 시작 전 더미 추론 반복 횟수
   - GPU 초기화, CUDA 커널 캐싱, 메모리 할당 안정화 목적
   - 워밍업 없이 첫 추론은 10~100배 느릴 수 있음
   - 5회 반복이면 충분 (보통 3회 이후 안정화)
10) trt_workspace_mb (int, default: 1024, unit: MB)
    - TensorRT 엔진 빌드/실행 시 사용할 GPU 작업 메모리
    - 큰 모델은 더 많은 workspace 필요. 1024MB(1GB)가 기본
    - GPU VRAM의 약 20~30%로 설정 권장. 나머지는 모델+프레임 버퍼용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23: 최적화 레벨별 성능 비교]
차트와 요약 통계를 통해 각 최적화 레벨의 성능 차이를 시각적으로 보여줍니다.
■ 차트 설명 (좌측):
- X축: 6개 최적화 레벨 (Lv.0 PyTorch ~ Lv.5 INT8)
- Y축: 추론 시간 (ms). 낮을수록 빠름
- Lv.0→Lv.1: ONNX 변환만으로 40% 감소 (200→120ms)
- Lv.1→Lv.2: GPU Provider 적용으로 33% 추가 감소 (120→80ms)
- Lv.2→Lv.3: FP16으로 37% 추가 감소 (80→50ms)
- Lv.3→Lv.4: TensorRT로 50% 추가 감소 (50→25ms) ← 가장 큰 점프
- Lv.4→Lv.5: INT8+배치로 40% 추가 감소 (25→15ms)
■ 성능 요약 (우측):
- 13.3x 속도 향상: Lv.0(200ms) 대비 Lv.5(15ms). 코드 변경 없이 백엔드/precision만 교체
- 15ms 최적화 후 추론 시간: 전처리(3ms) + 추론(15ms) + 후처리(2ms) = 총 ~20ms
- 66 FPS 최대 처리 가능: 1000ms / 15ms = 66.7 FPS. 30fps 카메라 대비 2.2배 여유
■ 권장 설정:
- 개발/디버깅: Lv.0~1 (PyTorch/ONNX). 모델 수정 빈번한 단계
- 테스트/검증: Lv.2~3 (ONNX Runtime FP16). 실시간 테스트 가능
- 운영/배포: Lv.4 (TensorRT FP16). 안정적 성능 + 높은 정확도
- 고성능 요구: Lv.5 (TensorRT INT8). 멀티 카메라 또는 고속 라인
■ GPU별 예상 성능 (TensorRT FP16 기준):
- RTX 3060 (6GB): ~30ms → 33 FPS
- RTX 3080 (10GB): ~20ms → 50 FPS
- RTX 4090 (24GB): ~10ms → 100 FPS
- Jetson AGX Orin: ~40ms → 25 FPS (Edge 배포용)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24: 전체 검사 흐름 (End-to-End)]
영상 입력부터 결과 출력까지 6단계 전체 검사 흐름과 각 단계의 소요 시간을 설명합니다.
■ Step 1: 카메라 연결 &amp; 초기화 (~2s, 최초 1회)
- GigE Vision SDK 초기화: Basler Pylon TlFactory → DeviceInfo 탐색 → InstantCamera 생성
- 카메라 파라미터 로드: camera_config.yaml에서 노출/게인/WB/트리거 설정 적용
- Frame Buffer 할당: GrabStrategy_LatestImageOnly로 최신 프레임만 유지. Ring Buffer(deque) 초기화
- 연결 실패 시: 3회 재시도 → 실패 시 에러 코드 E001 발생
■ Step 2: 실시간 프레임 캡처 (~1ms/frame)
- Camera.RetrieveResult(timeout_ms=1000)으로 프레임 획득
- ROI 크롭: frame[roi_y:roi_y+roi_h, roi_x:roi_x+roi_w]
- Ring Buffer에 추가: buffer.append(cropped_frame)
- 프레임 드롭 감지: 이전 timestamp와 비교하여 33ms 이상 차이 시 드롭 카운트 증가
■ Step 3: 정지 판단 (Motion Check, ~5ms/frame)
- Optical Flow 계산: cv2.calcOpticalFlowFarneback(prev_gray, curr_gray, ...)
- 움직임 평균: flow_magnitude = np.mean(np.sqrt(flow_x^2 + flow_y^2))
- 정지 조건: flow_magnitude &lt; motion_threshold(5.0) → stable_count += 1
- 검사 트리거: stable_count &gt;= stable_frame_count(10) → 검사 시작
- 정지 판단 영역: 프레임 중앙 motion_roi_ratio(80%) 영역만 사용
■ Step 4: 전처리 &amp; DL 추론 (~15-80ms)
- 전처리 (~3ms): Resize(640×640, letterbox) → Normalize(0~1) → Tensor([1,3,640,640])
- 추론: model.predict(tensor) → raw_detections [N, 6]
- NMS: torchvision.ops.nms(boxes, scores, iou_threshold=0.45) → filtered_detections
- 소요 시간은 최적화 레벨에 따라 크게 변동 (Lv.0: 200ms → Lv.5: 15ms)
■ Step 5: 분류 &amp; 판정 (~2ms)
- Threshold 적용: Global(0.5) → 클래스별(Foreign:0.3, Bubble:0.6)
- 형태 분류: circularity, area, aspect_ratio, brightness_diff 기반 규칙 적용
- Bubble 파이프라인: 병행 실행 → DL 결과와 병합
- 크기 등급: size_class_boundaries로 Small/Medium/Large/Critical 분류
- 최종 판정: foreign_body &gt;= 1 → NG, 그 외 → OK
■ Step 6: 결과 출력 &amp; 기록 (~3ms)
- UI 업데이트: QPixmap에 BBox Overlay → ViewerPanel.setPixmap() (Signal/Slot으로 스레드 안전)
- DB 저장: INSERT INTO inspection_results VALUES (timestamp, vial_id, result, detections_json, inference_time, image_path)
- NG 이미지 아카이빙: cv2.imwrite(archive_path, original_frame) + cv2.imwrite(overlay_path, overlayed_frame)
- 통계 갱신: total_count++, ok_count++ 또는 ng_count++
- PLC 출력 (옵션): GPIO.output(OK_PIN/NG_PIN) 또는 Modbus TCP 레지스터 쓰기
■ 전체 사이클 시간:
- 최적화 전: ~90ms/cycle (11 FPS) — 실시간 처리 불가
- TensorRT FP16: ~25ms/cycle (40 FPS) — 실시간 처리 여유
- TensorRT INT8: ~20ms/cycle (50 FPS) — 고속 라인 대응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25: 성능 지표 및 로깅 시스템]
■ KPI 카드 (상단 4개):
1) 검출률 (Recall) = 99.2% (목표: &gt; 99%)
   - 정의: 실제 이물질 중 모델이 검출한 비율 = TP / (TP + FN)
   - 99.2% = 1000개 이물질 중 992개 검출, 8개 미검출
   - 미검출(FN) 8개는 주로 50μm 이하 미세 이물질 또는 버블과 겹친 경우
   - 가장 중요한 지표: FN = 제품 불량 출하 → 절대적으로 높아야 함
2) 정밀도 (Precision) = 97.8% (목표: &gt; 95%)
   - 정의: 모델이 검출한 것 중 실제 이물질인 비율 = TP / (TP + FP)
   - 97.8% = 검출 1000건 중 978건이 실제 이물질, 22건이 오탐
   - 오탐(FP) 주요 원인: 버블 오분류, 조명 반사, 렌즈 먼지
   - Precision이 낮으면 정상 바이알을 NG 처리 → 수율 하락 → 비용 증가
3) 처리 속도 = 30+ FPS (목표: &gt; 25 FPS)
   - 카메라 30fps와 동일하게 처리하여 프레임 드롭 없음
   - TensorRT FP16 기준 ~40 FPS 달성. 약 30% 여유
   - 여유 FPS는 후처리, UI 렌더링, 로깅 등에 사용
4) False Positive Rate = 1.8% (목표: &lt; 2%)
   - 정의: 정상 바이알을 NG로 판정한 비율 = FP / (FP + TN)
   - 1.8% = 1000개 정상 바이알 중 18개를 NG로 오판정
   - 경제적 영향: 불필요한 재검사/폐기 → 생산 비용 증가
■ 로깅 시스템 (좌측 하단):
Result DB (SQLite):
- 테이블: inspection_results
- 컬럼: id(PK), timestamp(ISO8601), vial_id(str), result(OK/NG), detections(JSON), inference_time_ms(float), confidence_scores(JSON), image_path(str)
- JSON 예시: {"detections": [{"class": "foreign_body", "bbox": [100,200,150,250], "confidence": 0.87, "area_px": 320}]}
- 인덱스: timestamp, result, vial_id로 빠른 조회 지원
Image Archive:
- NG 판정 이미지 자동 저장. 원본(original) + Overlay(BBox 포함) 두 장
- 경로: /archive/{YYYY-MM-DD}/{HH-MM-SS}_{vial_id}_original.png, ..._overlay.png
- 일별 폴더 자동 생성. 디스크 여유 공간 체크 후 저장
- 옵션: OK 판정 이미지도 일정 비율(예: 10%)로 샘플링 저장 (품질 모니터링용)
Export:
- CSV Export: pandas to_csv(). 날짜 범위, 결과(OK/NG), 클래스 필터 적용 가능
- Excel Export: openpyxl로 서식 지정. 헤더 강조, 조건부 서식(NG=빨강), 자동 열 너비
- 자동 Export: 매일 자정에 전일 결과 CSV 자동 생성 (cron 또는 schedule 라이브러리)
■ 시스템 모니터링 (우측 하단):
실시간 알림 조건:
- 연속 NG &gt; 5회: 라인 정지 경고 → 작업자에게 팝업 + 사운드 알림. 원인: 오염된 액체 또는 세척 불량 의심
- GPU 온도 &gt; 85°C: 과열 경고 → 쿨링 확인 필요. 장시간 방치 시 GPU 성능 저하(thermal throttling)
- 추론 시간 &gt; 100ms: 성능 저하 경고 → GPU 부하 확인, 다른 프로세스 간섭 체크
Health Check:
- 카메라 연결: 1초 주기 heartbeat. 프레임 수신 여부로 판단
- 모델 로딩 상태: 시작 시 워밍업 추론으로 정상 동작 검증
- 디스크 여유 공간: 1GB 미만 시 알림. 아카이브 이미지 자동 정리 옵션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26: 에러 핸들링 &amp; 진단 시스템]
7가지 에러 코드와 각각의 심각도, 자동/수동 복구 전략을 설명합니다.
■ E001: Camera Disconnect (Critical, Auto Recovery)
- 원인: GigE 케이블 분리, 카메라 전원 차단, 네트워크 스위치 장애
- 감지: grab_frame() 타임아웃 또는 예외 발생 (pypylon.TimeoutException)
- 복구 절차: ① 1초 대기 → 재연결 시도 (최대 3회) ② 성공 시 카메라 파라미터 재적용 → 검사 재개 ③ 3회 실패 시 검사 중지 + UI 경고 팝업 + 사운드 알림
- 로깅: "[ERROR] E001 Camera disconnected. Retry 1/3..."
■ E002: Model Load Failure (Critical, Semi-Auto)
- 원인: 모델 파일 손상, 경로 오류, ONNX opset 호환 문제, GPU 메모리 부족
- 감지: onnxruntime.InferenceSession() 또는 tensorrt.Runtime() 예외
- 복구: ① 대체 모델 파일(backup_model.onnx) 로드 시도 ② 성공 시 경고와 함께 검사 계속 ③ 실패 시 시스템 중지. Admin이 모델 파일 확인 후 수동 복구
■ E003: GPU OOM Error (High, Auto)
- 원인: GPU VRAM 부족. 다른 프로세스가 GPU 점유, 배치 크기 과다
- 감지: CUDA out of memory 예외
- 복구: ① torch.cuda.empty_cache() ② batch_size 1로 축소 ③ FP16 전환 (메모리 절반) ④ 여전히 실패 시 모델 리로드
■ E004: Inference Timeout (Medium, Auto)
- 원인: GPU 부하 과다, 다른 프로세스 간섭, 일시적 성능 저하
- 감지: 추론 시간 &gt; max_inference_time(500ms) 타임아웃
- 복구: ① 현재 프레임 스킵 → 다음 프레임 처리 ② 타임아웃 카운터 증가 ③ 연속 3회 시 "성능 저하 경고" 표시 ④ 연속 10회 시 모델 리로드 시도
■ E005: Disk Full (High, Manual)
- 원인: NG 이미지 아카이브 누적, 로그 파일 누적, 외부 요인
- 감지: psutil.disk_usage().free &lt; 1GB
- 복구: ① 로깅 일시 중지 (DB 저장은 계속, 이미지 저장만 중지) ② 오래된 아카이브 자동 정리 옵션 (retention_days 설정 시) ③ 수동 정리 필요 시 Admin에게 알림
■ E006: Config Parse Error (Medium, Auto)
- 원인: JSON/YAML 문법 오류, 필수 키 누락, 값 범위 초과
- 감지: ParameterManager.load_config() 시 json.JSONDecodeError 또는 validation 실패
- 복구: ① 이전 유효 설정으로 자동 롤백 (backup에서 복원) ② 에러 상세를 로그에 기록 (어느 키가 잘못되었는지) ③ UI에 "설정 오류, 이전 설정으로 동작 중" 표시
■ E007: Frame Drop (Low, Auto)
- 원인: USB 대역폭 부족, CPU 과부하, 버퍼 오버플로우
- 감지: 프레임 timestamp 간격 &gt; 2 × expected_interval(66ms for 30fps)
- 복구: ① 드롭 카운터 증가 ② 연속 10회 시 "FPS 저하 경고" 표시 ③ 자동 복구 불요 (일시적 현상). 지속 시 카메라/네트워크 점검 권고
■ 에러 처리 원칙:
- 모든 에러는 logging 모듈로 기록 (레벨, 시간, 상세 메시지)
- Critical 에러: 즉시 검사 중지 + 알림
- High 에러: 자동 복구 시도 + 경고 표시
- Medium/Low 에러: 자동 복구 + 카운터 누적 → 반복 시 에스컬레이션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[슬라이드 27: 향후 로드맵 &amp; Q&amp;A]
4단계 로드맵과 각 Phase의 핵심 목표, 기술적 접근 방식을 설명합니다.
■ Phase 1: 멀티 카메라 지원 (Q2 2026)
- 목표: 동시 2~4대 카메라 병렬 처리
- 기술: Python multiprocessing 또는 asyncio 기반 카메라별 독립 파이프라인
- 라인별 독립 검사: 각 카메라 → 별도 InspectionEngine 인스턴스 → 독립 결과 로깅
- GPU 공유: 단일 GPU에서 배치 추론으로 4대 카메라 프레임 동시 처리 (batch_size=4)
- UI: 탭 또는 분할 화면으로 카메라별 영상 동시 표시
■ Phase 2: 웹 대시보드 (Q3 2026)
- 목표: 원격 모니터링 및 관리 웹 인터페이스
- 기술: FastAPI(백엔드) + React(프론트엔드) + WebSocket(실시간 데이터)
- REST API: 검사 결과 조회, 파라미터 변경, 모델 전환, 통계 조회
- 실시간 영상 스트리밍: MJPEG 또는 WebRTC로 브라우저에서 실시간 영상 확인
- 관리자 대시보드: 라인별 OK/NG 현황, 시간대별 추이, 알림 이력, 시스템 상태
■ Phase 3: 모델 자동 재학습 (Q4 2026)
- 목표: Active Learning 파이프라인으로 모델 지속 개선
- 기술:
  · 신뢰도가 낮은(0.3~0.6) 검출 결과를 자동 수집 → 사람 검증(라벨링) 큐에 추가
  · 새로운 불량 유형 발견 시 자동으로 학습 데이터에 추가
  · 주기적(주간/월간) 재학습 → A/B 테스트 → 성능 개선 확인 시 모델 교체
- Label Studio 연동으로 웹 기반 라벨링 인터페이스 제공
- 모델 버전 관리: MLflow 또는 DVC로 모델 이력 추적
■ Phase 4: Edge 배포 &amp; MES 연동 (2027 H1)
- 목표: 고가의 데스크탑 GPU 없이 Edge 디바이스에서 실행 + 제조실행시스템(MES) 연동
- Edge 디바이스: NVIDIA Jetson AGX Orin (64GB). TensorRT INT8 최적화로 25+ FPS 달성
- MES 연동: OPC UA 또는 REST API로 MES에 검사 결과 직접 전송
  · 바이알 ID, 검사 결과, 이물질 상세 정보를 MES 데이터베이스에 실시간 기록
  · MES에서 불량률 기반 자동 라인 정지/재개 판단 가능
- Docker 컨테이너화: x86(데스크탑) + ARM(Jetson) 멀티 아키텍처 이미지
■ Q&amp;A 세션:
- 예상 질문들:
  · "모델 학습 데이터는 어떻게 확보하나요?" → 실제 라인에서 수집 + 합성 데이터(augmentation)
  · "다른 제형(앰플, 시린지)에도 적용 가능한가요?" → 모델 재학습 + ROI 조정으로 확장 가능
  · "GMP 벨리데이션은 어떻게 하나요?" → IQ/OQ/PQ 문서화, 정량적 성능 기준 충족 증빙
  · "기존 라인에 어떻게 설치하나요?" → 카메라 + PC + 네트워크만 추가. 기존 설비 변경 최소화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09728" cy="4114800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914400"/>
            <a:ext cx="54864" cy="3200400"/>
          </a:xfrm>
          <a:prstGeom prst="rect">
            <a:avLst/>
          </a:prstGeom>
          <a:solidFill>
            <a:srgbClr val="00E5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NOVAnix-DVI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 Foreign Body Inspection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바이알 이물질 자동 검사 시스템 프로젝트 소개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743200" cy="274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개발팀 발표 자료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  |  Computer Vision  |  Real-time Inspection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389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배경, 목적, 핵심 가치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p.3-4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1645920"/>
            <a:ext cx="7498080" cy="457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구조, 기술 스택, 모듈 구성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p.5-8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2148840"/>
            <a:ext cx="7498080" cy="457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설계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2395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화면, User/Viewer 모드, 권한 체계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2194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p.9-13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88720" y="2651760"/>
            <a:ext cx="7498080" cy="457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파라미터 상세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2898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조건, 버블 검출, 정지 판단, Threshold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p.14-19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3154680"/>
            <a:ext cx="7498080" cy="457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00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8872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추론 최적화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88720" y="34015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0~5 단계별 최적화 전략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p.20-22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88720" y="3657600"/>
            <a:ext cx="7498080" cy="457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03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8872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흐름 &amp; 성능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720" y="3904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파이프라인, 성능 지표, 로깅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p.23-25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4160520"/>
            <a:ext cx="7498080" cy="457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188720" y="4206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로드맵 &amp; Q&amp;A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188720" y="4407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계획, 질의응답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p.26-27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배경 및 필요성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문제점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17373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육안 검사의 한계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검사원 피로도에 따른 검출률 변동 (60~90%)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 없는 품질 기준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검사원별 판정 기준 상이, 재현성 부족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병목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속도 대비 검사 처리량 부족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 대응 어려움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기준 충족을 위한 정량적 검사 데이터 필요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188720"/>
            <a:ext cx="54864" cy="32004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솔루션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83480" y="17373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자동 검사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모델로 99%+ 검출률 달성 목표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정량적 판정 기준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수치화된 Threshold 기반 일관된 분류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처리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가속으로 라인 속도 이상 처리량 확보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가능한 기록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검사 결과 로깅, 감사 추적 지원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목표 및 핵심 가치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 검출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이물질 크기 50μm 이상 검출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버블/섬유/입자 구분 분류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&lt; 2%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 &lt; 0.5%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188720"/>
            <a:ext cx="54864" cy="3200400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258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처리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74720" y="18745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시간 &lt; 100ms/frame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FPS 실시간 영상 처리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병렬 처리 (CUDA)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카메라 동시 지원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188720"/>
            <a:ext cx="265176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188720"/>
            <a:ext cx="54864" cy="32004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&amp; 확장성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18745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무중단 운영 설계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 권한 관리 체계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Hot-Reload 지원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모듈화된 파이프라인 구조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 개요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554480" cy="13716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155448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획득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48840" y="1188720"/>
            <a:ext cx="1554480" cy="13716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1188720"/>
            <a:ext cx="155448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1188720"/>
            <a:ext cx="1554480" cy="13716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1188720"/>
            <a:ext cx="155448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검출/분석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15000" y="1188720"/>
            <a:ext cx="1554480" cy="13716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188720"/>
            <a:ext cx="155448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분류/판정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1188720"/>
            <a:ext cx="1554480" cy="13716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1188720"/>
            <a:ext cx="15544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출력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Logging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834640"/>
            <a:ext cx="54864" cy="1645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3246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GigE Vision / USB3 카메라 인터페이스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파이프라인 오케스트레이션, 파라미터 관리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ONNX Runtime / TensorRT 추론 엔진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83464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Modules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37760" y="3246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PyQt6 기반 GUI, User/Viewer 모드 전환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JSON/YAML 기반 설정 관리, Hot-Reload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ResultLogger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SQLite + CSV 로깅, 이미지 저장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상세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Runtime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3.10+, NumPy, OpenCV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914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54864" cy="9144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PyTorch, ONNX Runtime, TensorRT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4023360" cy="914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PyQt6, QThread, Custom Widgets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023360" cy="914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54864" cy="9144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SDK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GigE Vision (Basler Pylon), USB3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4023360" cy="914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91840"/>
            <a:ext cx="54864" cy="9144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Log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SQLite3, CSV Logger, JSON Config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4023360" cy="914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91840"/>
            <a:ext cx="54864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Tools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Git, Docker, pytest, CI/CD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모듈 구조 상세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어플리케이션 엔트리포인트, 초기화 시퀀스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7922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1792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core/camera_manager.py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7922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연결/해제, 프레임 캡처, ROI 설정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21408"/>
            <a:ext cx="8229600" cy="3200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1214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core/inspection_engine.py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파이프라인 오케스트레이션, 상태 머신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50592"/>
            <a:ext cx="8229600" cy="3200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450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core/model_inference.py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모델 로딩, 추론, 후처리 (NMS, Softmax)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779776"/>
            <a:ext cx="8229600" cy="3200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7797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2779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core/parameter_manager.py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27797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로드/저장, Validation, Hot-Reload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08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716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ui/main_window.py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윈도우, 레이아웃, 모드 전환 로직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38144"/>
            <a:ext cx="8229600" cy="3200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4381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0" y="3438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ui/viewer_panel.py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0" y="3438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표시, Overlay 렌더링, Zoom/Pan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767328"/>
            <a:ext cx="8229600" cy="3200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7673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7160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ui/control_panel.py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3767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조정 UI, 실시간 반영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0965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71600" y="4096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utils/result_logger.py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결과 DB 저장, CSV Export, 이미지 아카이빙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425696"/>
            <a:ext cx="8229600" cy="3200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256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71600" y="4425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utils/image_processor.py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389120" y="44256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함수들: 노이즈 제거, 정규화, 마스킹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플로우 아키텍처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Frame Capture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0515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카메라 SDK → Raw Frame (BGR/Mono)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Resolution: 2448x2048 @30fps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Buffer: Ring Buffer (5 frames)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01368"/>
            <a:ext cx="54864" cy="6583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01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Pre-processing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18013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Crop → Grayscale Convert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 Blur (σ=1.5)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 Equalization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Normalization (0~1 float32)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51176"/>
            <a:ext cx="54864" cy="65836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511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DL Inference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255117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Tensor: [1, 3, 640, 640]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YOLOv8/Custom CNN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ONNX Runtime (GPU)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BBox + Confidence + 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00984"/>
            <a:ext cx="54864" cy="65836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009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Post-processing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330098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 (IoU threshold: 0.45)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Filter (&gt; threshold)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Bubble vs Foreign Body 분류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Estimation (px → μm)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50792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50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 &amp; 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405079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OK/NG 판정 → UI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DB 저장 (SQLite)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이미지 자동 저장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PLC/IO 신호 출력 (옵션)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UI/UX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메인 화면 구성 — User 모드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01168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201168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Panel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FPS Counter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Time (ms)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Memory Usage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Count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Status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Info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Queue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188720"/>
            <a:ext cx="3931920" cy="320040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188720"/>
            <a:ext cx="3931920" cy="3200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Viewer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영상 스트리밍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Overlay 표시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이물질 위치/크기 실시간 표시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OK/NG 상태 색상 표시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Zoom/Pan 인터랙션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영역 시각화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2011680" cy="32004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188720"/>
            <a:ext cx="2011680" cy="3200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64592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Start/Stop 버튼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모드 전환 스위치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파라미터 조정 패널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Slider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카메라 설정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 Export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시스템 상태 표시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UI/UX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메인 화면 주요 기능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영상 표시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1645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스트림을 메인 뷰어에 실시간 렌더링. QThread 기반 비동기 프레임 업데이트.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097280"/>
            <a:ext cx="54864" cy="15544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344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62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결과 Overlay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74720" y="1645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BBox, 클래스 레이블, 신뢰도 점수를 영상 위에 실시간 오버레이 렌더링.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097280"/>
            <a:ext cx="54864" cy="15544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실시간 조정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1645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ROI, 필터 등 검사 파라미터를 슬라이더/입력으로 즉시 반영.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2834640"/>
            <a:ext cx="2651760" cy="15544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대시보드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OK/NG 비율, 검출 분포, 시간대별 추이를 실시간 차트로 표시.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91840" y="2834640"/>
            <a:ext cx="2651760" cy="15544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91840" y="2834640"/>
            <a:ext cx="54864" cy="15544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9718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862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로깅 &amp; Export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7472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검사 결과를 SQLite에 자동 저장. CSV/Excel Export 지원.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126480" y="2834640"/>
            <a:ext cx="2651760" cy="15544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26480" y="2834640"/>
            <a:ext cx="54864" cy="15544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7180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208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모니터링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30936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사용률, 메모리, FPS, 추론 시간 등 시스템 상태 실시간 모니터링.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UI/UX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 Panel 상세 정의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Range/Values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444752"/>
            <a:ext cx="859536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4447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fps_display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144475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144475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프레임 처리 속도 (frames/sec)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4447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~ 120.0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755648"/>
            <a:ext cx="859536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7556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inference_time_ms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17556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175564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모델 추론 소요 시간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75564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~ 1000.0 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66544"/>
            <a:ext cx="859536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06654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gpu_memory_mb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206654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08960" y="206654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GPU 메모리 사용량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206654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24576 MB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377440"/>
            <a:ext cx="859536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774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gpu_util_percent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23774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08960" y="2377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연산 활용률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3774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~ 100.0 %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688336"/>
            <a:ext cx="859536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68833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cpu_util_percent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268833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0" y="26883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사용률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268833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~ 100.0 %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999232"/>
            <a:ext cx="859536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99923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detection_count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77440" y="299923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08960" y="29992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프레임 검출 개체 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29992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310128"/>
            <a:ext cx="859536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3101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camera_status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377440" y="331012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108960" y="33101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연결 상태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331012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 / Disconnected / Error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621024"/>
            <a:ext cx="859536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6210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377440" y="362102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08960" y="36210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로딩된 모델 파일명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36210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*.onnx / *.engine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3931920"/>
            <a:ext cx="859536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93192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queue_size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377440" y="39319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08960" y="39319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대기 프레임 큐 사이즈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39319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buffer_size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242816"/>
            <a:ext cx="859536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2428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total_inspected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377440" y="424281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108960" y="424281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누적 검사 수량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0" y="424281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∞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UI/UX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모드 vs Viewer 모드 비교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모드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모드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822960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087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영상 보기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5087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5087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19656"/>
            <a:ext cx="822960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1965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결과 Overlay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81965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181965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30552"/>
            <a:ext cx="822960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13055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대시보드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13055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1305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(읽기 전용)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41448"/>
            <a:ext cx="822960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4414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조정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4414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4414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52344"/>
            <a:ext cx="822960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7523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설정 변경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27523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75234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063240"/>
            <a:ext cx="822960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0632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시작/정지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30632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30632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374136"/>
            <a:ext cx="822960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3741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Panel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33741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(상세)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37413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(숨김)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685032"/>
            <a:ext cx="822960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68503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Export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368503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0" y="368503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제한적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995928"/>
            <a:ext cx="8229600" cy="301752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9959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전환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39959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43600" y="39959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306824"/>
            <a:ext cx="8229600" cy="301752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30682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설정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0" y="430682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430682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UI/UX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3단계 권한 관리 체계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651760" cy="33832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" cy="338328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 기능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영상 모니터링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결과 Overlay 확인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통계 조회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사항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변경 불가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접근 불가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제어 불가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91840" y="1097280"/>
            <a:ext cx="2651760" cy="33832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91840" y="1097280"/>
            <a:ext cx="54864" cy="3383280"/>
          </a:xfrm>
          <a:prstGeom prst="rect">
            <a:avLst/>
          </a:prstGeom>
          <a:solidFill>
            <a:srgbClr val="FF980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4048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2900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 기능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모든 권한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시작/정지 제어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정의 파라미터 프리셋 선택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Export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42900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사항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2900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직접 변경 불가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모델/카메라 설정 불가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1097280"/>
            <a:ext cx="2651760" cy="33832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1097280"/>
            <a:ext cx="54864" cy="338328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6364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 기능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권한 사용 가능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직접 수정/저장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전환 및 최적화 설정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설정, 시스템 구성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26364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사항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26364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없음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검사 파라미터 개요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검사의 정확도와 성능을 결정하는 핵심 파라미터 그룹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판단 파라미터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바이알 내 액체 정지 상태 판정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움직임 없을 때만 검사 시작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651760" cy="14630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371600"/>
            <a:ext cx="54864" cy="14630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모델 추론 결과 필터링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클래스별 독립 Threshold 설정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51760" cy="14630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71600"/>
            <a:ext cx="54864" cy="14630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조건 파라미터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이물질 종류별 분류 규칙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크기/형태/밝기 기반 분류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651760" cy="14630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검출 파라미터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6888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검출 전용 파이프라인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영상처리 파라미터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017520"/>
            <a:ext cx="2651760" cy="14630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017520"/>
            <a:ext cx="54864" cy="1463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설정 파라미터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영역 정의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xywh 좌표 + margin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651760" cy="14630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54864" cy="14630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파라미터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3816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노출, 게인, 화이트밸런스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하드웨어 설정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정지 판단 파라미터 정의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바이알 내 액체가 충분히 정지된 상태에서만 검사를 수행하기 위한 판단 기준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91640"/>
            <a:ext cx="8595360" cy="59436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691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motion_threshold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1691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간 움직임 허용 한계값. Optical Flow 평균이 이하일 때 정지 판단.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8595360" cy="59436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stable_frame_count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2331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2331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2331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2331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정지 조건 만족 프레임 수. 진동 필터링.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8595360" cy="59436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971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motion_roi_ratio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2971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2971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2971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움직임 판단 ROI 비율(0~1). 중앙 영역만 사용.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flow_algorithm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94560" y="36118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36118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farneback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0" y="36118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3611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광학 흐름 알고리즘. farneback|lucas_kanade|simple_diff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cooldown_ms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94560" y="4251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834640" y="4251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0" y="4251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0" y="4251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후 다음 정지 판단 대기 시간. 연속 트리거 방지.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 Threshold 파라미터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029200" cy="32918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" cy="3291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정의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conf_threshold_global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0.5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클래스 공통 최소 신뢰도. 이 값 미만의 모든 검출은 무시됨.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conf_threshold_foreign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0.3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이물질(Foreign Body) 전용 Threshold. 민감도 향상을 위해 global보다 낮게 설정 가능.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conf_threshold_bubble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0.6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전용 Threshold. 버블은 오탐 빈도가 높아 global보다 높게 설정.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017520" cy="32918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1097280"/>
            <a:ext cx="54864" cy="32918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로직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52160" y="16002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모델 추론 실행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Raw detections 생성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Global Threshold 적용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conf &lt; 0.5 제거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클래스별 Threshold 적용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Foreign: conf &lt; 0.3 제거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Bubble: conf &lt; 0.6 제거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NMS (IoU: 0.45) 적용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중복 BBox 제거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분류 조건 파라미터 정의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051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051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8595360" cy="5486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min_area_px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464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px^2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417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객체 최소 면적. 이 값 미만은 노이즈로 간주하여 필터링.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8595360" cy="5486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max_area_px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px^2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2011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객체 최대 면적. 이 값 초과는 잘못된 검출(오탐)로 간주.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606040"/>
            <a:ext cx="8595360" cy="5486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aspect_ratio_range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2606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(0.3, 3.0)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w/h 비율 허용 범위. 극단적 형태의 객체 필터링.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8595360" cy="5486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circularity_threshold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346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0~1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원형도 기준. 버블(원형) vs 이물질(불규칙) 구분에 사용.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794760"/>
            <a:ext cx="8595360" cy="54864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brightness_diff_threshold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34640" y="3794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대비 밝기 차이 기준. 검출 객체의 평균 밝기와 주변 배경 밝기 차.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389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size_class_boundaries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945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34640" y="4389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[100,500,2000]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490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px^2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389120" y="4389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분류 경계값: Small(&lt;100), Medium(100~500), Large(500~2000), Critical(&gt;2000).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Bubble 검출 파이프라인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영상처리 파이프라인으로 버블을 정밀 검출 및 분류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변환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Gray 변환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cv2.cvtColor()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23160"/>
            <a:ext cx="2377440" cy="45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color_space: BGR2GRAY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716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감소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기반 스무딩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423160"/>
            <a:ext cx="2377440" cy="45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kernel: (5,5), sigma: 1.5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3716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적응형 이진화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밝기 기반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423160"/>
            <a:ext cx="2377440" cy="45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block_size: 11, C: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584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연산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→ Closing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노이즈/홀 제거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251960"/>
            <a:ext cx="2377440" cy="45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kernel: (3,3), iter: 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2004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2004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84048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검출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2900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외곽선 추출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면적/원형도 계산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4251960"/>
            <a:ext cx="2377440" cy="45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RETR_EXTERNAL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32004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2004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67512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분류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636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원형도 &gt; 0.7 → Bubble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크기별 등급 분류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4251960"/>
            <a:ext cx="2377440" cy="45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circularity_th: 0.7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Bubble 검출 파라미터 상세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051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417320"/>
            <a:ext cx="8595360" cy="40233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4173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blur_kernel_size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14173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14173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(5,5)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14173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커널 크기. 홀수만 허용. 클수록 강한 스무딩.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837944"/>
            <a:ext cx="8595360" cy="402336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837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blur_sigma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183794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0" y="18379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183794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 값. 0이면 커널 크기로 자동 계산.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258568"/>
            <a:ext cx="8595360" cy="40233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258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adaptive_block_size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22585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22585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22585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블록 크기. 로컬 영역 크기 (홀수).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679192"/>
            <a:ext cx="8595360" cy="402336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6791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adaptive_C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267919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26791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26791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평균값에서 빼는 상수. 양수일수록 더 많은 영역이 전경.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099816"/>
            <a:ext cx="8595360" cy="40233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0998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morph_kernel_size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309981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0" y="30998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(3,3)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309981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연산 커널 크기. Opening/Closing에 사용.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520440"/>
            <a:ext cx="8595360" cy="402336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morph_iterations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86000" y="35204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35204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31920" y="352044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반복 횟수. 클수록 강한 노이즈 제거.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41064"/>
            <a:ext cx="8595360" cy="40233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9410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min_bubble_area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6000" y="394106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26080" y="39410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31920" y="39410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버블 면적 (px^2). 이 값 미만은 노이즈로 제거.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361688"/>
            <a:ext cx="8595360" cy="402336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361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bubble_circularity_th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86000" y="43616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26080" y="43616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931920" y="436168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판정 원형도 기준. 4π×Area/Perimeter^2 &gt;= threshold.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INSPECTION PARAMETERS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&amp; 카메라 파라미터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설정 파라미터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시작 X 좌표 (px)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시작 Y 좌표 (px)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너비 (px)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1748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높이 (px)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ROI는 카메라 해상도 내에서 실제 바이알 영역만 크롭하여 불필요한 배경 영역을 제거합니다.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54864" cy="25603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파라미터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exposure_us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 시간 (μs)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gain_db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아날로그 게인 (dB)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white_balance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모드 (auto/manual)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trigger_mode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6092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(continuous/ext)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6092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프레임 레이트 (fps)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 Format: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86000" y="3886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(inspection_config.json) / YAML (camera_config.yaml)  —  Hot-Reload 지원: 파일 변경 감지 → 자동 파라미터 갱신 (watchdog)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DL INFERENCE OPTIMIZATION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 추론 최적화 전략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~ Level 5 단계별 최적화로 추론 속도와 정확도를 균형있게 향상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기본 추론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없음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1097280" cy="320040"/>
          </a:xfrm>
          <a:prstGeom prst="rect">
            <a:avLst/>
          </a:prstGeom>
          <a:solidFill>
            <a:srgbClr val="F4433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71600"/>
            <a:ext cx="54864" cy="1645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PyTorch→ONNX 변환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최적화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560320"/>
            <a:ext cx="1097280" cy="320040"/>
          </a:xfrm>
          <a:prstGeom prst="rect">
            <a:avLst/>
          </a:prstGeom>
          <a:solidFill>
            <a:srgbClr val="FF980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~120ms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371600"/>
            <a:ext cx="54864" cy="16459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 GPU Provider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가속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560320"/>
            <a:ext cx="1097280" cy="320040"/>
          </a:xfrm>
          <a:prstGeom prst="rect">
            <a:avLst/>
          </a:prstGeom>
          <a:solidFill>
            <a:srgbClr val="FFC107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양자화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Float32→Float16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50% 절감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389120"/>
            <a:ext cx="1097280" cy="320040"/>
          </a:xfrm>
          <a:prstGeom prst="rect">
            <a:avLst/>
          </a:prstGeom>
          <a:solidFill>
            <a:srgbClr val="4CAF50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91840" y="32004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200400"/>
            <a:ext cx="54864" cy="1645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776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2900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Engine 변환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퓨전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4389120"/>
            <a:ext cx="1097280" cy="320040"/>
          </a:xfrm>
          <a:prstGeom prst="rect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~25ms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3200400"/>
            <a:ext cx="2651760" cy="164592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200400"/>
            <a:ext cx="54864" cy="1645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122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+ Batch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6364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양자화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처리 최적화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4389120"/>
            <a:ext cx="1097280" cy="320040"/>
          </a:xfrm>
          <a:prstGeom prst="rect">
            <a:avLst/>
          </a:prstGeom>
          <a:solidFill>
            <a:srgbClr val="00E5FF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~15ms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DL INFERENCE OPTIMIZATION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 추론 최적화 파라미터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29260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051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1051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8595360" cy="329184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model_path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13716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1371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model.onnx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13716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경로. .onnx, .engine, .pt 지원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709928"/>
            <a:ext cx="8595360" cy="329184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709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17099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1709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onnxruntime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17099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백엔드: pytorch | onnxruntime | tensorrt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48256"/>
            <a:ext cx="8595360" cy="329184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048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0482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20482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cuda:0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20482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디바이스: cpu | cuda:0 | cuda:1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386584"/>
            <a:ext cx="8595360" cy="329184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86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94560" y="23865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4640" y="2386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0" y="23865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정밀도: fp32 | fp16 | int8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724912"/>
            <a:ext cx="8595360" cy="329184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724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input_size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94560" y="27249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2724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(640,640)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0" y="27249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입력 텐서 크기 (H, W)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063240"/>
            <a:ext cx="8595360" cy="329184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063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3063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34640" y="3063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23360" y="3063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크기. TensorRT에서 dynamic batch 지원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01568"/>
            <a:ext cx="8595360" cy="329184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nms_iou_threshold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94560" y="34015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34640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23360" y="34015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IoU 임계값. 중복 BBox 제거 기준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739896"/>
            <a:ext cx="8595360" cy="329184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739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max_detections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94560" y="37398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34640" y="37398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23360" y="37398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프레임당 최대 검출 수. 메모리 제한 목적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078224"/>
            <a:ext cx="8595360" cy="329184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0782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warmup_iterations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94560" y="40782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34640" y="40782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023360" y="40782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시작 전 워밍업 반복 횟수. GPU 초기화 안정화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416552"/>
            <a:ext cx="8595360" cy="329184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416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trt_workspace_mb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194560" y="44165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34640" y="4416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023360" y="44165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작업 메모리 크기 (MB)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DL INFERENCE OPTIMIZATION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최적화 레벨별 성능 비교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0972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097280"/>
            <a:ext cx="54864" cy="2926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요약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0" y="16002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13.3x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향상 (Lv.0 → Lv.5)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15ms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후 추론 시간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FPS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처리 가능 프레임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INSPECTION FLOW &amp; PERFORMANCE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검사 흐름 (End-to-End)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54864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51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연결 &amp; 초기화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051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GigE Vision SDK 초기화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파라미터 로드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Buffer 할당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~2s (최초 1회)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691640"/>
            <a:ext cx="54864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프레임 캡처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프레임 획득 (30fps)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크롭 적용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~1ms/frame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31720"/>
            <a:ext cx="54864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331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판단 (Motion Check)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계산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stable_frame_count 충족 확인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시 검사 트리거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~5ms/frame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971800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971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&amp; DL 추론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2971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Normalize → Tensor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추론 (ONNX/TRT)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+ Post-processing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~15-80ms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611880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5156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&amp; 판정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기반 필터링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형태/크기 기반 분류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OK/NG 최종 판정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251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51560" y="4251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출력 &amp; 기록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0896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Overlay 업데이트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저장 (SQLite)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이미지 아카이빙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~3ms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INSPECTION FLOW &amp; PERFORMANCE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성능 지표 및 로깅 시스템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965960" cy="1280160"/>
          </a:xfrm>
          <a:prstGeom prst="rect">
            <a:avLst/>
          </a:prstGeom>
          <a:solidFill>
            <a:srgbClr val="162338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검출률 (Recall)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&gt; 99%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1965960" cy="1280160"/>
          </a:xfrm>
          <a:prstGeom prst="rect">
            <a:avLst/>
          </a:prstGeom>
          <a:solidFill>
            <a:srgbClr val="162338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(Precision)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&gt; 95%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65960" cy="1280160"/>
          </a:xfrm>
          <a:prstGeom prst="rect">
            <a:avLst/>
          </a:prstGeom>
          <a:solidFill>
            <a:srgbClr val="162338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 FPS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속도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&gt; 25 FPS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1965960" cy="1280160"/>
          </a:xfrm>
          <a:prstGeom prst="rect">
            <a:avLst/>
          </a:prstGeom>
          <a:solidFill>
            <a:srgbClr val="162338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965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&lt; 2%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3931920" cy="19202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651760"/>
            <a:ext cx="54864" cy="1920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 시스템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DB (SQLite)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timestamp, vial_id, result(OK/NG), detections(JSON)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inference_time, confidence_scores, image_path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Archive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 판정 이미지 자동 저장 (원본 + Overlay)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경로: /archive/{date}/{vial_id}.png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CSV / Excel 일괄 Export, 날짜 범위 필터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51760"/>
            <a:ext cx="3931920" cy="19202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651760"/>
            <a:ext cx="54864" cy="19202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모니터링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37760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알림 조건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연속 NG &gt; 5회: 라인 정지 경고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GPU 온도 &gt; 85°C: 과열 경고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추론 시간 &gt; 100ms: 성능 저하 경고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카메라 연결 상태: 1초 주기 점검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모델 로딩 상태: 시작 시 검증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디스크 여유 공간: 1GB 미만 시 알림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INSPECTION FLOW &amp; PERFORMANCE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NOVAnix-DVI  |  Vial Foreign Body Inspection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에러 핸들링 &amp; 진단 시스템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51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051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051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1051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8595360" cy="45720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Disconnect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재연결 시도 (3회) → 실패 시 검사 중지 &amp; 알림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892808"/>
            <a:ext cx="8595360" cy="45720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1892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 Failure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1892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18928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모델 로드 시도 → 실패 시 시스템 중지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18928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Semi-Auto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368296"/>
            <a:ext cx="8595360" cy="45720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2368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OOM Error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23682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23682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크기 축소 → FP16 전환 → 모델 리로드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2368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43784"/>
            <a:ext cx="8595360" cy="45720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28437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Timeout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2843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17520" y="28437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프레임 스킵 → 타임아웃 카운터 증가 → 3회 시 경고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2843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319272"/>
            <a:ext cx="8595360" cy="45720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33192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Full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0" y="3319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3319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 일시 중지 → 오래된 아카이브 자동 정리(옵션)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0" y="33192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794760"/>
            <a:ext cx="8595360" cy="457200"/>
          </a:xfrm>
          <a:prstGeom prst="rect">
            <a:avLst/>
          </a:prstGeom>
          <a:solidFill>
            <a:srgbClr val="1A2A42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44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Parse Error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28600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01752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유효 설정으로 롤백 → 에러 상세 로깅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270248"/>
            <a:ext cx="8595360" cy="45720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E007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14400" y="42702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Drop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86000" y="4270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017520" y="4270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드롭 카운터 증가 → 연속 10회 시 FPS 경고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772400" y="4270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로드맵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005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카메라 지원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2~4대 카메라 병렬 처리, 라인별 독립 검사 파이프라인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28800"/>
            <a:ext cx="54864" cy="6858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대시보드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모니터링 웹 UI, REST API, 관리자 대시보드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26517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자동 재학습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파이프라인, 새 불량 유형 자동 수집/학습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68580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74720"/>
            <a:ext cx="54864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747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34747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 H1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배포 &amp; MES 연동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Jetson/Edge GPU 최적화, 제조실행시스템(MES) 직접 연동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229600" cy="274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74320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NOVAnix-DVI Project Introduction</dc:title>
  <dc:subject>PptxGenJS Presentation</dc:subject>
  <dc:creator>NOVAnix Team</dc:creator>
  <cp:lastModifiedBy>NOVAnix Team</cp:lastModifiedBy>
  <cp:revision>1</cp:revision>
  <dcterms:created xsi:type="dcterms:W3CDTF">2026-03-30T01:05:02Z</dcterms:created>
  <dcterms:modified xsi:type="dcterms:W3CDTF">2026-03-30T01:05:02Z</dcterms:modified>
</cp:coreProperties>
</file>